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và các bạn! Hôm nay nhóm em xin đại diện trình bày đồ án "Hệ Thống Thư Viện Số Enterprise &amp; Sàn Cho Thuê Truyện v5.0". Đồ án tập trung số hóa toàn bộ trải nghiệm đọc sách, mượn trả tự động và tương trợ trực tuyến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khắc phục những hạn chế của thư viện truyền thống, hệ thống Enterprise 5.0 được xây dựng nhằm tự động hóa quy trình mượn trả sách, số hóa tài liệu đọc trực tuyến và cung cấp công cụ tự động kéo thông tin sách từ Google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Cổng Độc giả được thiết kế phong cách Soft Pastel dịu mắt, trang bị đầy đủ các tính năng tìm kiếm nâng cao, đặt giữ chỗ trực tuyến và theo dõi lịch sử mượn sách cá nhân một cách minh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Đặc biệt, hệ thống mở rộng phân hệ Thư viện số E-Library cho phép đọc trực tuyến các giáo trình số hóa. Để bảo vệ bản quyền tài liệu, quyền tải file PDF mềm được kiểm soát dựa theo Hạng thẻ VIP của từng độc giả.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nạp tiền vào ví mượn sách, độc giả chỉ cần quét mã VietQR tự động. Tiền cọc sách sẽ được hệ thống tạm thời đóng bằng trong Ví nội bộ và tự động hoàn tiền ngay sau khi thủ thư nhận lại sách nguyên vẹn.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mở rộng thêm sàn kết nối dịch vụ vẽ Manga và chương trình đổi sách cũ lấy điểm thưởng Ví. Điều này tạo nên một hệ sinh thái cộng đồng gắn kết người đọc và khuyến khích chia sẻ văn hóa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Đặc biệt, tính năng Live Chat 24/7 cho phép độc giả đặt câu hỏi trực tiếp với Thủ thư. Cửa sổ chat tự động đồng bộ tin nhắn phản hồi mỗi 3 giây và gửi thông báo tức thì lên thanh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trang Quản trị trung tâm, Thủ thư có cái nhìn tổng quan về các chỉ số hoạt động của thư viện. Hàng chờ giữ chỗ online hiển thị trực quan các yêu cầu từ web giúp thủ thư xuất sách nhanh tại quầy.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phân quyền 3 cấp RBAC giúp phân định rõ vai trò trách nhiệm của từng nhân sự. Nhân viên biên mục chỉ tập trung vào cập nhật dữ liệu sách và bị khóa nút xóa sách để bảo vệ tính toàn vẹn của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Đặc biệt, tính năng tự động kéo dữ liệu sách qua mã ISBN Google Books giúp giảm tới 90% thời gian biên mục sách mới. Thay vì nhập tay từng trường, nhân viên chỉ cần quét mã ISBN để hoàn tất.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giao diện quản trị, Thủ thư dễ dàng tiếp nhận tin nhắn hỗ trợ độc giả ở cột bên trái và trả lời ở cột bên phải. Đồng thời công cụ quét mã vạch cho phép làm thủ tục trả sách và tính phí phạt tự động chỉ trong vài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của nhóm em đã hoàn thiện đầy đủ các mục tiêu đề ra và vượt qua các bài kiểm thử tự động. Em xin chân thành cảm ơn Thầy và các bạn đã chú ý lắng nghe. Nhóm em rất mong nhận được những nhận xét quý báu từ Thầy. Em xin cảm 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F6FF"/>
        </a:solidFill>
      </p:bgPr>
    </p:bg>
    <p:spTree>
      <p:nvGrpSpPr>
        <p:cNvPr id="1" name=""/>
        <p:cNvGrpSpPr/>
        <p:nvPr/>
      </p:nvGrpSpPr>
      <p:grpSpPr>
        <a:xfrm>
          <a:off x="0" y="0"/>
          <a:ext cx="0" cy="0"/>
          <a:chOff x="0" y="0"/>
          <a:chExt cx="0" cy="0"/>
        </a:xfrm>
      </p:grpSpPr>
      <p:sp>
        <p:nvSpPr>
          <p:cNvPr id="2" name="Text 0"/>
          <p:cNvSpPr/>
          <p:nvPr/>
        </p:nvSpPr>
        <p:spPr>
          <a:xfrm>
            <a:off x="457200" y="548640"/>
            <a:ext cx="8229600" cy="274320"/>
          </a:xfrm>
          <a:prstGeom prst="rect">
            <a:avLst/>
          </a:prstGeom>
          <a:noFill/>
          <a:ln/>
        </p:spPr>
        <p:txBody>
          <a:bodyPr wrap="square" rtlCol="0" anchor="ctr"/>
          <a:lstStyle/>
          <a:p>
            <a:pPr algn="ctr" indent="0" marL="0">
              <a:buNone/>
            </a:pPr>
            <a:r>
              <a:rPr lang="en-US" sz="1100" b="1" dirty="0">
                <a:solidFill>
                  <a:srgbClr val="1D4ED8"/>
                </a:solidFill>
              </a:rPr>
              <a:t>🚀 BÁO CÁO THUYẾT TRÌNH ĐỒ ÁN CHUYÊN ĐỀ PHẦN MỀM</a:t>
            </a:r>
            <a:endParaRPr lang="en-US" sz="1100" dirty="0"/>
          </a:p>
        </p:txBody>
      </p:sp>
      <p:sp>
        <p:nvSpPr>
          <p:cNvPr id="3" name="Text 1"/>
          <p:cNvSpPr/>
          <p:nvPr/>
        </p:nvSpPr>
        <p:spPr>
          <a:xfrm>
            <a:off x="457200" y="914400"/>
            <a:ext cx="8229600" cy="1005840"/>
          </a:xfrm>
          <a:prstGeom prst="rect">
            <a:avLst/>
          </a:prstGeom>
          <a:noFill/>
          <a:ln/>
        </p:spPr>
        <p:txBody>
          <a:bodyPr wrap="square" rtlCol="0" anchor="ctr"/>
          <a:lstStyle/>
          <a:p>
            <a:pPr algn="ctr" indent="0" marL="0">
              <a:buNone/>
            </a:pPr>
            <a:r>
              <a:rPr lang="en-US" sz="2000" b="1" dirty="0">
                <a:solidFill>
                  <a:srgbClr val="1E3A8A"/>
                </a:solidFill>
              </a:rPr>
              <a:t>HỆ THỐNG QUẢN LÝ THƯ VIỆN SỐ ENTERPRISE</a:t>
            </a:r>
            <a:endParaRPr lang="en-US" sz="2000" dirty="0"/>
          </a:p>
          <a:p>
            <a:pPr algn="ctr" indent="0" marL="0">
              <a:buNone/>
            </a:pPr>
            <a:r>
              <a:rPr lang="en-US" sz="2000" b="1" dirty="0">
                <a:solidFill>
                  <a:srgbClr val="1E3A8A"/>
                </a:solidFill>
              </a:rPr>
              <a:t>&amp; SÀN CHO THUÊ TRUYỆN 5.0</a:t>
            </a:r>
            <a:endParaRPr lang="en-US" sz="2000" dirty="0"/>
          </a:p>
        </p:txBody>
      </p:sp>
      <p:sp>
        <p:nvSpPr>
          <p:cNvPr id="4" name="Text 2"/>
          <p:cNvSpPr/>
          <p:nvPr/>
        </p:nvSpPr>
        <p:spPr>
          <a:xfrm>
            <a:off x="731520" y="2011680"/>
            <a:ext cx="7680960" cy="548640"/>
          </a:xfrm>
          <a:prstGeom prst="rect">
            <a:avLst/>
          </a:prstGeom>
          <a:noFill/>
          <a:ln/>
        </p:spPr>
        <p:txBody>
          <a:bodyPr wrap="square" rtlCol="0" anchor="ctr"/>
          <a:lstStyle/>
          <a:p>
            <a:pPr algn="ctr" indent="0" marL="0">
              <a:buNone/>
            </a:pPr>
            <a:r>
              <a:rPr lang="en-US" sz="1200" dirty="0">
                <a:solidFill>
                  <a:srgbClr val="475569"/>
                </a:solidFill>
              </a:rPr>
              <a:t>Giải pháp chuyển đổi số toàn diện kết hợp Cổng Độc giả hiện đại, Trang Quản trị phân quyền 3 cấp RBAC, Trình đọc E-Book PDF trực tuyến và Live Chat 24/7.</a:t>
            </a:r>
            <a:endParaRPr lang="en-US" sz="1200" dirty="0"/>
          </a:p>
        </p:txBody>
      </p:sp>
      <p:sp>
        <p:nvSpPr>
          <p:cNvPr id="5" name="Shape 3"/>
          <p:cNvSpPr/>
          <p:nvPr/>
        </p:nvSpPr>
        <p:spPr>
          <a:xfrm>
            <a:off x="457200" y="2743200"/>
            <a:ext cx="1920240" cy="1371600"/>
          </a:xfrm>
          <a:prstGeom prst="roundRect">
            <a:avLst/>
          </a:prstGeom>
          <a:solidFill>
            <a:srgbClr val="FFFFFF"/>
          </a:solidFill>
          <a:ln w="12700">
            <a:solidFill>
              <a:srgbClr val="CBD5E1"/>
            </a:solidFill>
            <a:prstDash val="solid"/>
          </a:ln>
        </p:spPr>
      </p:sp>
      <p:sp>
        <p:nvSpPr>
          <p:cNvPr id="6" name="Text 4"/>
          <p:cNvSpPr/>
          <p:nvPr/>
        </p:nvSpPr>
        <p:spPr>
          <a:xfrm>
            <a:off x="548640" y="2834640"/>
            <a:ext cx="1737360" cy="365760"/>
          </a:xfrm>
          <a:prstGeom prst="rect">
            <a:avLst/>
          </a:prstGeom>
          <a:noFill/>
          <a:ln/>
        </p:spPr>
        <p:txBody>
          <a:bodyPr wrap="square" rtlCol="0" anchor="ctr"/>
          <a:lstStyle/>
          <a:p>
            <a:pPr algn="ctr" indent="0" marL="0">
              <a:buNone/>
            </a:pPr>
            <a:r>
              <a:rPr lang="en-US" sz="1100" b="1" dirty="0">
                <a:solidFill>
                  <a:srgbClr val="1E3A8A"/>
                </a:solidFill>
              </a:rPr>
              <a:t>Trình Đọc Ebook PDF</a:t>
            </a:r>
            <a:endParaRPr lang="en-US" sz="1100" dirty="0"/>
          </a:p>
        </p:txBody>
      </p:sp>
      <p:sp>
        <p:nvSpPr>
          <p:cNvPr id="7" name="Text 5"/>
          <p:cNvSpPr/>
          <p:nvPr/>
        </p:nvSpPr>
        <p:spPr>
          <a:xfrm>
            <a:off x="548640" y="3200400"/>
            <a:ext cx="1737360" cy="822960"/>
          </a:xfrm>
          <a:prstGeom prst="rect">
            <a:avLst/>
          </a:prstGeom>
          <a:noFill/>
          <a:ln/>
        </p:spPr>
        <p:txBody>
          <a:bodyPr wrap="square" rtlCol="0" anchor="ctr"/>
          <a:lstStyle/>
          <a:p>
            <a:pPr algn="ctr" indent="0" marL="0">
              <a:buNone/>
            </a:pPr>
            <a:r>
              <a:rPr lang="en-US" sz="1000" dirty="0">
                <a:solidFill>
                  <a:srgbClr val="475569"/>
                </a:solidFill>
              </a:rPr>
              <a:t>Đọc trực tuyến &amp; phân quyền tải file.</a:t>
            </a:r>
            <a:endParaRPr lang="en-US" sz="1000" dirty="0"/>
          </a:p>
        </p:txBody>
      </p:sp>
      <p:sp>
        <p:nvSpPr>
          <p:cNvPr id="8" name="Shape 6"/>
          <p:cNvSpPr/>
          <p:nvPr/>
        </p:nvSpPr>
        <p:spPr>
          <a:xfrm>
            <a:off x="2560320" y="2743200"/>
            <a:ext cx="1920240" cy="1371600"/>
          </a:xfrm>
          <a:prstGeom prst="roundRect">
            <a:avLst/>
          </a:prstGeom>
          <a:solidFill>
            <a:srgbClr val="FFFFFF"/>
          </a:solidFill>
          <a:ln w="12700">
            <a:solidFill>
              <a:srgbClr val="CBD5E1"/>
            </a:solidFill>
            <a:prstDash val="solid"/>
          </a:ln>
        </p:spPr>
      </p:sp>
      <p:sp>
        <p:nvSpPr>
          <p:cNvPr id="9" name="Text 7"/>
          <p:cNvSpPr/>
          <p:nvPr/>
        </p:nvSpPr>
        <p:spPr>
          <a:xfrm>
            <a:off x="2651760" y="2834640"/>
            <a:ext cx="1737360" cy="365760"/>
          </a:xfrm>
          <a:prstGeom prst="rect">
            <a:avLst/>
          </a:prstGeom>
          <a:noFill/>
          <a:ln/>
        </p:spPr>
        <p:txBody>
          <a:bodyPr wrap="square" rtlCol="0" anchor="ctr"/>
          <a:lstStyle/>
          <a:p>
            <a:pPr algn="ctr" indent="0" marL="0">
              <a:buNone/>
            </a:pPr>
            <a:r>
              <a:rPr lang="en-US" sz="1100" b="1" dirty="0">
                <a:solidFill>
                  <a:srgbClr val="1E3A8A"/>
                </a:solidFill>
              </a:rPr>
              <a:t>Ví VietQR &amp; Barcode</a:t>
            </a:r>
            <a:endParaRPr lang="en-US" sz="1100" dirty="0"/>
          </a:p>
        </p:txBody>
      </p:sp>
      <p:sp>
        <p:nvSpPr>
          <p:cNvPr id="10" name="Text 8"/>
          <p:cNvSpPr/>
          <p:nvPr/>
        </p:nvSpPr>
        <p:spPr>
          <a:xfrm>
            <a:off x="2651760" y="3200400"/>
            <a:ext cx="1737360" cy="822960"/>
          </a:xfrm>
          <a:prstGeom prst="rect">
            <a:avLst/>
          </a:prstGeom>
          <a:noFill/>
          <a:ln/>
        </p:spPr>
        <p:txBody>
          <a:bodyPr wrap="square" rtlCol="0" anchor="ctr"/>
          <a:lstStyle/>
          <a:p>
            <a:pPr algn="ctr" indent="0" marL="0">
              <a:buNone/>
            </a:pPr>
            <a:r>
              <a:rPr lang="en-US" sz="1000" dirty="0">
                <a:solidFill>
                  <a:srgbClr val="475569"/>
                </a:solidFill>
              </a:rPr>
              <a:t>Nạp ví banking &amp; quét mã vạch quầy.</a:t>
            </a:r>
            <a:endParaRPr lang="en-US" sz="1000" dirty="0"/>
          </a:p>
        </p:txBody>
      </p:sp>
      <p:sp>
        <p:nvSpPr>
          <p:cNvPr id="11" name="Shape 9"/>
          <p:cNvSpPr/>
          <p:nvPr/>
        </p:nvSpPr>
        <p:spPr>
          <a:xfrm>
            <a:off x="4663440" y="2743200"/>
            <a:ext cx="1920240" cy="1371600"/>
          </a:xfrm>
          <a:prstGeom prst="roundRect">
            <a:avLst/>
          </a:prstGeom>
          <a:solidFill>
            <a:srgbClr val="FFFFFF"/>
          </a:solidFill>
          <a:ln w="12700">
            <a:solidFill>
              <a:srgbClr val="CBD5E1"/>
            </a:solidFill>
            <a:prstDash val="solid"/>
          </a:ln>
        </p:spPr>
      </p:sp>
      <p:sp>
        <p:nvSpPr>
          <p:cNvPr id="12" name="Text 10"/>
          <p:cNvSpPr/>
          <p:nvPr/>
        </p:nvSpPr>
        <p:spPr>
          <a:xfrm>
            <a:off x="4754880" y="2834640"/>
            <a:ext cx="1737360" cy="365760"/>
          </a:xfrm>
          <a:prstGeom prst="rect">
            <a:avLst/>
          </a:prstGeom>
          <a:noFill/>
          <a:ln/>
        </p:spPr>
        <p:txBody>
          <a:bodyPr wrap="square" rtlCol="0" anchor="ctr"/>
          <a:lstStyle/>
          <a:p>
            <a:pPr algn="ctr" indent="0" marL="0">
              <a:buNone/>
            </a:pPr>
            <a:r>
              <a:rPr lang="en-US" sz="1100" b="1" dirty="0">
                <a:solidFill>
                  <a:srgbClr val="1E3A8A"/>
                </a:solidFill>
              </a:rPr>
              <a:t>Live Chat 24/7</a:t>
            </a:r>
            <a:endParaRPr lang="en-US" sz="1100" dirty="0"/>
          </a:p>
        </p:txBody>
      </p:sp>
      <p:sp>
        <p:nvSpPr>
          <p:cNvPr id="13" name="Text 11"/>
          <p:cNvSpPr/>
          <p:nvPr/>
        </p:nvSpPr>
        <p:spPr>
          <a:xfrm>
            <a:off x="4754880" y="3200400"/>
            <a:ext cx="1737360" cy="822960"/>
          </a:xfrm>
          <a:prstGeom prst="rect">
            <a:avLst/>
          </a:prstGeom>
          <a:noFill/>
          <a:ln/>
        </p:spPr>
        <p:txBody>
          <a:bodyPr wrap="square" rtlCol="0" anchor="ctr"/>
          <a:lstStyle/>
          <a:p>
            <a:pPr algn="ctr" indent="0" marL="0">
              <a:buNone/>
            </a:pPr>
            <a:r>
              <a:rPr lang="en-US" sz="1000" dirty="0">
                <a:solidFill>
                  <a:srgbClr val="475569"/>
                </a:solidFill>
              </a:rPr>
              <a:t>Trò chuyện trực tiếp Độc giả &amp; Thủ thư.</a:t>
            </a:r>
            <a:endParaRPr lang="en-US" sz="1000" dirty="0"/>
          </a:p>
        </p:txBody>
      </p:sp>
      <p:sp>
        <p:nvSpPr>
          <p:cNvPr id="14" name="Shape 12"/>
          <p:cNvSpPr/>
          <p:nvPr/>
        </p:nvSpPr>
        <p:spPr>
          <a:xfrm>
            <a:off x="6766560" y="2743200"/>
            <a:ext cx="1920240" cy="1371600"/>
          </a:xfrm>
          <a:prstGeom prst="roundRect">
            <a:avLst/>
          </a:prstGeom>
          <a:solidFill>
            <a:srgbClr val="FFFFFF"/>
          </a:solidFill>
          <a:ln w="12700">
            <a:solidFill>
              <a:srgbClr val="CBD5E1"/>
            </a:solidFill>
            <a:prstDash val="solid"/>
          </a:ln>
        </p:spPr>
      </p:sp>
      <p:sp>
        <p:nvSpPr>
          <p:cNvPr id="15" name="Text 13"/>
          <p:cNvSpPr/>
          <p:nvPr/>
        </p:nvSpPr>
        <p:spPr>
          <a:xfrm>
            <a:off x="6858000" y="2834640"/>
            <a:ext cx="1737360" cy="365760"/>
          </a:xfrm>
          <a:prstGeom prst="rect">
            <a:avLst/>
          </a:prstGeom>
          <a:noFill/>
          <a:ln/>
        </p:spPr>
        <p:txBody>
          <a:bodyPr wrap="square" rtlCol="0" anchor="ctr"/>
          <a:lstStyle/>
          <a:p>
            <a:pPr algn="ctr" indent="0" marL="0">
              <a:buNone/>
            </a:pPr>
            <a:r>
              <a:rPr lang="en-US" sz="1100" b="1" dirty="0">
                <a:solidFill>
                  <a:srgbClr val="1E3A8A"/>
                </a:solidFill>
              </a:rPr>
              <a:t>Phân Quyền 3 Cấp RBAC</a:t>
            </a:r>
            <a:endParaRPr lang="en-US" sz="1100" dirty="0"/>
          </a:p>
        </p:txBody>
      </p:sp>
      <p:sp>
        <p:nvSpPr>
          <p:cNvPr id="16" name="Text 14"/>
          <p:cNvSpPr/>
          <p:nvPr/>
        </p:nvSpPr>
        <p:spPr>
          <a:xfrm>
            <a:off x="6858000" y="3200400"/>
            <a:ext cx="1737360" cy="822960"/>
          </a:xfrm>
          <a:prstGeom prst="rect">
            <a:avLst/>
          </a:prstGeom>
          <a:noFill/>
          <a:ln/>
        </p:spPr>
        <p:txBody>
          <a:bodyPr wrap="square" rtlCol="0" anchor="ctr"/>
          <a:lstStyle/>
          <a:p>
            <a:pPr algn="ctr" indent="0" marL="0">
              <a:buNone/>
            </a:pPr>
            <a:r>
              <a:rPr lang="en-US" sz="1000" dirty="0">
                <a:solidFill>
                  <a:srgbClr val="475569"/>
                </a:solidFill>
              </a:rPr>
              <a:t>Super Admin, Thủ Thư, Biên Mục.</a:t>
            </a:r>
            <a:endParaRPr lang="en-US" sz="1000" dirty="0"/>
          </a:p>
        </p:txBody>
      </p:sp>
      <p:sp>
        <p:nvSpPr>
          <p:cNvPr id="17" name="Text 15"/>
          <p:cNvSpPr/>
          <p:nvPr/>
        </p:nvSpPr>
        <p:spPr>
          <a:xfrm>
            <a:off x="457200" y="4389120"/>
            <a:ext cx="8229600" cy="365760"/>
          </a:xfrm>
          <a:prstGeom prst="rect">
            <a:avLst/>
          </a:prstGeom>
          <a:noFill/>
          <a:ln/>
        </p:spPr>
        <p:txBody>
          <a:bodyPr wrap="square" rtlCol="0" anchor="ctr"/>
          <a:lstStyle/>
          <a:p>
            <a:pPr algn="ctr" indent="0" marL="0">
              <a:buNone/>
            </a:pPr>
            <a:r>
              <a:rPr lang="en-US" sz="1100" b="1" dirty="0">
                <a:solidFill>
                  <a:srgbClr val="1E293B"/>
                </a:solidFill>
              </a:rPr>
              <a:t>Nhóm Thực Hiện: Nguyễn Đăng Khải (Leader)  |  Nguyễn Nhật Linh Ân  |  Phan Duy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02</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Tổng Quan &amp; Mục Tiêu Hệ Thống</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Enterprise Solution</a:t>
            </a:r>
            <a:endParaRPr lang="en-US" sz="1000" dirty="0"/>
          </a:p>
        </p:txBody>
      </p:sp>
      <p:sp>
        <p:nvSpPr>
          <p:cNvPr id="6" name="Shape 4"/>
          <p:cNvSpPr/>
          <p:nvPr/>
        </p:nvSpPr>
        <p:spPr>
          <a:xfrm>
            <a:off x="457200" y="822960"/>
            <a:ext cx="3977640" cy="3931920"/>
          </a:xfrm>
          <a:prstGeom prst="roundRect">
            <a:avLst/>
          </a:prstGeom>
          <a:solidFill>
            <a:srgbClr val="FEF2F2"/>
          </a:solidFill>
          <a:ln w="12700">
            <a:solidFill>
              <a:srgbClr val="FECACA"/>
            </a:solidFill>
            <a:prstDash val="solid"/>
          </a:ln>
        </p:spPr>
      </p:sp>
      <p:sp>
        <p:nvSpPr>
          <p:cNvPr id="7" name="Text 5"/>
          <p:cNvSpPr/>
          <p:nvPr/>
        </p:nvSpPr>
        <p:spPr>
          <a:xfrm>
            <a:off x="640080" y="1005840"/>
            <a:ext cx="3611880" cy="365760"/>
          </a:xfrm>
          <a:prstGeom prst="rect">
            <a:avLst/>
          </a:prstGeom>
          <a:noFill/>
          <a:ln/>
        </p:spPr>
        <p:txBody>
          <a:bodyPr wrap="square" rtlCol="0" anchor="ctr"/>
          <a:lstStyle/>
          <a:p>
            <a:pPr indent="0" marL="0">
              <a:buNone/>
            </a:pPr>
            <a:r>
              <a:rPr lang="en-US" sz="1300" b="1" dirty="0">
                <a:solidFill>
                  <a:srgbClr val="991B1B"/>
                </a:solidFill>
              </a:rPr>
              <a:t>⚠️ Thách Thức Trong Quản Lý Thư Viện</a:t>
            </a:r>
            <a:endParaRPr lang="en-US" sz="1300" dirty="0"/>
          </a:p>
        </p:txBody>
      </p:sp>
      <p:sp>
        <p:nvSpPr>
          <p:cNvPr id="8" name="Text 6"/>
          <p:cNvSpPr/>
          <p:nvPr/>
        </p:nvSpPr>
        <p:spPr>
          <a:xfrm>
            <a:off x="640080" y="1463040"/>
            <a:ext cx="3611880" cy="3108960"/>
          </a:xfrm>
          <a:prstGeom prst="rect">
            <a:avLst/>
          </a:prstGeom>
          <a:noFill/>
          <a:ln/>
        </p:spPr>
        <p:txBody>
          <a:bodyPr wrap="square" rtlCol="0" anchor="ctr"/>
          <a:lstStyle/>
          <a:p>
            <a:pPr indent="0" marL="0">
              <a:buNone/>
            </a:pPr>
            <a:r>
              <a:rPr lang="en-US" sz="1100" dirty="0">
                <a:solidFill>
                  <a:srgbClr val="7F1D1D"/>
                </a:solidFill>
              </a:rPr>
              <a:t>• Tốn nhiều thời gian nhập liệu thủ công thông tin sách cứng và mã vạch.
</a:t>
            </a:r>
            <a:pPr indent="0" marL="0">
              <a:buNone/>
            </a:pPr>
            <a:r>
              <a:rPr lang="en-US" sz="1100" dirty="0">
                <a:solidFill>
                  <a:srgbClr val="7F1D1D"/>
                </a:solidFill>
              </a:rPr>
              <a:t>• Khó khăn trong việc kiểm soát sách quá hạn mượn và thu phí phạt minh bạch.
</a:t>
            </a:r>
            <a:pPr indent="0" marL="0">
              <a:buNone/>
            </a:pPr>
            <a:r>
              <a:rPr lang="en-US" sz="1100" dirty="0">
                <a:solidFill>
                  <a:srgbClr val="7F1D1D"/>
                </a:solidFill>
              </a:rPr>
              <a:t>• Độc giả không thể xem thử nội dung sách hoặc tương tác hỗ trợ từ xa.</a:t>
            </a:r>
            <a:endParaRPr lang="en-US" sz="1100" dirty="0"/>
          </a:p>
        </p:txBody>
      </p:sp>
      <p:sp>
        <p:nvSpPr>
          <p:cNvPr id="9" name="Shape 7"/>
          <p:cNvSpPr/>
          <p:nvPr/>
        </p:nvSpPr>
        <p:spPr>
          <a:xfrm>
            <a:off x="4709160" y="822960"/>
            <a:ext cx="3977640" cy="3931920"/>
          </a:xfrm>
          <a:prstGeom prst="roundRect">
            <a:avLst/>
          </a:prstGeom>
          <a:solidFill>
            <a:srgbClr val="ECFDF5"/>
          </a:solidFill>
          <a:ln w="12700">
            <a:solidFill>
              <a:srgbClr val="A7F3D0"/>
            </a:solidFill>
            <a:prstDash val="solid"/>
          </a:ln>
        </p:spPr>
      </p:sp>
      <p:sp>
        <p:nvSpPr>
          <p:cNvPr id="10" name="Text 8"/>
          <p:cNvSpPr/>
          <p:nvPr/>
        </p:nvSpPr>
        <p:spPr>
          <a:xfrm>
            <a:off x="4892040" y="1005840"/>
            <a:ext cx="3611880" cy="365760"/>
          </a:xfrm>
          <a:prstGeom prst="rect">
            <a:avLst/>
          </a:prstGeom>
          <a:noFill/>
          <a:ln/>
        </p:spPr>
        <p:txBody>
          <a:bodyPr wrap="square" rtlCol="0" anchor="ctr"/>
          <a:lstStyle/>
          <a:p>
            <a:pPr indent="0" marL="0">
              <a:buNone/>
            </a:pPr>
            <a:r>
              <a:rPr lang="en-US" sz="1300" b="1" dirty="0">
                <a:solidFill>
                  <a:srgbClr val="065F46"/>
                </a:solidFill>
              </a:rPr>
              <a:t>✔ Mục Tiêu Giải Pháp Enterprise 5.0</a:t>
            </a:r>
            <a:endParaRPr lang="en-US" sz="1300" dirty="0"/>
          </a:p>
        </p:txBody>
      </p:sp>
      <p:sp>
        <p:nvSpPr>
          <p:cNvPr id="11" name="Text 9"/>
          <p:cNvSpPr/>
          <p:nvPr/>
        </p:nvSpPr>
        <p:spPr>
          <a:xfrm>
            <a:off x="4892040" y="1463040"/>
            <a:ext cx="3611880" cy="3108960"/>
          </a:xfrm>
          <a:prstGeom prst="rect">
            <a:avLst/>
          </a:prstGeom>
          <a:noFill/>
          <a:ln/>
        </p:spPr>
        <p:txBody>
          <a:bodyPr wrap="square" rtlCol="0" anchor="ctr"/>
          <a:lstStyle/>
          <a:p>
            <a:pPr indent="0" marL="0">
              <a:buNone/>
            </a:pPr>
            <a:r>
              <a:rPr lang="en-US" sz="1100" dirty="0">
                <a:solidFill>
                  <a:srgbClr val="064E3B"/>
                </a:solidFill>
              </a:rPr>
              <a:t>• Cổng Độc Giả Số: Đọc Ebook PDF, nạp ví VietQR, đặt thuê &amp; chat hỗ trợ.
</a:t>
            </a:r>
            <a:pPr indent="0" marL="0">
              <a:buNone/>
            </a:pPr>
            <a:r>
              <a:rPr lang="en-US" sz="1100" dirty="0">
                <a:solidFill>
                  <a:srgbClr val="064E3B"/>
                </a:solidFill>
              </a:rPr>
              <a:t>• Quản Trị Thông Minh: Quét mã vạch Barcode quầy, cấn trừ tiền phạt tự động.
</a:t>
            </a:r>
            <a:pPr indent="0" marL="0">
              <a:buNone/>
            </a:pPr>
            <a:r>
              <a:rPr lang="en-US" sz="1100" dirty="0">
                <a:solidFill>
                  <a:srgbClr val="064E3B"/>
                </a:solidFill>
              </a:rPr>
              <a:t>• Tự Động Hóa Dữ Liệu: Kéo thông tin sách Google Books qua mã ISBN chỉ 1s.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03</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Chức Năng Chính Của Cổng Độc Giả</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library_user.html</a:t>
            </a:r>
            <a:endParaRPr lang="en-US" sz="1000" dirty="0"/>
          </a:p>
        </p:txBody>
      </p:sp>
      <p:sp>
        <p:nvSpPr>
          <p:cNvPr id="6" name="Shape 4"/>
          <p:cNvSpPr/>
          <p:nvPr/>
        </p:nvSpPr>
        <p:spPr>
          <a:xfrm>
            <a:off x="457200" y="822960"/>
            <a:ext cx="1920240" cy="3931920"/>
          </a:xfrm>
          <a:prstGeom prst="roundRect">
            <a:avLst/>
          </a:prstGeom>
          <a:solidFill>
            <a:srgbClr val="FFFFFF"/>
          </a:solidFill>
          <a:ln w="12700">
            <a:solidFill>
              <a:srgbClr val="E2E8F0"/>
            </a:solidFill>
            <a:prstDash val="solid"/>
          </a:ln>
        </p:spPr>
      </p:sp>
      <p:sp>
        <p:nvSpPr>
          <p:cNvPr id="7" name="Text 5"/>
          <p:cNvSpPr/>
          <p:nvPr/>
        </p:nvSpPr>
        <p:spPr>
          <a:xfrm>
            <a:off x="548640" y="1005840"/>
            <a:ext cx="1737360" cy="457200"/>
          </a:xfrm>
          <a:prstGeom prst="rect">
            <a:avLst/>
          </a:prstGeom>
          <a:noFill/>
          <a:ln/>
        </p:spPr>
        <p:txBody>
          <a:bodyPr wrap="square" rtlCol="0" anchor="ctr"/>
          <a:lstStyle/>
          <a:p>
            <a:pPr indent="0" marL="0">
              <a:buNone/>
            </a:pPr>
            <a:r>
              <a:rPr lang="en-US" sz="1200" b="1" dirty="0">
                <a:solidFill>
                  <a:srgbClr val="1E3A8A"/>
                </a:solidFill>
              </a:rPr>
              <a:t>🔍 Tìm Kiếm &amp; Lọc</a:t>
            </a:r>
            <a:endParaRPr lang="en-US" sz="1200" dirty="0"/>
          </a:p>
        </p:txBody>
      </p:sp>
      <p:sp>
        <p:nvSpPr>
          <p:cNvPr id="8" name="Text 6"/>
          <p:cNvSpPr/>
          <p:nvPr/>
        </p:nvSpPr>
        <p:spPr>
          <a:xfrm>
            <a:off x="548640" y="1554480"/>
            <a:ext cx="1737360" cy="3017520"/>
          </a:xfrm>
          <a:prstGeom prst="rect">
            <a:avLst/>
          </a:prstGeom>
          <a:noFill/>
          <a:ln/>
        </p:spPr>
        <p:txBody>
          <a:bodyPr wrap="square" rtlCol="0" anchor="ctr"/>
          <a:lstStyle/>
          <a:p>
            <a:pPr indent="0" marL="0">
              <a:buNone/>
            </a:pPr>
            <a:r>
              <a:rPr lang="en-US" sz="1050" dirty="0">
                <a:solidFill>
                  <a:srgbClr val="475569"/>
                </a:solidFill>
              </a:rPr>
              <a:t>Tìm theo Tên sách, Tác giả, Mã ISBN, Thể loại và Năm xuất bản.</a:t>
            </a:r>
            <a:endParaRPr lang="en-US" sz="1050" dirty="0"/>
          </a:p>
        </p:txBody>
      </p:sp>
      <p:sp>
        <p:nvSpPr>
          <p:cNvPr id="9" name="Shape 7"/>
          <p:cNvSpPr/>
          <p:nvPr/>
        </p:nvSpPr>
        <p:spPr>
          <a:xfrm>
            <a:off x="2560320" y="822960"/>
            <a:ext cx="1920240" cy="3931920"/>
          </a:xfrm>
          <a:prstGeom prst="roundRect">
            <a:avLst/>
          </a:prstGeom>
          <a:solidFill>
            <a:srgbClr val="FFFFFF"/>
          </a:solidFill>
          <a:ln w="12700">
            <a:solidFill>
              <a:srgbClr val="E2E8F0"/>
            </a:solidFill>
            <a:prstDash val="solid"/>
          </a:ln>
        </p:spPr>
      </p:sp>
      <p:sp>
        <p:nvSpPr>
          <p:cNvPr id="10" name="Text 8"/>
          <p:cNvSpPr/>
          <p:nvPr/>
        </p:nvSpPr>
        <p:spPr>
          <a:xfrm>
            <a:off x="2651760" y="1005840"/>
            <a:ext cx="1737360" cy="457200"/>
          </a:xfrm>
          <a:prstGeom prst="rect">
            <a:avLst/>
          </a:prstGeom>
          <a:noFill/>
          <a:ln/>
        </p:spPr>
        <p:txBody>
          <a:bodyPr wrap="square" rtlCol="0" anchor="ctr"/>
          <a:lstStyle/>
          <a:p>
            <a:pPr indent="0" marL="0">
              <a:buNone/>
            </a:pPr>
            <a:r>
              <a:rPr lang="en-US" sz="1200" b="1" dirty="0">
                <a:solidFill>
                  <a:srgbClr val="1E3A8A"/>
                </a:solidFill>
              </a:rPr>
              <a:t>🛍️ Đặt Thuê Qua Ví</a:t>
            </a:r>
            <a:endParaRPr lang="en-US" sz="1200" dirty="0"/>
          </a:p>
        </p:txBody>
      </p:sp>
      <p:sp>
        <p:nvSpPr>
          <p:cNvPr id="11" name="Text 9"/>
          <p:cNvSpPr/>
          <p:nvPr/>
        </p:nvSpPr>
        <p:spPr>
          <a:xfrm>
            <a:off x="2651760" y="1554480"/>
            <a:ext cx="1737360" cy="3017520"/>
          </a:xfrm>
          <a:prstGeom prst="rect">
            <a:avLst/>
          </a:prstGeom>
          <a:noFill/>
          <a:ln/>
        </p:spPr>
        <p:txBody>
          <a:bodyPr wrap="square" rtlCol="0" anchor="ctr"/>
          <a:lstStyle/>
          <a:p>
            <a:pPr indent="0" marL="0">
              <a:buNone/>
            </a:pPr>
            <a:r>
              <a:rPr lang="en-US" sz="1050" dirty="0">
                <a:solidFill>
                  <a:srgbClr val="475569"/>
                </a:solidFill>
              </a:rPr>
              <a:t>Tùy chọn số ngày thuê (3, 7, 14 ngày), chọn nhận quầy hoặc giao tận nơi.</a:t>
            </a:r>
            <a:endParaRPr lang="en-US" sz="1050" dirty="0"/>
          </a:p>
        </p:txBody>
      </p:sp>
      <p:sp>
        <p:nvSpPr>
          <p:cNvPr id="12" name="Shape 10"/>
          <p:cNvSpPr/>
          <p:nvPr/>
        </p:nvSpPr>
        <p:spPr>
          <a:xfrm>
            <a:off x="4663440" y="822960"/>
            <a:ext cx="1920240" cy="3931920"/>
          </a:xfrm>
          <a:prstGeom prst="roundRect">
            <a:avLst/>
          </a:prstGeom>
          <a:solidFill>
            <a:srgbClr val="FFFFFF"/>
          </a:solidFill>
          <a:ln w="12700">
            <a:solidFill>
              <a:srgbClr val="E2E8F0"/>
            </a:solidFill>
            <a:prstDash val="solid"/>
          </a:ln>
        </p:spPr>
      </p:sp>
      <p:sp>
        <p:nvSpPr>
          <p:cNvPr id="13" name="Text 11"/>
          <p:cNvSpPr/>
          <p:nvPr/>
        </p:nvSpPr>
        <p:spPr>
          <a:xfrm>
            <a:off x="4754880" y="1005840"/>
            <a:ext cx="1737360" cy="457200"/>
          </a:xfrm>
          <a:prstGeom prst="rect">
            <a:avLst/>
          </a:prstGeom>
          <a:noFill/>
          <a:ln/>
        </p:spPr>
        <p:txBody>
          <a:bodyPr wrap="square" rtlCol="0" anchor="ctr"/>
          <a:lstStyle/>
          <a:p>
            <a:pPr indent="0" marL="0">
              <a:buNone/>
            </a:pPr>
            <a:r>
              <a:rPr lang="en-US" sz="1200" b="1" dirty="0">
                <a:solidFill>
                  <a:srgbClr val="1E3A8A"/>
                </a:solidFill>
              </a:rPr>
              <a:t>📌 Đặt Giữ Chỗ Online</a:t>
            </a:r>
            <a:endParaRPr lang="en-US" sz="1200" dirty="0"/>
          </a:p>
        </p:txBody>
      </p:sp>
      <p:sp>
        <p:nvSpPr>
          <p:cNvPr id="14" name="Text 12"/>
          <p:cNvSpPr/>
          <p:nvPr/>
        </p:nvSpPr>
        <p:spPr>
          <a:xfrm>
            <a:off x="4754880" y="1554480"/>
            <a:ext cx="1737360" cy="3017520"/>
          </a:xfrm>
          <a:prstGeom prst="rect">
            <a:avLst/>
          </a:prstGeom>
          <a:noFill/>
          <a:ln/>
        </p:spPr>
        <p:txBody>
          <a:bodyPr wrap="square" rtlCol="0" anchor="ctr"/>
          <a:lstStyle/>
          <a:p>
            <a:pPr indent="0" marL="0">
              <a:buNone/>
            </a:pPr>
            <a:r>
              <a:rPr lang="en-US" sz="1050" dirty="0">
                <a:solidFill>
                  <a:srgbClr val="475569"/>
                </a:solidFill>
              </a:rPr>
              <a:t>Khi sách hết bản sẵn, đăng ký giữ chỗ trước trong 48h để Thủ thư giữ sách.</a:t>
            </a:r>
            <a:endParaRPr lang="en-US" sz="1050" dirty="0"/>
          </a:p>
        </p:txBody>
      </p:sp>
      <p:sp>
        <p:nvSpPr>
          <p:cNvPr id="15" name="Shape 13"/>
          <p:cNvSpPr/>
          <p:nvPr/>
        </p:nvSpPr>
        <p:spPr>
          <a:xfrm>
            <a:off x="6766560" y="822960"/>
            <a:ext cx="1920240" cy="3931920"/>
          </a:xfrm>
          <a:prstGeom prst="roundRect">
            <a:avLst/>
          </a:prstGeom>
          <a:solidFill>
            <a:srgbClr val="FFFFFF"/>
          </a:solidFill>
          <a:ln w="12700">
            <a:solidFill>
              <a:srgbClr val="E2E8F0"/>
            </a:solidFill>
            <a:prstDash val="solid"/>
          </a:ln>
        </p:spPr>
      </p:sp>
      <p:sp>
        <p:nvSpPr>
          <p:cNvPr id="16" name="Text 14"/>
          <p:cNvSpPr/>
          <p:nvPr/>
        </p:nvSpPr>
        <p:spPr>
          <a:xfrm>
            <a:off x="6858000" y="1005840"/>
            <a:ext cx="1737360" cy="457200"/>
          </a:xfrm>
          <a:prstGeom prst="rect">
            <a:avLst/>
          </a:prstGeom>
          <a:noFill/>
          <a:ln/>
        </p:spPr>
        <p:txBody>
          <a:bodyPr wrap="square" rtlCol="0" anchor="ctr"/>
          <a:lstStyle/>
          <a:p>
            <a:pPr indent="0" marL="0">
              <a:buNone/>
            </a:pPr>
            <a:r>
              <a:rPr lang="en-US" sz="1200" b="1" dirty="0">
                <a:solidFill>
                  <a:srgbClr val="1E3A8A"/>
                </a:solidFill>
              </a:rPr>
              <a:t>⭐ Đánh Giá &amp; Review</a:t>
            </a:r>
            <a:endParaRPr lang="en-US" sz="1200" dirty="0"/>
          </a:p>
        </p:txBody>
      </p:sp>
      <p:sp>
        <p:nvSpPr>
          <p:cNvPr id="17" name="Text 15"/>
          <p:cNvSpPr/>
          <p:nvPr/>
        </p:nvSpPr>
        <p:spPr>
          <a:xfrm>
            <a:off x="6858000" y="1554480"/>
            <a:ext cx="1737360" cy="3017520"/>
          </a:xfrm>
          <a:prstGeom prst="rect">
            <a:avLst/>
          </a:prstGeom>
          <a:noFill/>
          <a:ln/>
        </p:spPr>
        <p:txBody>
          <a:bodyPr wrap="square" rtlCol="0" anchor="ctr"/>
          <a:lstStyle/>
          <a:p>
            <a:pPr indent="0" marL="0">
              <a:buNone/>
            </a:pPr>
            <a:r>
              <a:rPr lang="en-US" sz="1050" dirty="0">
                <a:solidFill>
                  <a:srgbClr val="475569"/>
                </a:solidFill>
              </a:rPr>
              <a:t>Chấm điểm 1-5 sao và viết review cảm nhận cho cộng đồng người đọc.</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04</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Thư Viện Số E-Library &amp; Trình Xem PDF Online</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PDF Online Viewer</a:t>
            </a:r>
            <a:endParaRPr lang="en-US" sz="1000" dirty="0"/>
          </a:p>
        </p:txBody>
      </p:sp>
      <p:sp>
        <p:nvSpPr>
          <p:cNvPr id="6" name="Shape 4"/>
          <p:cNvSpPr/>
          <p:nvPr/>
        </p:nvSpPr>
        <p:spPr>
          <a:xfrm>
            <a:off x="457200" y="822960"/>
            <a:ext cx="3977640" cy="3931920"/>
          </a:xfrm>
          <a:prstGeom prst="roundRect">
            <a:avLst/>
          </a:prstGeom>
          <a:solidFill>
            <a:srgbClr val="FFFFFF"/>
          </a:solidFill>
          <a:ln w="12700">
            <a:solidFill>
              <a:srgbClr val="E2E8F0"/>
            </a:solidFill>
            <a:prstDash val="solid"/>
          </a:ln>
        </p:spPr>
      </p:sp>
      <p:sp>
        <p:nvSpPr>
          <p:cNvPr id="7" name="Text 5"/>
          <p:cNvSpPr/>
          <p:nvPr/>
        </p:nvSpPr>
        <p:spPr>
          <a:xfrm>
            <a:off x="640080" y="1005840"/>
            <a:ext cx="3611880" cy="365760"/>
          </a:xfrm>
          <a:prstGeom prst="rect">
            <a:avLst/>
          </a:prstGeom>
          <a:noFill/>
          <a:ln/>
        </p:spPr>
        <p:txBody>
          <a:bodyPr wrap="square" rtlCol="0" anchor="ctr"/>
          <a:lstStyle/>
          <a:p>
            <a:pPr indent="0" marL="0">
              <a:buNone/>
            </a:pPr>
            <a:r>
              <a:rPr lang="en-US" sz="1300" b="1" dirty="0">
                <a:solidFill>
                  <a:srgbClr val="1E3A8A"/>
                </a:solidFill>
              </a:rPr>
              <a:t>📖 Tính Năng Trình Xem PDF Online</a:t>
            </a:r>
            <a:endParaRPr lang="en-US" sz="1300" dirty="0"/>
          </a:p>
        </p:txBody>
      </p:sp>
      <p:sp>
        <p:nvSpPr>
          <p:cNvPr id="8" name="Text 6"/>
          <p:cNvSpPr/>
          <p:nvPr/>
        </p:nvSpPr>
        <p:spPr>
          <a:xfrm>
            <a:off x="640080" y="1371600"/>
            <a:ext cx="3611880" cy="3200400"/>
          </a:xfrm>
          <a:prstGeom prst="rect">
            <a:avLst/>
          </a:prstGeom>
          <a:noFill/>
          <a:ln/>
        </p:spPr>
        <p:txBody>
          <a:bodyPr wrap="square" rtlCol="0" anchor="ctr"/>
          <a:lstStyle/>
          <a:p>
            <a:pPr indent="0" marL="0">
              <a:buNone/>
            </a:pPr>
            <a:r>
              <a:rPr lang="en-US" sz="1050" dirty="0">
                <a:solidFill>
                  <a:srgbClr val="0F172A"/>
                </a:solidFill>
              </a:rPr>
              <a:t>• Xem Trực Tiếp Trình Duyệt: Tích hợp sẵn bộ xem PDF/EPUB trong Modal đọc sách.
</a:t>
            </a:r>
            <a:pPr indent="0" marL="0">
              <a:buNone/>
            </a:pPr>
            <a:r>
              <a:rPr lang="en-US" sz="1050" dirty="0">
                <a:solidFill>
                  <a:srgbClr val="0F172A"/>
                </a:solidFill>
              </a:rPr>
              <a:t>• Điều Khiển Đọc Thông Minh: Lật trang trước/sau, lật trang chính xác và Zoom 100% - 150%.
</a:t>
            </a:r>
            <a:pPr indent="0" marL="0">
              <a:buNone/>
            </a:pPr>
            <a:r>
              <a:rPr lang="en-US" sz="1050" b="1" dirty="0">
                <a:solidFill>
                  <a:srgbClr val="1E3A8A"/>
                </a:solidFill>
              </a:rPr>
              <a:t>• Phân Quyền Tải Xuống (Download Guard):
</a:t>
            </a:r>
            <a:pPr indent="0" marL="0">
              <a:buNone/>
            </a:pPr>
            <a:r>
              <a:rPr lang="en-US" sz="1000" dirty="0">
                <a:solidFill>
                  <a:srgbClr val="475569"/>
                </a:solidFill>
              </a:rPr>
              <a:t>  - Độc giả Thường: Xem trực tuyến (View Only)</a:t>
            </a:r>
            <a:endParaRPr lang="en-US" sz="1050" dirty="0"/>
          </a:p>
          <a:p>
            <a:pPr indent="0" marL="0">
              <a:buNone/>
            </a:pPr>
            <a:r>
              <a:rPr lang="en-US" sz="1000" dirty="0">
                <a:solidFill>
                  <a:srgbClr val="475569"/>
                </a:solidFill>
              </a:rPr>
              <a:t>  - Độc giả VIP Gold: Được phép Tải về (Download PDF)</a:t>
            </a:r>
            <a:endParaRPr lang="en-US" sz="1050" dirty="0"/>
          </a:p>
        </p:txBody>
      </p:sp>
      <p:sp>
        <p:nvSpPr>
          <p:cNvPr id="9" name="Shape 7"/>
          <p:cNvSpPr/>
          <p:nvPr/>
        </p:nvSpPr>
        <p:spPr>
          <a:xfrm>
            <a:off x="4709160" y="822960"/>
            <a:ext cx="3977640" cy="3931920"/>
          </a:xfrm>
          <a:prstGeom prst="roundRect">
            <a:avLst/>
          </a:prstGeom>
          <a:solidFill>
            <a:srgbClr val="0F172A"/>
          </a:solidFill>
          <a:ln/>
        </p:spPr>
      </p:sp>
      <p:sp>
        <p:nvSpPr>
          <p:cNvPr id="10" name="Text 8"/>
          <p:cNvSpPr/>
          <p:nvPr/>
        </p:nvSpPr>
        <p:spPr>
          <a:xfrm>
            <a:off x="4892040" y="1005840"/>
            <a:ext cx="3611880" cy="320040"/>
          </a:xfrm>
          <a:prstGeom prst="rect">
            <a:avLst/>
          </a:prstGeom>
          <a:noFill/>
          <a:ln/>
        </p:spPr>
        <p:txBody>
          <a:bodyPr wrap="square" rtlCol="0" anchor="ctr"/>
          <a:lstStyle/>
          <a:p>
            <a:pPr indent="0" marL="0">
              <a:buNone/>
            </a:pPr>
            <a:r>
              <a:rPr lang="en-US" sz="1100" b="1" dirty="0">
                <a:solidFill>
                  <a:srgbClr val="38BDF8"/>
                </a:solidFill>
              </a:rPr>
              <a:t>📄 Clean_Code_Architecture.pdf  (VIP Access)</a:t>
            </a:r>
            <a:endParaRPr lang="en-US" sz="1100" dirty="0"/>
          </a:p>
        </p:txBody>
      </p:sp>
      <p:sp>
        <p:nvSpPr>
          <p:cNvPr id="11" name="Shape 9"/>
          <p:cNvSpPr/>
          <p:nvPr/>
        </p:nvSpPr>
        <p:spPr>
          <a:xfrm>
            <a:off x="4892040" y="1371600"/>
            <a:ext cx="3611880" cy="2743200"/>
          </a:xfrm>
          <a:prstGeom prst="rect">
            <a:avLst/>
          </a:prstGeom>
          <a:solidFill>
            <a:srgbClr val="FFFFFF"/>
          </a:solidFill>
          <a:ln/>
        </p:spPr>
      </p:sp>
      <p:sp>
        <p:nvSpPr>
          <p:cNvPr id="12" name="Text 10"/>
          <p:cNvSpPr/>
          <p:nvPr/>
        </p:nvSpPr>
        <p:spPr>
          <a:xfrm>
            <a:off x="5029200" y="1508760"/>
            <a:ext cx="3337560" cy="2468880"/>
          </a:xfrm>
          <a:prstGeom prst="rect">
            <a:avLst/>
          </a:prstGeom>
          <a:noFill/>
          <a:ln/>
        </p:spPr>
        <p:txBody>
          <a:bodyPr wrap="square" rtlCol="0" anchor="ctr"/>
          <a:lstStyle/>
          <a:p>
            <a:pPr indent="0" marL="0">
              <a:buNone/>
            </a:pPr>
            <a:r>
              <a:rPr lang="en-US" sz="1000" dirty="0">
                <a:solidFill>
                  <a:srgbClr val="1E293B"/>
                </a:solidFill>
              </a:rPr>
              <a:t>GIÁO TRÌNH LẬP TRÌNH WEB ENTERPRISE 2026</a:t>
            </a:r>
            <a:endParaRPr lang="en-US" sz="1000" dirty="0"/>
          </a:p>
          <a:p>
            <a:pPr indent="0" marL="0">
              <a:buNone/>
            </a:pPr>
            <a:endParaRPr lang="en-US" sz="1000" dirty="0"/>
          </a:p>
          <a:p>
            <a:pPr indent="0" marL="0">
              <a:buNone/>
            </a:pPr>
            <a:r>
              <a:rPr lang="en-US" sz="1000" dirty="0">
                <a:solidFill>
                  <a:srgbClr val="1E293B"/>
                </a:solidFill>
              </a:rPr>
              <a:t>Kiến trúc phần mềm Clean Architecture phân chia thành các lớp Decoupled Layer giúp mã nguồn dễ mở rộng, bảo trì và kiểm thử tự động...</a:t>
            </a:r>
            <a:endParaRPr lang="en-US" sz="1000" dirty="0"/>
          </a:p>
        </p:txBody>
      </p:sp>
      <p:sp>
        <p:nvSpPr>
          <p:cNvPr id="13" name="Text 11"/>
          <p:cNvSpPr/>
          <p:nvPr/>
        </p:nvSpPr>
        <p:spPr>
          <a:xfrm>
            <a:off x="4892040" y="4297680"/>
            <a:ext cx="3611880" cy="320040"/>
          </a:xfrm>
          <a:prstGeom prst="rect">
            <a:avLst/>
          </a:prstGeom>
          <a:noFill/>
          <a:ln/>
        </p:spPr>
        <p:txBody>
          <a:bodyPr wrap="square" rtlCol="0" anchor="ctr"/>
          <a:lstStyle/>
          <a:p>
            <a:pPr algn="ctr" indent="0" marL="0">
              <a:buNone/>
            </a:pPr>
            <a:r>
              <a:rPr lang="en-US" sz="1000" b="1" dirty="0">
                <a:solidFill>
                  <a:srgbClr val="94A3B8"/>
                </a:solidFill>
              </a:rPr>
              <a:t>Trang 1 / 45  |  [ Zoom (-) ]  [ Zoom (+) ]  [ ⬇️ Tải PDF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05</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Cổng Thanh Toán VietQR &amp; Thẻ VIP 3D</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VietQR Banking Gateway</a:t>
            </a:r>
            <a:endParaRPr lang="en-US" sz="1000" dirty="0"/>
          </a:p>
        </p:txBody>
      </p:sp>
      <p:sp>
        <p:nvSpPr>
          <p:cNvPr id="6" name="Shape 4"/>
          <p:cNvSpPr/>
          <p:nvPr/>
        </p:nvSpPr>
        <p:spPr>
          <a:xfrm>
            <a:off x="457200" y="822960"/>
            <a:ext cx="3977640" cy="3931920"/>
          </a:xfrm>
          <a:prstGeom prst="roundRect">
            <a:avLst/>
          </a:prstGeom>
          <a:solidFill>
            <a:srgbClr val="FFFFFF"/>
          </a:solidFill>
          <a:ln w="12700">
            <a:solidFill>
              <a:srgbClr val="E2E8F0"/>
            </a:solidFill>
            <a:prstDash val="solid"/>
          </a:ln>
        </p:spPr>
      </p:sp>
      <p:sp>
        <p:nvSpPr>
          <p:cNvPr id="7" name="Text 5"/>
          <p:cNvSpPr/>
          <p:nvPr/>
        </p:nvSpPr>
        <p:spPr>
          <a:xfrm>
            <a:off x="640080" y="1005840"/>
            <a:ext cx="3611880" cy="365760"/>
          </a:xfrm>
          <a:prstGeom prst="rect">
            <a:avLst/>
          </a:prstGeom>
          <a:noFill/>
          <a:ln/>
        </p:spPr>
        <p:txBody>
          <a:bodyPr wrap="square" rtlCol="0" anchor="ctr"/>
          <a:lstStyle/>
          <a:p>
            <a:pPr indent="0" marL="0">
              <a:buNone/>
            </a:pPr>
            <a:r>
              <a:rPr lang="en-US" sz="1300" b="1" dirty="0">
                <a:solidFill>
                  <a:srgbClr val="1E3A8A"/>
                </a:solidFill>
              </a:rPr>
              <a:t>💳 Quy Trình Nạp Tiền Ví VietQR Tự Động</a:t>
            </a:r>
            <a:endParaRPr lang="en-US" sz="1300" dirty="0"/>
          </a:p>
        </p:txBody>
      </p:sp>
      <p:sp>
        <p:nvSpPr>
          <p:cNvPr id="8" name="Text 6"/>
          <p:cNvSpPr/>
          <p:nvPr/>
        </p:nvSpPr>
        <p:spPr>
          <a:xfrm>
            <a:off x="640080" y="1463040"/>
            <a:ext cx="3611880" cy="3108960"/>
          </a:xfrm>
          <a:prstGeom prst="rect">
            <a:avLst/>
          </a:prstGeom>
          <a:noFill/>
          <a:ln/>
        </p:spPr>
        <p:txBody>
          <a:bodyPr wrap="square" rtlCol="0" anchor="ctr"/>
          <a:lstStyle/>
          <a:p>
            <a:pPr indent="0" marL="0">
              <a:buNone/>
            </a:pPr>
            <a:r>
              <a:rPr lang="en-US" sz="1100" dirty="0">
                <a:solidFill>
                  <a:srgbClr val="0F172A"/>
                </a:solidFill>
              </a:rPr>
              <a:t>1. Nhập số tiền nạp trực tiếp tại Cổng Độc Giả (VD: 200.000 ₫).
</a:t>
            </a:r>
            <a:pPr indent="0" marL="0">
              <a:buNone/>
            </a:pPr>
            <a:r>
              <a:rPr lang="en-US" sz="1100" dirty="0">
                <a:solidFill>
                  <a:srgbClr val="0F172A"/>
                </a:solidFill>
              </a:rPr>
              <a:t>2. Tự động sinh mã VietQR chuyển khoản ngân hàng Napas 24/7 (MBBank).
</a:t>
            </a:r>
            <a:pPr indent="0" marL="0">
              <a:buNone/>
            </a:pPr>
            <a:r>
              <a:rPr lang="en-US" sz="1100" dirty="0">
                <a:solidFill>
                  <a:srgbClr val="0F172A"/>
                </a:solidFill>
              </a:rPr>
              <a:t>3. Số dư Ví nội bộ cập nhật tức thì dùng để thuê sách nhanh.</a:t>
            </a:r>
            <a:endParaRPr lang="en-US" sz="1100" dirty="0"/>
          </a:p>
        </p:txBody>
      </p:sp>
      <p:sp>
        <p:nvSpPr>
          <p:cNvPr id="9" name="Shape 7"/>
          <p:cNvSpPr/>
          <p:nvPr/>
        </p:nvSpPr>
        <p:spPr>
          <a:xfrm>
            <a:off x="4709160" y="822960"/>
            <a:ext cx="3977640" cy="3931920"/>
          </a:xfrm>
          <a:prstGeom prst="roundRect">
            <a:avLst/>
          </a:prstGeom>
          <a:solidFill>
            <a:srgbClr val="FFFFFF"/>
          </a:solidFill>
          <a:ln w="12700">
            <a:solidFill>
              <a:srgbClr val="E2E8F0"/>
            </a:solidFill>
            <a:prstDash val="solid"/>
          </a:ln>
        </p:spPr>
      </p:sp>
      <p:sp>
        <p:nvSpPr>
          <p:cNvPr id="10" name="Text 8"/>
          <p:cNvSpPr/>
          <p:nvPr/>
        </p:nvSpPr>
        <p:spPr>
          <a:xfrm>
            <a:off x="4892040" y="1005840"/>
            <a:ext cx="3611880" cy="365760"/>
          </a:xfrm>
          <a:prstGeom prst="rect">
            <a:avLst/>
          </a:prstGeom>
          <a:noFill/>
          <a:ln/>
        </p:spPr>
        <p:txBody>
          <a:bodyPr wrap="square" rtlCol="0" anchor="ctr"/>
          <a:lstStyle/>
          <a:p>
            <a:pPr indent="0" marL="0">
              <a:buNone/>
            </a:pPr>
            <a:r>
              <a:rPr lang="en-US" sz="1300" b="1" dirty="0">
                <a:solidFill>
                  <a:srgbClr val="4338CA"/>
                </a:solidFill>
              </a:rPr>
              <a:t>🎴 Thẻ Thành Viên Điện Tử &amp; Barcode</a:t>
            </a:r>
            <a:endParaRPr lang="en-US" sz="1300" dirty="0"/>
          </a:p>
        </p:txBody>
      </p:sp>
      <p:sp>
        <p:nvSpPr>
          <p:cNvPr id="11" name="Shape 9"/>
          <p:cNvSpPr/>
          <p:nvPr/>
        </p:nvSpPr>
        <p:spPr>
          <a:xfrm>
            <a:off x="4892040" y="1463040"/>
            <a:ext cx="3611880" cy="3108960"/>
          </a:xfrm>
          <a:prstGeom prst="roundRect">
            <a:avLst/>
          </a:prstGeom>
          <a:solidFill>
            <a:srgbClr val="0F172A"/>
          </a:solidFill>
          <a:ln/>
        </p:spPr>
      </p:sp>
      <p:sp>
        <p:nvSpPr>
          <p:cNvPr id="12" name="Text 10"/>
          <p:cNvSpPr/>
          <p:nvPr/>
        </p:nvSpPr>
        <p:spPr>
          <a:xfrm>
            <a:off x="5074920" y="1645920"/>
            <a:ext cx="3246120" cy="320040"/>
          </a:xfrm>
          <a:prstGeom prst="rect">
            <a:avLst/>
          </a:prstGeom>
          <a:noFill/>
          <a:ln/>
        </p:spPr>
        <p:txBody>
          <a:bodyPr wrap="square" rtlCol="0" anchor="ctr"/>
          <a:lstStyle/>
          <a:p>
            <a:pPr indent="0" marL="0">
              <a:buNone/>
            </a:pPr>
            <a:r>
              <a:rPr lang="en-US" sz="1200" b="1" dirty="0">
                <a:solidFill>
                  <a:srgbClr val="F59E0B"/>
                </a:solidFill>
              </a:rPr>
              <a:t>THẺ THÀNH VIÊN VIP GOLD</a:t>
            </a:r>
            <a:endParaRPr lang="en-US" sz="1200" dirty="0"/>
          </a:p>
        </p:txBody>
      </p:sp>
      <p:sp>
        <p:nvSpPr>
          <p:cNvPr id="13" name="Text 11"/>
          <p:cNvSpPr/>
          <p:nvPr/>
        </p:nvSpPr>
        <p:spPr>
          <a:xfrm>
            <a:off x="5074920" y="2057400"/>
            <a:ext cx="3246120" cy="411480"/>
          </a:xfrm>
          <a:prstGeom prst="rect">
            <a:avLst/>
          </a:prstGeom>
          <a:noFill/>
          <a:ln/>
        </p:spPr>
        <p:txBody>
          <a:bodyPr wrap="square" rtlCol="0" anchor="ctr"/>
          <a:lstStyle/>
          <a:p>
            <a:pPr indent="0" marL="0">
              <a:buNone/>
            </a:pPr>
            <a:r>
              <a:rPr lang="en-US" sz="1500" b="1" dirty="0">
                <a:solidFill>
                  <a:srgbClr val="FFFFFF"/>
                </a:solidFill>
              </a:rPr>
              <a:t>NGUYỄN ĐĂNG KHẢI</a:t>
            </a:r>
            <a:endParaRPr lang="en-US" sz="1500" dirty="0"/>
          </a:p>
        </p:txBody>
      </p:sp>
      <p:sp>
        <p:nvSpPr>
          <p:cNvPr id="14" name="Text 12"/>
          <p:cNvSpPr/>
          <p:nvPr/>
        </p:nvSpPr>
        <p:spPr>
          <a:xfrm>
            <a:off x="5074920" y="2560320"/>
            <a:ext cx="3246120" cy="640080"/>
          </a:xfrm>
          <a:prstGeom prst="rect">
            <a:avLst/>
          </a:prstGeom>
          <a:noFill/>
          <a:ln/>
        </p:spPr>
        <p:txBody>
          <a:bodyPr wrap="square" rtlCol="0" anchor="ctr"/>
          <a:lstStyle/>
          <a:p>
            <a:pPr indent="0" marL="0">
              <a:buNone/>
            </a:pPr>
            <a:r>
              <a:rPr lang="en-US" sz="1050" dirty="0">
                <a:solidFill>
                  <a:srgbClr val="CBD5E1"/>
                </a:solidFill>
              </a:rPr>
              <a:t>Số dư Ví: 850.000 ₫   |   Cọc tạm đóng: 24.000 ₫</a:t>
            </a:r>
            <a:endParaRPr lang="en-US" sz="1050" dirty="0"/>
          </a:p>
          <a:p>
            <a:pPr indent="0" marL="0">
              <a:buNone/>
            </a:pPr>
            <a:r>
              <a:rPr lang="en-US" sz="1050" dirty="0">
                <a:solidFill>
                  <a:srgbClr val="CBD5E1"/>
                </a:solidFill>
              </a:rPr>
              <a:t>Mã Barcode Quét Quầy: BC-DG001</a:t>
            </a:r>
            <a:endParaRPr lang="en-US" sz="1050" dirty="0"/>
          </a:p>
        </p:txBody>
      </p:sp>
      <p:sp>
        <p:nvSpPr>
          <p:cNvPr id="15" name="Text 13"/>
          <p:cNvSpPr/>
          <p:nvPr/>
        </p:nvSpPr>
        <p:spPr>
          <a:xfrm>
            <a:off x="5074920" y="3383280"/>
            <a:ext cx="3246120" cy="1005840"/>
          </a:xfrm>
          <a:prstGeom prst="rect">
            <a:avLst/>
          </a:prstGeom>
          <a:noFill/>
          <a:ln/>
        </p:spPr>
        <p:txBody>
          <a:bodyPr wrap="square" rtlCol="0" anchor="ctr"/>
          <a:lstStyle/>
          <a:p>
            <a:pPr indent="0" marL="0">
              <a:buNone/>
            </a:pPr>
            <a:r>
              <a:rPr lang="en-US" sz="1000" dirty="0">
                <a:solidFill>
                  <a:srgbClr val="34D399"/>
                </a:solidFill>
              </a:rPr>
              <a:t>✔ Tạm đóng bằng 80% tiền cọc khi mượn sách và tự động hoàn trả cọc về Ví khi trả sách.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06</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Sàn Dịch Vụ Vẽ Manga &amp; Quyên Góp Sách</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Community &amp; Services</a:t>
            </a:r>
            <a:endParaRPr lang="en-US" sz="1000" dirty="0"/>
          </a:p>
        </p:txBody>
      </p:sp>
      <p:sp>
        <p:nvSpPr>
          <p:cNvPr id="6" name="Shape 4"/>
          <p:cNvSpPr/>
          <p:nvPr/>
        </p:nvSpPr>
        <p:spPr>
          <a:xfrm>
            <a:off x="457200" y="822960"/>
            <a:ext cx="2560320" cy="3931920"/>
          </a:xfrm>
          <a:prstGeom prst="roundRect">
            <a:avLst/>
          </a:prstGeom>
          <a:solidFill>
            <a:srgbClr val="FFFFFF"/>
          </a:solidFill>
          <a:ln w="12700">
            <a:solidFill>
              <a:srgbClr val="E2E8F0"/>
            </a:solidFill>
            <a:prstDash val="solid"/>
          </a:ln>
        </p:spPr>
      </p:sp>
      <p:sp>
        <p:nvSpPr>
          <p:cNvPr id="7" name="Text 5"/>
          <p:cNvSpPr/>
          <p:nvPr/>
        </p:nvSpPr>
        <p:spPr>
          <a:xfrm>
            <a:off x="594360" y="1005840"/>
            <a:ext cx="2286000" cy="457200"/>
          </a:xfrm>
          <a:prstGeom prst="rect">
            <a:avLst/>
          </a:prstGeom>
          <a:noFill/>
          <a:ln/>
        </p:spPr>
        <p:txBody>
          <a:bodyPr wrap="square" rtlCol="0" anchor="ctr"/>
          <a:lstStyle/>
          <a:p>
            <a:pPr indent="0" marL="0">
              <a:buNone/>
            </a:pPr>
            <a:r>
              <a:rPr lang="en-US" sz="1300" b="1" dirty="0">
                <a:solidFill>
                  <a:srgbClr val="1E3A8A"/>
                </a:solidFill>
              </a:rPr>
              <a:t>🎨 Fastlance Manga</a:t>
            </a:r>
            <a:endParaRPr lang="en-US" sz="1300" dirty="0"/>
          </a:p>
        </p:txBody>
      </p:sp>
      <p:sp>
        <p:nvSpPr>
          <p:cNvPr id="8" name="Text 6"/>
          <p:cNvSpPr/>
          <p:nvPr/>
        </p:nvSpPr>
        <p:spPr>
          <a:xfrm>
            <a:off x="594360" y="1554480"/>
            <a:ext cx="2286000" cy="3017520"/>
          </a:xfrm>
          <a:prstGeom prst="rect">
            <a:avLst/>
          </a:prstGeom>
          <a:noFill/>
          <a:ln/>
        </p:spPr>
        <p:txBody>
          <a:bodyPr wrap="square" rtlCol="0" anchor="ctr"/>
          <a:lstStyle/>
          <a:p>
            <a:pPr indent="0" marL="0">
              <a:buNone/>
            </a:pPr>
            <a:r>
              <a:rPr lang="en-US" sz="1100" dirty="0">
                <a:solidFill>
                  <a:srgbClr val="475569"/>
                </a:solidFill>
              </a:rPr>
              <a:t>Đặt vẽ nhân vật Chibi 2D, thiết kế bìa Light Novel và trang Webtoon trực tiếp từ các Họa sĩ Freelancer uy tín.</a:t>
            </a:r>
            <a:endParaRPr lang="en-US" sz="1100" dirty="0"/>
          </a:p>
        </p:txBody>
      </p:sp>
      <p:sp>
        <p:nvSpPr>
          <p:cNvPr id="9" name="Shape 7"/>
          <p:cNvSpPr/>
          <p:nvPr/>
        </p:nvSpPr>
        <p:spPr>
          <a:xfrm>
            <a:off x="3291840" y="822960"/>
            <a:ext cx="2560320" cy="3931920"/>
          </a:xfrm>
          <a:prstGeom prst="roundRect">
            <a:avLst/>
          </a:prstGeom>
          <a:solidFill>
            <a:srgbClr val="FFFFFF"/>
          </a:solidFill>
          <a:ln w="12700">
            <a:solidFill>
              <a:srgbClr val="E2E8F0"/>
            </a:solidFill>
            <a:prstDash val="solid"/>
          </a:ln>
        </p:spPr>
      </p:sp>
      <p:sp>
        <p:nvSpPr>
          <p:cNvPr id="10" name="Text 8"/>
          <p:cNvSpPr/>
          <p:nvPr/>
        </p:nvSpPr>
        <p:spPr>
          <a:xfrm>
            <a:off x="3429000" y="1005840"/>
            <a:ext cx="2286000" cy="457200"/>
          </a:xfrm>
          <a:prstGeom prst="rect">
            <a:avLst/>
          </a:prstGeom>
          <a:noFill/>
          <a:ln/>
        </p:spPr>
        <p:txBody>
          <a:bodyPr wrap="square" rtlCol="0" anchor="ctr"/>
          <a:lstStyle/>
          <a:p>
            <a:pPr indent="0" marL="0">
              <a:buNone/>
            </a:pPr>
            <a:r>
              <a:rPr lang="en-US" sz="1300" b="1" dirty="0">
                <a:solidFill>
                  <a:srgbClr val="1E3A8A"/>
                </a:solidFill>
              </a:rPr>
              <a:t>🎁 Quyên Góp Sách</a:t>
            </a:r>
            <a:endParaRPr lang="en-US" sz="1300" dirty="0"/>
          </a:p>
        </p:txBody>
      </p:sp>
      <p:sp>
        <p:nvSpPr>
          <p:cNvPr id="11" name="Text 9"/>
          <p:cNvSpPr/>
          <p:nvPr/>
        </p:nvSpPr>
        <p:spPr>
          <a:xfrm>
            <a:off x="3429000" y="1554480"/>
            <a:ext cx="2286000" cy="3017520"/>
          </a:xfrm>
          <a:prstGeom prst="rect">
            <a:avLst/>
          </a:prstGeom>
          <a:noFill/>
          <a:ln/>
        </p:spPr>
        <p:txBody>
          <a:bodyPr wrap="square" rtlCol="0" anchor="ctr"/>
          <a:lstStyle/>
          <a:p>
            <a:pPr indent="0" marL="0">
              <a:buNone/>
            </a:pPr>
            <a:r>
              <a:rPr lang="en-US" sz="1100" dirty="0">
                <a:solidFill>
                  <a:srgbClr val="475569"/>
                </a:solidFill>
              </a:rPr>
              <a:t>Độc giả gửi tặng sách cũ cho thư viện. Khi được phê duyệt, hệ thống tặng ngay +50.000 ₫ vào Ví và nhập kho sách.</a:t>
            </a:r>
            <a:endParaRPr lang="en-US" sz="1100" dirty="0"/>
          </a:p>
        </p:txBody>
      </p:sp>
      <p:sp>
        <p:nvSpPr>
          <p:cNvPr id="12" name="Shape 10"/>
          <p:cNvSpPr/>
          <p:nvPr/>
        </p:nvSpPr>
        <p:spPr>
          <a:xfrm>
            <a:off x="6126480" y="822960"/>
            <a:ext cx="2560320" cy="3931920"/>
          </a:xfrm>
          <a:prstGeom prst="roundRect">
            <a:avLst/>
          </a:prstGeom>
          <a:solidFill>
            <a:srgbClr val="FFFFFF"/>
          </a:solidFill>
          <a:ln w="12700">
            <a:solidFill>
              <a:srgbClr val="E2E8F0"/>
            </a:solidFill>
            <a:prstDash val="solid"/>
          </a:ln>
        </p:spPr>
      </p:sp>
      <p:sp>
        <p:nvSpPr>
          <p:cNvPr id="13" name="Text 11"/>
          <p:cNvSpPr/>
          <p:nvPr/>
        </p:nvSpPr>
        <p:spPr>
          <a:xfrm>
            <a:off x="6263640" y="1005840"/>
            <a:ext cx="2286000" cy="457200"/>
          </a:xfrm>
          <a:prstGeom prst="rect">
            <a:avLst/>
          </a:prstGeom>
          <a:noFill/>
          <a:ln/>
        </p:spPr>
        <p:txBody>
          <a:bodyPr wrap="square" rtlCol="0" anchor="ctr"/>
          <a:lstStyle/>
          <a:p>
            <a:pPr indent="0" marL="0">
              <a:buNone/>
            </a:pPr>
            <a:r>
              <a:rPr lang="en-US" sz="1300" b="1" dirty="0">
                <a:solidFill>
                  <a:srgbClr val="1E3A8A"/>
                </a:solidFill>
              </a:rPr>
              <a:t>🎟️ Sự Kiện &amp; Workshop</a:t>
            </a:r>
            <a:endParaRPr lang="en-US" sz="1300" dirty="0"/>
          </a:p>
        </p:txBody>
      </p:sp>
      <p:sp>
        <p:nvSpPr>
          <p:cNvPr id="14" name="Text 12"/>
          <p:cNvSpPr/>
          <p:nvPr/>
        </p:nvSpPr>
        <p:spPr>
          <a:xfrm>
            <a:off x="6263640" y="1554480"/>
            <a:ext cx="2286000" cy="3017520"/>
          </a:xfrm>
          <a:prstGeom prst="rect">
            <a:avLst/>
          </a:prstGeom>
          <a:noFill/>
          <a:ln/>
        </p:spPr>
        <p:txBody>
          <a:bodyPr wrap="square" rtlCol="0" anchor="ctr"/>
          <a:lstStyle/>
          <a:p>
            <a:pPr indent="0" marL="0">
              <a:buNone/>
            </a:pPr>
            <a:r>
              <a:rPr lang="en-US" sz="1100" dirty="0">
                <a:solidFill>
                  <a:srgbClr val="475569"/>
                </a:solidFill>
              </a:rPr>
              <a:t>Đăng ký vé tham gia Hội Sách Mùa Xuân, Workshop Clean Code. Số lượng vé khả dụng được tự động trừ khi đăng ký.</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07</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Hệ Thống Chat Hỗ Trợ Trực Tuyến 24/7</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Real-Time Live Chat</a:t>
            </a:r>
            <a:endParaRPr lang="en-US" sz="1000" dirty="0"/>
          </a:p>
        </p:txBody>
      </p:sp>
      <p:sp>
        <p:nvSpPr>
          <p:cNvPr id="6" name="Shape 4"/>
          <p:cNvSpPr/>
          <p:nvPr/>
        </p:nvSpPr>
        <p:spPr>
          <a:xfrm>
            <a:off x="457200" y="822960"/>
            <a:ext cx="3977640" cy="3931920"/>
          </a:xfrm>
          <a:prstGeom prst="roundRect">
            <a:avLst/>
          </a:prstGeom>
          <a:solidFill>
            <a:srgbClr val="FFFFFF"/>
          </a:solidFill>
          <a:ln w="12700">
            <a:solidFill>
              <a:srgbClr val="E2E8F0"/>
            </a:solidFill>
            <a:prstDash val="solid"/>
          </a:ln>
        </p:spPr>
      </p:sp>
      <p:sp>
        <p:nvSpPr>
          <p:cNvPr id="7" name="Text 5"/>
          <p:cNvSpPr/>
          <p:nvPr/>
        </p:nvSpPr>
        <p:spPr>
          <a:xfrm>
            <a:off x="640080" y="1005840"/>
            <a:ext cx="3611880" cy="365760"/>
          </a:xfrm>
          <a:prstGeom prst="rect">
            <a:avLst/>
          </a:prstGeom>
          <a:noFill/>
          <a:ln/>
        </p:spPr>
        <p:txBody>
          <a:bodyPr wrap="square" rtlCol="0" anchor="ctr"/>
          <a:lstStyle/>
          <a:p>
            <a:pPr indent="0" marL="0">
              <a:buNone/>
            </a:pPr>
            <a:r>
              <a:rPr lang="en-US" sz="1300" b="1" dirty="0">
                <a:solidFill>
                  <a:srgbClr val="1E3A8A"/>
                </a:solidFill>
              </a:rPr>
              <a:t>💬 Tính Năng Real-Time Live Chat</a:t>
            </a:r>
            <a:endParaRPr lang="en-US" sz="1300" dirty="0"/>
          </a:p>
        </p:txBody>
      </p:sp>
      <p:sp>
        <p:nvSpPr>
          <p:cNvPr id="8" name="Text 6"/>
          <p:cNvSpPr/>
          <p:nvPr/>
        </p:nvSpPr>
        <p:spPr>
          <a:xfrm>
            <a:off x="640080" y="1463040"/>
            <a:ext cx="3611880" cy="3108960"/>
          </a:xfrm>
          <a:prstGeom prst="rect">
            <a:avLst/>
          </a:prstGeom>
          <a:noFill/>
          <a:ln/>
        </p:spPr>
        <p:txBody>
          <a:bodyPr wrap="square" rtlCol="0" anchor="ctr"/>
          <a:lstStyle/>
          <a:p>
            <a:pPr indent="0" marL="0">
              <a:buNone/>
            </a:pPr>
            <a:r>
              <a:rPr lang="en-US" sz="1050" dirty="0">
                <a:solidFill>
                  <a:srgbClr val="0F172A"/>
                </a:solidFill>
              </a:rPr>
              <a:t>• Nút Chat Nổi 24/7: Cửa sổ chat trực tiếp giúp độc giả trao đổi với Thủ thư về sách mượn hoặc thẻ thành viên.
</a:t>
            </a:r>
            <a:pPr indent="0" marL="0">
              <a:buNone/>
            </a:pPr>
            <a:r>
              <a:rPr lang="en-US" sz="1050" dirty="0">
                <a:solidFill>
                  <a:srgbClr val="0F172A"/>
                </a:solidFill>
              </a:rPr>
              <a:t>• Tự Động Đồng Bộ 3s: Tự động kiểm tra và tải tin nhắn phản hồi mới từ Thủ thư mỗi 3 giây.
</a:t>
            </a:r>
            <a:pPr indent="0" marL="0">
              <a:buNone/>
            </a:pPr>
            <a:r>
              <a:rPr lang="en-US" sz="1050" dirty="0">
                <a:solidFill>
                  <a:srgbClr val="0F172A"/>
                </a:solidFill>
              </a:rPr>
              <a:t>• Thông Báo Chuông Tự Động: Ngay khi Thủ thư gửi tin phản hồi, hệ thống phát thông báo tới Nút chuông Notification.</a:t>
            </a:r>
            <a:endParaRPr lang="en-US" sz="1050" dirty="0"/>
          </a:p>
        </p:txBody>
      </p:sp>
      <p:sp>
        <p:nvSpPr>
          <p:cNvPr id="9" name="Shape 7"/>
          <p:cNvSpPr/>
          <p:nvPr/>
        </p:nvSpPr>
        <p:spPr>
          <a:xfrm>
            <a:off x="4709160" y="822960"/>
            <a:ext cx="3977640" cy="3931920"/>
          </a:xfrm>
          <a:prstGeom prst="roundRect">
            <a:avLst/>
          </a:prstGeom>
          <a:solidFill>
            <a:srgbClr val="FFFFFF"/>
          </a:solidFill>
          <a:ln w="12700">
            <a:solidFill>
              <a:srgbClr val="CBD5E1"/>
            </a:solidFill>
            <a:prstDash val="solid"/>
          </a:ln>
        </p:spPr>
      </p:sp>
      <p:sp>
        <p:nvSpPr>
          <p:cNvPr id="10" name="Shape 8"/>
          <p:cNvSpPr/>
          <p:nvPr/>
        </p:nvSpPr>
        <p:spPr>
          <a:xfrm>
            <a:off x="4709160" y="822960"/>
            <a:ext cx="3977640" cy="457200"/>
          </a:xfrm>
          <a:prstGeom prst="rect">
            <a:avLst/>
          </a:prstGeom>
          <a:solidFill>
            <a:srgbClr val="1E3A8A"/>
          </a:solidFill>
          <a:ln/>
        </p:spPr>
      </p:sp>
      <p:sp>
        <p:nvSpPr>
          <p:cNvPr id="11" name="Text 9"/>
          <p:cNvSpPr/>
          <p:nvPr/>
        </p:nvSpPr>
        <p:spPr>
          <a:xfrm>
            <a:off x="4846320" y="914400"/>
            <a:ext cx="3703320" cy="320040"/>
          </a:xfrm>
          <a:prstGeom prst="rect">
            <a:avLst/>
          </a:prstGeom>
          <a:noFill/>
          <a:ln/>
        </p:spPr>
        <p:txBody>
          <a:bodyPr wrap="square" rtlCol="0" anchor="ctr"/>
          <a:lstStyle/>
          <a:p>
            <a:pPr indent="0" marL="0">
              <a:buNone/>
            </a:pPr>
            <a:r>
              <a:rPr lang="en-US" sz="1100" b="1" dirty="0">
                <a:solidFill>
                  <a:srgbClr val="FFFFFF"/>
                </a:solidFill>
              </a:rPr>
              <a:t>💬 Live Chat Thủ Thư 24/7 (🟢 Trực tuyến)</a:t>
            </a:r>
            <a:endParaRPr lang="en-US" sz="1100" dirty="0"/>
          </a:p>
        </p:txBody>
      </p:sp>
      <p:sp>
        <p:nvSpPr>
          <p:cNvPr id="12" name="Text 10"/>
          <p:cNvSpPr/>
          <p:nvPr/>
        </p:nvSpPr>
        <p:spPr>
          <a:xfrm>
            <a:off x="4892040" y="1463040"/>
            <a:ext cx="3611880" cy="3108960"/>
          </a:xfrm>
          <a:prstGeom prst="rect">
            <a:avLst/>
          </a:prstGeom>
          <a:noFill/>
          <a:ln/>
        </p:spPr>
        <p:txBody>
          <a:bodyPr wrap="square" rtlCol="0" anchor="ctr"/>
          <a:lstStyle/>
          <a:p>
            <a:pPr indent="0" marL="0">
              <a:buNone/>
            </a:pPr>
            <a:r>
              <a:rPr lang="en-US" sz="1000" dirty="0">
                <a:solidFill>
                  <a:srgbClr val="1E293B"/>
                </a:solidFill>
              </a:rPr>
              <a:t>User: Cuốn Doraemon Tập 1 hiện còn ở kệ A1 không ạ?</a:t>
            </a:r>
            <a:endParaRPr lang="en-US" sz="1000" dirty="0"/>
          </a:p>
          <a:p>
            <a:pPr indent="0" marL="0">
              <a:buNone/>
            </a:pPr>
            <a:endParaRPr lang="en-US" sz="1000" dirty="0"/>
          </a:p>
          <a:p>
            <a:pPr indent="0" marL="0">
              <a:buNone/>
            </a:pPr>
            <a:r>
              <a:rPr lang="en-US" sz="1000" dirty="0">
                <a:solidFill>
                  <a:srgbClr val="1E293B"/>
                </a:solidFill>
              </a:rPr>
              <a:t>Thủ thư: Chào bạn! Sách Doraemon Tập 1 hiện đang còn 12 cuốn sẵn tại Kệ Manga-A1 nhé.</a:t>
            </a:r>
            <a:endParaRPr lang="en-US" sz="1000" dirty="0"/>
          </a:p>
          <a:p>
            <a:pPr indent="0" marL="0">
              <a:buNone/>
            </a:pPr>
            <a:endParaRPr lang="en-US" sz="1000" dirty="0"/>
          </a:p>
          <a:p>
            <a:pPr indent="0" marL="0">
              <a:buNone/>
            </a:pPr>
            <a:r>
              <a:rPr lang="en-US" sz="1000" dirty="0">
                <a:solidFill>
                  <a:srgbClr val="1E293B"/>
                </a:solidFill>
              </a:rPr>
              <a:t>User: Dạ vâng, em cảm ơn Thủ thư nhiều ạ!</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08</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Trang Quản Trị Trung Tâm (Admin Dashboard)</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library_index.html</a:t>
            </a:r>
            <a:endParaRPr lang="en-US" sz="1000" dirty="0"/>
          </a:p>
        </p:txBody>
      </p:sp>
      <p:sp>
        <p:nvSpPr>
          <p:cNvPr id="6" name="Shape 4"/>
          <p:cNvSpPr/>
          <p:nvPr/>
        </p:nvSpPr>
        <p:spPr>
          <a:xfrm>
            <a:off x="457200" y="822960"/>
            <a:ext cx="1920240" cy="731520"/>
          </a:xfrm>
          <a:prstGeom prst="roundRect">
            <a:avLst/>
          </a:prstGeom>
          <a:solidFill>
            <a:srgbClr val="FFFFFF"/>
          </a:solidFill>
          <a:ln w="12700">
            <a:solidFill>
              <a:srgbClr val="CBD5E1"/>
            </a:solidFill>
            <a:prstDash val="solid"/>
          </a:ln>
        </p:spPr>
      </p:sp>
      <p:sp>
        <p:nvSpPr>
          <p:cNvPr id="7" name="Text 5"/>
          <p:cNvSpPr/>
          <p:nvPr/>
        </p:nvSpPr>
        <p:spPr>
          <a:xfrm>
            <a:off x="548640" y="868680"/>
            <a:ext cx="1737360" cy="228600"/>
          </a:xfrm>
          <a:prstGeom prst="rect">
            <a:avLst/>
          </a:prstGeom>
          <a:noFill/>
          <a:ln/>
        </p:spPr>
        <p:txBody>
          <a:bodyPr wrap="square" rtlCol="0" anchor="ctr"/>
          <a:lstStyle/>
          <a:p>
            <a:pPr indent="0" marL="0">
              <a:buNone/>
            </a:pPr>
            <a:r>
              <a:rPr lang="en-US" sz="850" b="1" dirty="0">
                <a:solidFill>
                  <a:srgbClr val="475569"/>
                </a:solidFill>
              </a:rPr>
              <a:t>TỔNG ĐẦU SÁCH KHO</a:t>
            </a:r>
            <a:endParaRPr lang="en-US" sz="850" dirty="0"/>
          </a:p>
        </p:txBody>
      </p:sp>
      <p:sp>
        <p:nvSpPr>
          <p:cNvPr id="8" name="Text 6"/>
          <p:cNvSpPr/>
          <p:nvPr/>
        </p:nvSpPr>
        <p:spPr>
          <a:xfrm>
            <a:off x="548640" y="1097280"/>
            <a:ext cx="1737360" cy="365760"/>
          </a:xfrm>
          <a:prstGeom prst="rect">
            <a:avLst/>
          </a:prstGeom>
          <a:noFill/>
          <a:ln/>
        </p:spPr>
        <p:txBody>
          <a:bodyPr wrap="square" rtlCol="0" anchor="ctr"/>
          <a:lstStyle/>
          <a:p>
            <a:pPr indent="0" marL="0">
              <a:buNone/>
            </a:pPr>
            <a:r>
              <a:rPr lang="en-US" sz="1300" b="1" dirty="0">
                <a:solidFill>
                  <a:srgbClr val="1E3A8A"/>
                </a:solidFill>
              </a:rPr>
              <a:t>25+ Đầu Sách</a:t>
            </a:r>
            <a:endParaRPr lang="en-US" sz="1300" dirty="0"/>
          </a:p>
        </p:txBody>
      </p:sp>
      <p:sp>
        <p:nvSpPr>
          <p:cNvPr id="9" name="Shape 7"/>
          <p:cNvSpPr/>
          <p:nvPr/>
        </p:nvSpPr>
        <p:spPr>
          <a:xfrm>
            <a:off x="2560320" y="822960"/>
            <a:ext cx="1920240" cy="731520"/>
          </a:xfrm>
          <a:prstGeom prst="roundRect">
            <a:avLst/>
          </a:prstGeom>
          <a:solidFill>
            <a:srgbClr val="FFFFFF"/>
          </a:solidFill>
          <a:ln w="12700">
            <a:solidFill>
              <a:srgbClr val="CBD5E1"/>
            </a:solidFill>
            <a:prstDash val="solid"/>
          </a:ln>
        </p:spPr>
      </p:sp>
      <p:sp>
        <p:nvSpPr>
          <p:cNvPr id="10" name="Text 8"/>
          <p:cNvSpPr/>
          <p:nvPr/>
        </p:nvSpPr>
        <p:spPr>
          <a:xfrm>
            <a:off x="2651760" y="868680"/>
            <a:ext cx="1737360" cy="228600"/>
          </a:xfrm>
          <a:prstGeom prst="rect">
            <a:avLst/>
          </a:prstGeom>
          <a:noFill/>
          <a:ln/>
        </p:spPr>
        <p:txBody>
          <a:bodyPr wrap="square" rtlCol="0" anchor="ctr"/>
          <a:lstStyle/>
          <a:p>
            <a:pPr indent="0" marL="0">
              <a:buNone/>
            </a:pPr>
            <a:r>
              <a:rPr lang="en-US" sz="850" b="1" dirty="0">
                <a:solidFill>
                  <a:srgbClr val="475569"/>
                </a:solidFill>
              </a:rPr>
              <a:t>SÁCH ĐANG CHO THUÊ</a:t>
            </a:r>
            <a:endParaRPr lang="en-US" sz="850" dirty="0"/>
          </a:p>
        </p:txBody>
      </p:sp>
      <p:sp>
        <p:nvSpPr>
          <p:cNvPr id="11" name="Text 9"/>
          <p:cNvSpPr/>
          <p:nvPr/>
        </p:nvSpPr>
        <p:spPr>
          <a:xfrm>
            <a:off x="2651760" y="1097280"/>
            <a:ext cx="1737360" cy="365760"/>
          </a:xfrm>
          <a:prstGeom prst="rect">
            <a:avLst/>
          </a:prstGeom>
          <a:noFill/>
          <a:ln/>
        </p:spPr>
        <p:txBody>
          <a:bodyPr wrap="square" rtlCol="0" anchor="ctr"/>
          <a:lstStyle/>
          <a:p>
            <a:pPr indent="0" marL="0">
              <a:buNone/>
            </a:pPr>
            <a:r>
              <a:rPr lang="en-US" sz="1300" b="1" dirty="0">
                <a:solidFill>
                  <a:srgbClr val="1E3A8A"/>
                </a:solidFill>
              </a:rPr>
              <a:t>42 Cuốn</a:t>
            </a:r>
            <a:endParaRPr lang="en-US" sz="1300" dirty="0"/>
          </a:p>
        </p:txBody>
      </p:sp>
      <p:sp>
        <p:nvSpPr>
          <p:cNvPr id="12" name="Shape 10"/>
          <p:cNvSpPr/>
          <p:nvPr/>
        </p:nvSpPr>
        <p:spPr>
          <a:xfrm>
            <a:off x="4663440" y="822960"/>
            <a:ext cx="1920240" cy="731520"/>
          </a:xfrm>
          <a:prstGeom prst="roundRect">
            <a:avLst/>
          </a:prstGeom>
          <a:solidFill>
            <a:srgbClr val="FFFFFF"/>
          </a:solidFill>
          <a:ln w="12700">
            <a:solidFill>
              <a:srgbClr val="CBD5E1"/>
            </a:solidFill>
            <a:prstDash val="solid"/>
          </a:ln>
        </p:spPr>
      </p:sp>
      <p:sp>
        <p:nvSpPr>
          <p:cNvPr id="13" name="Text 11"/>
          <p:cNvSpPr/>
          <p:nvPr/>
        </p:nvSpPr>
        <p:spPr>
          <a:xfrm>
            <a:off x="4754880" y="868680"/>
            <a:ext cx="1737360" cy="228600"/>
          </a:xfrm>
          <a:prstGeom prst="rect">
            <a:avLst/>
          </a:prstGeom>
          <a:noFill/>
          <a:ln/>
        </p:spPr>
        <p:txBody>
          <a:bodyPr wrap="square" rtlCol="0" anchor="ctr"/>
          <a:lstStyle/>
          <a:p>
            <a:pPr indent="0" marL="0">
              <a:buNone/>
            </a:pPr>
            <a:r>
              <a:rPr lang="en-US" sz="850" b="1" dirty="0">
                <a:solidFill>
                  <a:srgbClr val="475569"/>
                </a:solidFill>
              </a:rPr>
              <a:t>TỔNG ĐỘC GIẢ</a:t>
            </a:r>
            <a:endParaRPr lang="en-US" sz="850" dirty="0"/>
          </a:p>
        </p:txBody>
      </p:sp>
      <p:sp>
        <p:nvSpPr>
          <p:cNvPr id="14" name="Text 12"/>
          <p:cNvSpPr/>
          <p:nvPr/>
        </p:nvSpPr>
        <p:spPr>
          <a:xfrm>
            <a:off x="4754880" y="1097280"/>
            <a:ext cx="1737360" cy="365760"/>
          </a:xfrm>
          <a:prstGeom prst="rect">
            <a:avLst/>
          </a:prstGeom>
          <a:noFill/>
          <a:ln/>
        </p:spPr>
        <p:txBody>
          <a:bodyPr wrap="square" rtlCol="0" anchor="ctr"/>
          <a:lstStyle/>
          <a:p>
            <a:pPr indent="0" marL="0">
              <a:buNone/>
            </a:pPr>
            <a:r>
              <a:rPr lang="en-US" sz="1300" b="1" dirty="0">
                <a:solidFill>
                  <a:srgbClr val="1E3A8A"/>
                </a:solidFill>
              </a:rPr>
              <a:t>150+ Thành Viên</a:t>
            </a:r>
            <a:endParaRPr lang="en-US" sz="1300" dirty="0"/>
          </a:p>
        </p:txBody>
      </p:sp>
      <p:sp>
        <p:nvSpPr>
          <p:cNvPr id="15" name="Shape 13"/>
          <p:cNvSpPr/>
          <p:nvPr/>
        </p:nvSpPr>
        <p:spPr>
          <a:xfrm>
            <a:off x="6766560" y="822960"/>
            <a:ext cx="1920240" cy="731520"/>
          </a:xfrm>
          <a:prstGeom prst="roundRect">
            <a:avLst/>
          </a:prstGeom>
          <a:solidFill>
            <a:srgbClr val="FFFFFF"/>
          </a:solidFill>
          <a:ln w="12700">
            <a:solidFill>
              <a:srgbClr val="CBD5E1"/>
            </a:solidFill>
            <a:prstDash val="solid"/>
          </a:ln>
        </p:spPr>
      </p:sp>
      <p:sp>
        <p:nvSpPr>
          <p:cNvPr id="16" name="Text 14"/>
          <p:cNvSpPr/>
          <p:nvPr/>
        </p:nvSpPr>
        <p:spPr>
          <a:xfrm>
            <a:off x="6858000" y="868680"/>
            <a:ext cx="1737360" cy="228600"/>
          </a:xfrm>
          <a:prstGeom prst="rect">
            <a:avLst/>
          </a:prstGeom>
          <a:noFill/>
          <a:ln/>
        </p:spPr>
        <p:txBody>
          <a:bodyPr wrap="square" rtlCol="0" anchor="ctr"/>
          <a:lstStyle/>
          <a:p>
            <a:pPr indent="0" marL="0">
              <a:buNone/>
            </a:pPr>
            <a:r>
              <a:rPr lang="en-US" sz="850" b="1" dirty="0">
                <a:solidFill>
                  <a:srgbClr val="475569"/>
                </a:solidFill>
              </a:rPr>
              <a:t>TỔNG TIỀN PHẠT THU</a:t>
            </a:r>
            <a:endParaRPr lang="en-US" sz="850" dirty="0"/>
          </a:p>
        </p:txBody>
      </p:sp>
      <p:sp>
        <p:nvSpPr>
          <p:cNvPr id="17" name="Text 15"/>
          <p:cNvSpPr/>
          <p:nvPr/>
        </p:nvSpPr>
        <p:spPr>
          <a:xfrm>
            <a:off x="6858000" y="1097280"/>
            <a:ext cx="1737360" cy="365760"/>
          </a:xfrm>
          <a:prstGeom prst="rect">
            <a:avLst/>
          </a:prstGeom>
          <a:noFill/>
          <a:ln/>
        </p:spPr>
        <p:txBody>
          <a:bodyPr wrap="square" rtlCol="0" anchor="ctr"/>
          <a:lstStyle/>
          <a:p>
            <a:pPr indent="0" marL="0">
              <a:buNone/>
            </a:pPr>
            <a:r>
              <a:rPr lang="en-US" sz="1300" b="1" dirty="0">
                <a:solidFill>
                  <a:srgbClr val="1E3A8A"/>
                </a:solidFill>
              </a:rPr>
              <a:t>1.250.000 ₫</a:t>
            </a:r>
            <a:endParaRPr lang="en-US" sz="1300" dirty="0"/>
          </a:p>
        </p:txBody>
      </p:sp>
      <p:sp>
        <p:nvSpPr>
          <p:cNvPr id="18" name="Text 16"/>
          <p:cNvSpPr/>
          <p:nvPr/>
        </p:nvSpPr>
        <p:spPr>
          <a:xfrm>
            <a:off x="457200" y="1691640"/>
            <a:ext cx="8229600" cy="320040"/>
          </a:xfrm>
          <a:prstGeom prst="rect">
            <a:avLst/>
          </a:prstGeom>
          <a:noFill/>
          <a:ln/>
        </p:spPr>
        <p:txBody>
          <a:bodyPr wrap="square" rtlCol="0" anchor="ctr"/>
          <a:lstStyle/>
          <a:p>
            <a:pPr indent="0" marL="0">
              <a:buNone/>
            </a:pPr>
            <a:r>
              <a:rPr lang="en-US" sz="1200" b="1" dirty="0">
                <a:solidFill>
                  <a:srgbClr val="0F172A"/>
                </a:solidFill>
              </a:rPr>
              <a:t>📌 Hàng Chờ Duyệt Đơn Đặt Giữ Chỗ Online (Web Reservations)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188720"/>
                <a:gridCol w="2468880"/>
                <a:gridCol w="2194560"/>
                <a:gridCol w="1280160"/>
                <a:gridCol w="1097280"/>
              </a:tblGrid>
              <a:tr h="0">
                <a:tc>
                  <a:txBody>
                    <a:bodyPr/>
                    <a:lstStyle/>
                    <a:p>
                      <a:pPr indent="0" marL="0">
                        <a:buNone/>
                      </a:pPr>
                      <a:r>
                        <a:rPr lang="en-US" sz="1000" b="1" dirty="0">
                          <a:solidFill>
                            <a:srgbClr val="000000"/>
                          </a:solidFill>
                        </a:rPr>
                        <a:t>Mã Giữ Chỗ</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00" b="1" dirty="0">
                          <a:solidFill>
                            <a:srgbClr val="000000"/>
                          </a:solidFill>
                        </a:rPr>
                        <a:t>Tên Cuốn Sách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00" b="1" dirty="0">
                          <a:solidFill>
                            <a:srgbClr val="000000"/>
                          </a:solidFill>
                        </a:rPr>
                        <a:t>Độc Giả Đặt</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00" b="1" dirty="0">
                          <a:solidFill>
                            <a:srgbClr val="000000"/>
                          </a:solidFill>
                        </a:rPr>
                        <a:t>Trạng Thái</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00" b="1" dirty="0">
                          <a:solidFill>
                            <a:srgbClr val="000000"/>
                          </a:solidFill>
                        </a:rPr>
                        <a:t>Thao Tác Quầy</a:t>
                      </a:r>
                      <a:endParaRPr lang="en-US" sz="100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r>
              <a:tr h="0">
                <a:tc>
                  <a:txBody>
                    <a:bodyPr/>
                    <a:lstStyle/>
                    <a:p>
                      <a:pPr indent="0" marL="0">
                        <a:buNone/>
                      </a:pPr>
                      <a:r>
                        <a:rPr lang="en-US" sz="1000" dirty="0">
                          <a:solidFill>
                            <a:srgbClr val="000000"/>
                          </a:solidFill>
                        </a:rPr>
                        <a:t>HOLD-4820</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Clean Code Architecture</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Nguyễn Đăng Khải (0905123456)</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Đang giữ chỗ (48h)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Quét Xuất Sách</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00" dirty="0">
                          <a:solidFill>
                            <a:srgbClr val="000000"/>
                          </a:solidFill>
                        </a:rPr>
                        <a:t>HOLD-8812</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Doraemon Tập 1</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Nguyễn Nhật Linh Ân (0905234567)</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Đã duyệt mượn</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00" dirty="0">
                          <a:solidFill>
                            <a:srgbClr val="000000"/>
                          </a:solidFill>
                        </a:rPr>
                        <a:t>Hoàn tất</a:t>
                      </a:r>
                      <a:endParaRPr lang="en-US" sz="10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09</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Bảng Phân Quyền Vận Hành 3 Cấp (RBAC)</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3-Tier RBAC System</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3017520"/>
                <a:gridCol w="1737360"/>
                <a:gridCol w="1737360"/>
                <a:gridCol w="1737360"/>
              </a:tblGrid>
              <a:tr h="0">
                <a:tc>
                  <a:txBody>
                    <a:bodyPr/>
                    <a:lstStyle/>
                    <a:p>
                      <a:pPr indent="0" marL="0">
                        <a:buNone/>
                      </a:pPr>
                      <a:r>
                        <a:rPr lang="en-US" sz="1050" b="1" dirty="0">
                          <a:solidFill>
                            <a:srgbClr val="000000"/>
                          </a:solidFill>
                        </a:rPr>
                        <a:t>Tính Năng / Thao Tác Quản Trị</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50" b="1" dirty="0">
                          <a:solidFill>
                            <a:srgbClr val="000000"/>
                          </a:solidFill>
                        </a:rPr>
                        <a:t>👑 Super Admin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50" b="1" dirty="0">
                          <a:solidFill>
                            <a:srgbClr val="000000"/>
                          </a:solidFill>
                        </a:rPr>
                        <a:t>📚 Thủ Thư (Librarian)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c>
                  <a:txBody>
                    <a:bodyPr/>
                    <a:lstStyle/>
                    <a:p>
                      <a:pPr indent="0" marL="0">
                        <a:buNone/>
                      </a:pPr>
                      <a:r>
                        <a:rPr lang="en-US" sz="1050" b="1" dirty="0">
                          <a:solidFill>
                            <a:srgbClr val="000000"/>
                          </a:solidFill>
                        </a:rPr>
                        <a:t>🏷️ Biên Mục (Cataloger)</a:t>
                      </a:r>
                      <a:endParaRPr lang="en-US" sz="1050" dirty="0"/>
                    </a:p>
                  </a:txBody>
                  <a:tcPr marL="91440" marR="91440" marT="45720" marB="45720">
                    <a:lnL w="0" cap="flat" cmpd="sng" algn="ctr">
                      <a:noFill/>
                    </a:lnL>
                    <a:lnR w="0" cap="flat" cmpd="sng" algn="ctr">
                      <a:noFill/>
                    </a:lnR>
                    <a:lnT w="0" cap="flat" cmpd="sng" algn="ctr">
                      <a:noFill/>
                    </a:lnT>
                    <a:lnB w="0" cap="flat" cmpd="sng" algn="ctr">
                      <a:noFill/>
                    </a:lnB>
                    <a:solidFill>
                      <a:srgbClr val="E2E8F0"/>
                    </a:solidFill>
                  </a:tcPr>
                </a:tc>
              </a:tr>
              <a:tr h="0">
                <a:tc>
                  <a:txBody>
                    <a:bodyPr/>
                    <a:lstStyle/>
                    <a:p>
                      <a:pPr indent="0" marL="0">
                        <a:buNone/>
                      </a:pPr>
                      <a:r>
                        <a:rPr lang="en-US" sz="1050" dirty="0">
                          <a:solidFill>
                            <a:srgbClr val="000000"/>
                          </a:solidFill>
                        </a:rPr>
                        <a:t>1. Xem Thống kê Dashboard &amp; Doanh thu</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Hạn chế</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dirty="0">
                          <a:solidFill>
                            <a:srgbClr val="000000"/>
                          </a:solidFill>
                        </a:rPr>
                        <a:t>2. Thêm / Sửa Sách &amp; Kéo ISBN Google</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 (Chính)</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dirty="0">
                          <a:solidFill>
                            <a:srgbClr val="000000"/>
                          </a:solidFill>
                        </a:rPr>
                        <a:t>3. Xóa Đầu Sách Khỏi Hệ Thống</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Cho phép</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Bị khóa</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Bị khóa</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dirty="0">
                          <a:solidFill>
                            <a:srgbClr val="000000"/>
                          </a:solidFill>
                        </a:rPr>
                        <a:t>4. Quét Barcode Trả Sách &amp; Phí Phạt</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 (Chính)</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Hạn chế</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050" dirty="0">
                          <a:solidFill>
                            <a:srgbClr val="000000"/>
                          </a:solidFill>
                        </a:rPr>
                        <a:t>5. Chat Hỗ Trợ Độc Giả &amp; Duyệt Quyên Góp</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Toàn quyền (Chính)</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050" dirty="0">
                          <a:solidFill>
                            <a:srgbClr val="000000"/>
                          </a:solidFill>
                        </a:rPr>
                        <a:t>❌ Hạn chế</a:t>
                      </a:r>
                      <a:endParaRPr lang="en-US" sz="105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10</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Tự Động Kéo Dữ Liệu Google Books API</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Google Books Integration</a:t>
            </a:r>
            <a:endParaRPr lang="en-US" sz="1000" dirty="0"/>
          </a:p>
        </p:txBody>
      </p:sp>
      <p:sp>
        <p:nvSpPr>
          <p:cNvPr id="6" name="Shape 4"/>
          <p:cNvSpPr/>
          <p:nvPr/>
        </p:nvSpPr>
        <p:spPr>
          <a:xfrm>
            <a:off x="457200" y="822960"/>
            <a:ext cx="2560320" cy="3931920"/>
          </a:xfrm>
          <a:prstGeom prst="roundRect">
            <a:avLst/>
          </a:prstGeom>
          <a:solidFill>
            <a:srgbClr val="FFFFFF"/>
          </a:solidFill>
          <a:ln w="12700">
            <a:solidFill>
              <a:srgbClr val="E2E8F0"/>
            </a:solidFill>
            <a:prstDash val="solid"/>
          </a:ln>
        </p:spPr>
      </p:sp>
      <p:sp>
        <p:nvSpPr>
          <p:cNvPr id="7" name="Text 5"/>
          <p:cNvSpPr/>
          <p:nvPr/>
        </p:nvSpPr>
        <p:spPr>
          <a:xfrm>
            <a:off x="594360" y="1005840"/>
            <a:ext cx="2286000" cy="457200"/>
          </a:xfrm>
          <a:prstGeom prst="rect">
            <a:avLst/>
          </a:prstGeom>
          <a:noFill/>
          <a:ln/>
        </p:spPr>
        <p:txBody>
          <a:bodyPr wrap="square" rtlCol="0" anchor="ctr"/>
          <a:lstStyle/>
          <a:p>
            <a:pPr indent="0" marL="0">
              <a:buNone/>
            </a:pPr>
            <a:r>
              <a:rPr lang="en-US" sz="1300" b="1" dirty="0">
                <a:solidFill>
                  <a:srgbClr val="1E3A8A"/>
                </a:solidFill>
              </a:rPr>
              <a:t>1. Nhập Mã ISBN Sách</a:t>
            </a:r>
            <a:endParaRPr lang="en-US" sz="1300" dirty="0"/>
          </a:p>
        </p:txBody>
      </p:sp>
      <p:sp>
        <p:nvSpPr>
          <p:cNvPr id="8" name="Text 6"/>
          <p:cNvSpPr/>
          <p:nvPr/>
        </p:nvSpPr>
        <p:spPr>
          <a:xfrm>
            <a:off x="594360" y="1554480"/>
            <a:ext cx="2286000" cy="3017520"/>
          </a:xfrm>
          <a:prstGeom prst="rect">
            <a:avLst/>
          </a:prstGeom>
          <a:noFill/>
          <a:ln/>
        </p:spPr>
        <p:txBody>
          <a:bodyPr wrap="square" rtlCol="0" anchor="ctr"/>
          <a:lstStyle/>
          <a:p>
            <a:pPr indent="0" marL="0">
              <a:buNone/>
            </a:pPr>
            <a:r>
              <a:rPr lang="en-US" sz="1100" dirty="0">
                <a:solidFill>
                  <a:srgbClr val="475569"/>
                </a:solidFill>
              </a:rPr>
              <a:t>Thủ thư nhập hoặc quét mã ISBN chuẩn (VD: 9780132350884) tại công cụ nhập sách.</a:t>
            </a:r>
            <a:endParaRPr lang="en-US" sz="1100" dirty="0"/>
          </a:p>
        </p:txBody>
      </p:sp>
      <p:sp>
        <p:nvSpPr>
          <p:cNvPr id="9" name="Shape 7"/>
          <p:cNvSpPr/>
          <p:nvPr/>
        </p:nvSpPr>
        <p:spPr>
          <a:xfrm>
            <a:off x="3291840" y="822960"/>
            <a:ext cx="2560320" cy="3931920"/>
          </a:xfrm>
          <a:prstGeom prst="roundRect">
            <a:avLst/>
          </a:prstGeom>
          <a:solidFill>
            <a:srgbClr val="FFFFFF"/>
          </a:solidFill>
          <a:ln w="12700">
            <a:solidFill>
              <a:srgbClr val="E2E8F0"/>
            </a:solidFill>
            <a:prstDash val="solid"/>
          </a:ln>
        </p:spPr>
      </p:sp>
      <p:sp>
        <p:nvSpPr>
          <p:cNvPr id="10" name="Text 8"/>
          <p:cNvSpPr/>
          <p:nvPr/>
        </p:nvSpPr>
        <p:spPr>
          <a:xfrm>
            <a:off x="3429000" y="1005840"/>
            <a:ext cx="2286000" cy="457200"/>
          </a:xfrm>
          <a:prstGeom prst="rect">
            <a:avLst/>
          </a:prstGeom>
          <a:noFill/>
          <a:ln/>
        </p:spPr>
        <p:txBody>
          <a:bodyPr wrap="square" rtlCol="0" anchor="ctr"/>
          <a:lstStyle/>
          <a:p>
            <a:pPr indent="0" marL="0">
              <a:buNone/>
            </a:pPr>
            <a:r>
              <a:rPr lang="en-US" sz="1300" b="1" dirty="0">
                <a:solidFill>
                  <a:srgbClr val="1E3A8A"/>
                </a:solidFill>
              </a:rPr>
              <a:t>2. Kết Nối Google API</a:t>
            </a:r>
            <a:endParaRPr lang="en-US" sz="1300" dirty="0"/>
          </a:p>
        </p:txBody>
      </p:sp>
      <p:sp>
        <p:nvSpPr>
          <p:cNvPr id="11" name="Text 9"/>
          <p:cNvSpPr/>
          <p:nvPr/>
        </p:nvSpPr>
        <p:spPr>
          <a:xfrm>
            <a:off x="3429000" y="1554480"/>
            <a:ext cx="2286000" cy="3017520"/>
          </a:xfrm>
          <a:prstGeom prst="rect">
            <a:avLst/>
          </a:prstGeom>
          <a:noFill/>
          <a:ln/>
        </p:spPr>
        <p:txBody>
          <a:bodyPr wrap="square" rtlCol="0" anchor="ctr"/>
          <a:lstStyle/>
          <a:p>
            <a:pPr indent="0" marL="0">
              <a:buNone/>
            </a:pPr>
            <a:r>
              <a:rPr lang="en-US" sz="1100" dirty="0">
                <a:solidFill>
                  <a:srgbClr val="475569"/>
                </a:solidFill>
              </a:rPr>
              <a:t>Hệ thống gửi yêu cầu kéo dữ liệu tự động từ kho tri thức Google Books API chỉ trong 1s.</a:t>
            </a:r>
            <a:endParaRPr lang="en-US" sz="1100" dirty="0"/>
          </a:p>
        </p:txBody>
      </p:sp>
      <p:sp>
        <p:nvSpPr>
          <p:cNvPr id="12" name="Shape 10"/>
          <p:cNvSpPr/>
          <p:nvPr/>
        </p:nvSpPr>
        <p:spPr>
          <a:xfrm>
            <a:off x="6126480" y="822960"/>
            <a:ext cx="2560320" cy="3931920"/>
          </a:xfrm>
          <a:prstGeom prst="roundRect">
            <a:avLst/>
          </a:prstGeom>
          <a:solidFill>
            <a:srgbClr val="FFFFFF"/>
          </a:solidFill>
          <a:ln w="12700">
            <a:solidFill>
              <a:srgbClr val="E2E8F0"/>
            </a:solidFill>
            <a:prstDash val="solid"/>
          </a:ln>
        </p:spPr>
      </p:sp>
      <p:sp>
        <p:nvSpPr>
          <p:cNvPr id="13" name="Text 11"/>
          <p:cNvSpPr/>
          <p:nvPr/>
        </p:nvSpPr>
        <p:spPr>
          <a:xfrm>
            <a:off x="6263640" y="1005840"/>
            <a:ext cx="2286000" cy="457200"/>
          </a:xfrm>
          <a:prstGeom prst="rect">
            <a:avLst/>
          </a:prstGeom>
          <a:noFill/>
          <a:ln/>
        </p:spPr>
        <p:txBody>
          <a:bodyPr wrap="square" rtlCol="0" anchor="ctr"/>
          <a:lstStyle/>
          <a:p>
            <a:pPr indent="0" marL="0">
              <a:buNone/>
            </a:pPr>
            <a:r>
              <a:rPr lang="en-US" sz="1300" b="1" dirty="0">
                <a:solidFill>
                  <a:srgbClr val="1E3A8A"/>
                </a:solidFill>
              </a:rPr>
              <a:t>3. Điền Form Tự Động</a:t>
            </a:r>
            <a:endParaRPr lang="en-US" sz="1300" dirty="0"/>
          </a:p>
        </p:txBody>
      </p:sp>
      <p:sp>
        <p:nvSpPr>
          <p:cNvPr id="14" name="Text 12"/>
          <p:cNvSpPr/>
          <p:nvPr/>
        </p:nvSpPr>
        <p:spPr>
          <a:xfrm>
            <a:off x="6263640" y="1554480"/>
            <a:ext cx="2286000" cy="3017520"/>
          </a:xfrm>
          <a:prstGeom prst="rect">
            <a:avLst/>
          </a:prstGeom>
          <a:noFill/>
          <a:ln/>
        </p:spPr>
        <p:txBody>
          <a:bodyPr wrap="square" rtlCol="0" anchor="ctr"/>
          <a:lstStyle/>
          <a:p>
            <a:pPr indent="0" marL="0">
              <a:buNone/>
            </a:pPr>
            <a:r>
              <a:rPr lang="en-US" sz="1100" dirty="0">
                <a:solidFill>
                  <a:srgbClr val="475569"/>
                </a:solidFill>
              </a:rPr>
              <a:t>Tự động điền Tên sách, Tác giả, NXB, Mô tả tóm tắt và Ảnh bìa chất lượng cao.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11</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Trung Tâm Chat Quản Trị &amp; Barcode Quầy</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Admin Operations</a:t>
            </a:r>
            <a:endParaRPr lang="en-US" sz="1000" dirty="0"/>
          </a:p>
        </p:txBody>
      </p:sp>
      <p:sp>
        <p:nvSpPr>
          <p:cNvPr id="6" name="Shape 4"/>
          <p:cNvSpPr/>
          <p:nvPr/>
        </p:nvSpPr>
        <p:spPr>
          <a:xfrm>
            <a:off x="457200" y="822960"/>
            <a:ext cx="3977640" cy="3931920"/>
          </a:xfrm>
          <a:prstGeom prst="roundRect">
            <a:avLst/>
          </a:prstGeom>
          <a:solidFill>
            <a:srgbClr val="FFFFFF"/>
          </a:solidFill>
          <a:ln w="12700">
            <a:solidFill>
              <a:srgbClr val="E2E8F0"/>
            </a:solidFill>
            <a:prstDash val="solid"/>
          </a:ln>
        </p:spPr>
      </p:sp>
      <p:sp>
        <p:nvSpPr>
          <p:cNvPr id="7" name="Text 5"/>
          <p:cNvSpPr/>
          <p:nvPr/>
        </p:nvSpPr>
        <p:spPr>
          <a:xfrm>
            <a:off x="640080" y="1005840"/>
            <a:ext cx="3611880" cy="365760"/>
          </a:xfrm>
          <a:prstGeom prst="rect">
            <a:avLst/>
          </a:prstGeom>
          <a:noFill/>
          <a:ln/>
        </p:spPr>
        <p:txBody>
          <a:bodyPr wrap="square" rtlCol="0" anchor="ctr"/>
          <a:lstStyle/>
          <a:p>
            <a:pPr indent="0" marL="0">
              <a:buNone/>
            </a:pPr>
            <a:r>
              <a:rPr lang="en-US" sz="1300" b="1" dirty="0">
                <a:solidFill>
                  <a:srgbClr val="1E3A8A"/>
                </a:solidFill>
              </a:rPr>
              <a:t>💬 Live Chat 2 Cột Quản Trị</a:t>
            </a:r>
            <a:endParaRPr lang="en-US" sz="1300" dirty="0"/>
          </a:p>
        </p:txBody>
      </p:sp>
      <p:sp>
        <p:nvSpPr>
          <p:cNvPr id="8" name="Text 6"/>
          <p:cNvSpPr/>
          <p:nvPr/>
        </p:nvSpPr>
        <p:spPr>
          <a:xfrm>
            <a:off x="640080" y="1463040"/>
            <a:ext cx="3611880" cy="3108960"/>
          </a:xfrm>
          <a:prstGeom prst="rect">
            <a:avLst/>
          </a:prstGeom>
          <a:noFill/>
          <a:ln/>
        </p:spPr>
        <p:txBody>
          <a:bodyPr wrap="square" rtlCol="0" anchor="ctr"/>
          <a:lstStyle/>
          <a:p>
            <a:pPr indent="0" marL="0">
              <a:buNone/>
            </a:pPr>
            <a:r>
              <a:rPr lang="en-US" sz="1100" dirty="0">
                <a:solidFill>
                  <a:srgbClr val="475569"/>
                </a:solidFill>
              </a:rPr>
              <a:t>• Cột trái: Danh sách cuộc trò chuyện từ độc giả kèm số tin nhắn mới chưa đọc.</a:t>
            </a:r>
            <a:endParaRPr lang="en-US" sz="1100" dirty="0"/>
          </a:p>
          <a:p>
            <a:pPr indent="0" marL="0">
              <a:buNone/>
            </a:pPr>
            <a:endParaRPr lang="en-US" sz="1100" dirty="0"/>
          </a:p>
          <a:p>
            <a:pPr indent="0" marL="0">
              <a:buNone/>
            </a:pPr>
            <a:r>
              <a:rPr lang="en-US" sz="1100" dirty="0">
                <a:solidFill>
                  <a:srgbClr val="475569"/>
                </a:solidFill>
              </a:rPr>
              <a:t>• Cột phải: Cửa sổ chat trực tiếp với độc giả đang chọn, hỗ trợ phản hồi tức thì.</a:t>
            </a:r>
            <a:endParaRPr lang="en-US" sz="1100" dirty="0"/>
          </a:p>
        </p:txBody>
      </p:sp>
      <p:sp>
        <p:nvSpPr>
          <p:cNvPr id="9" name="Shape 7"/>
          <p:cNvSpPr/>
          <p:nvPr/>
        </p:nvSpPr>
        <p:spPr>
          <a:xfrm>
            <a:off x="4709160" y="822960"/>
            <a:ext cx="3977640" cy="3931920"/>
          </a:xfrm>
          <a:prstGeom prst="roundRect">
            <a:avLst/>
          </a:prstGeom>
          <a:solidFill>
            <a:srgbClr val="FFFFFF"/>
          </a:solidFill>
          <a:ln w="12700">
            <a:solidFill>
              <a:srgbClr val="E2E8F0"/>
            </a:solidFill>
            <a:prstDash val="solid"/>
          </a:ln>
        </p:spPr>
      </p:sp>
      <p:sp>
        <p:nvSpPr>
          <p:cNvPr id="10" name="Text 8"/>
          <p:cNvSpPr/>
          <p:nvPr/>
        </p:nvSpPr>
        <p:spPr>
          <a:xfrm>
            <a:off x="4892040" y="1005840"/>
            <a:ext cx="3611880" cy="365760"/>
          </a:xfrm>
          <a:prstGeom prst="rect">
            <a:avLst/>
          </a:prstGeom>
          <a:noFill/>
          <a:ln/>
        </p:spPr>
        <p:txBody>
          <a:bodyPr wrap="square" rtlCol="0" anchor="ctr"/>
          <a:lstStyle/>
          <a:p>
            <a:pPr indent="0" marL="0">
              <a:buNone/>
            </a:pPr>
            <a:r>
              <a:rPr lang="en-US" sz="1300" b="1" dirty="0">
                <a:solidFill>
                  <a:srgbClr val="059669"/>
                </a:solidFill>
              </a:rPr>
              <a:t>🏷️ Quét Barcode &amp; Export CSV</a:t>
            </a:r>
            <a:endParaRPr lang="en-US" sz="1300" dirty="0"/>
          </a:p>
        </p:txBody>
      </p:sp>
      <p:sp>
        <p:nvSpPr>
          <p:cNvPr id="11" name="Text 9"/>
          <p:cNvSpPr/>
          <p:nvPr/>
        </p:nvSpPr>
        <p:spPr>
          <a:xfrm>
            <a:off x="4892040" y="1463040"/>
            <a:ext cx="3611880" cy="3108960"/>
          </a:xfrm>
          <a:prstGeom prst="rect">
            <a:avLst/>
          </a:prstGeom>
          <a:noFill/>
          <a:ln/>
        </p:spPr>
        <p:txBody>
          <a:bodyPr wrap="square" rtlCol="0" anchor="ctr"/>
          <a:lstStyle/>
          <a:p>
            <a:pPr indent="0" marL="0">
              <a:buNone/>
            </a:pPr>
            <a:r>
              <a:rPr lang="en-US" sz="1100" dirty="0">
                <a:solidFill>
                  <a:srgbClr val="475569"/>
                </a:solidFill>
              </a:rPr>
              <a:t>• Quét mã vạch sách cứng (VD: BC-DORA-001) để nhận lại sách tại quầy thủ thư.</a:t>
            </a:r>
            <a:endParaRPr lang="en-US" sz="1100" dirty="0"/>
          </a:p>
          <a:p>
            <a:pPr indent="0" marL="0">
              <a:buNone/>
            </a:pPr>
            <a:endParaRPr lang="en-US" sz="1100" dirty="0"/>
          </a:p>
          <a:p>
            <a:pPr indent="0" marL="0">
              <a:buNone/>
            </a:pPr>
            <a:r>
              <a:rPr lang="en-US" sz="1100" dirty="0">
                <a:solidFill>
                  <a:srgbClr val="475569"/>
                </a:solidFill>
              </a:rPr>
              <a:t>• Tự động tính phí phạt quá hạn &amp; cấn trừ từ Ví nội bộ độc giả.</a:t>
            </a:r>
            <a:endParaRPr lang="en-US" sz="1100" dirty="0"/>
          </a:p>
          <a:p>
            <a:pPr indent="0" marL="0">
              <a:buNone/>
            </a:pPr>
            <a:endParaRPr lang="en-US" sz="1100" dirty="0"/>
          </a:p>
          <a:p>
            <a:pPr indent="0" marL="0">
              <a:buNone/>
            </a:pPr>
            <a:r>
              <a:rPr lang="en-US" sz="1100" dirty="0">
                <a:solidFill>
                  <a:srgbClr val="475569"/>
                </a:solidFill>
              </a:rPr>
              <a:t>• Xuất Báo Cáo Kho Sách dạng CSV chỉ với 1 click.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6FF"/>
        </a:solidFill>
      </p:bgPr>
    </p:bg>
    <p:spTree>
      <p:nvGrpSpPr>
        <p:cNvPr id="1" name=""/>
        <p:cNvGrpSpPr/>
        <p:nvPr/>
      </p:nvGrpSpPr>
      <p:grpSpPr>
        <a:xfrm>
          <a:off x="0" y="0"/>
          <a:ext cx="0" cy="0"/>
          <a:chOff x="0" y="0"/>
          <a:chExt cx="0" cy="0"/>
        </a:xfrm>
      </p:grpSpPr>
      <p:sp>
        <p:nvSpPr>
          <p:cNvPr id="2" name="Shape 0"/>
          <p:cNvSpPr/>
          <p:nvPr/>
        </p:nvSpPr>
        <p:spPr>
          <a:xfrm>
            <a:off x="457200" y="320040"/>
            <a:ext cx="365760" cy="365760"/>
          </a:xfrm>
          <a:prstGeom prst="rect">
            <a:avLst/>
          </a:prstGeom>
          <a:solidFill>
            <a:srgbClr val="2563EB"/>
          </a:solidFill>
          <a:ln w="12700">
            <a:solidFill>
              <a:srgbClr val="2563EB"/>
            </a:solidFill>
            <a:prstDash val="solid"/>
          </a:ln>
        </p:spPr>
      </p:sp>
      <p:sp>
        <p:nvSpPr>
          <p:cNvPr id="3" name="Text 1"/>
          <p:cNvSpPr/>
          <p:nvPr/>
        </p:nvSpPr>
        <p:spPr>
          <a:xfrm>
            <a:off x="457200" y="320040"/>
            <a:ext cx="365760" cy="365760"/>
          </a:xfrm>
          <a:prstGeom prst="rect">
            <a:avLst/>
          </a:prstGeom>
          <a:noFill/>
          <a:ln/>
        </p:spPr>
        <p:txBody>
          <a:bodyPr wrap="square" rtlCol="0" anchor="ctr"/>
          <a:lstStyle/>
          <a:p>
            <a:pPr algn="ctr" indent="0" marL="0">
              <a:buNone/>
            </a:pPr>
            <a:r>
              <a:rPr lang="en-US" sz="1300" b="1" dirty="0">
                <a:solidFill>
                  <a:srgbClr val="FFFFFF"/>
                </a:solidFill>
              </a:rPr>
              <a:t>12</a:t>
            </a:r>
            <a:endParaRPr lang="en-US" sz="1300" dirty="0"/>
          </a:p>
        </p:txBody>
      </p:sp>
      <p:sp>
        <p:nvSpPr>
          <p:cNvPr id="4" name="Text 2"/>
          <p:cNvSpPr/>
          <p:nvPr/>
        </p:nvSpPr>
        <p:spPr>
          <a:xfrm>
            <a:off x="914400" y="320040"/>
            <a:ext cx="5669280" cy="365760"/>
          </a:xfrm>
          <a:prstGeom prst="rect">
            <a:avLst/>
          </a:prstGeom>
          <a:noFill/>
          <a:ln/>
        </p:spPr>
        <p:txBody>
          <a:bodyPr wrap="square" rtlCol="0" anchor="ctr"/>
          <a:lstStyle/>
          <a:p>
            <a:pPr indent="0" marL="0">
              <a:buNone/>
            </a:pPr>
            <a:r>
              <a:rPr lang="en-US" sz="1600" b="1" dirty="0">
                <a:solidFill>
                  <a:srgbClr val="0F172A"/>
                </a:solidFill>
              </a:rPr>
              <a:t>Đánh Giá Kết Quả &amp; Lời Cảm Ơn</a:t>
            </a:r>
            <a:endParaRPr lang="en-US" sz="1600" dirty="0"/>
          </a:p>
        </p:txBody>
      </p:sp>
      <p:sp>
        <p:nvSpPr>
          <p:cNvPr id="5" name="Text 3"/>
          <p:cNvSpPr/>
          <p:nvPr/>
        </p:nvSpPr>
        <p:spPr>
          <a:xfrm>
            <a:off x="6675120" y="320040"/>
            <a:ext cx="2011680" cy="320040"/>
          </a:xfrm>
          <a:prstGeom prst="rect">
            <a:avLst/>
          </a:prstGeom>
          <a:noFill/>
          <a:ln/>
        </p:spPr>
        <p:txBody>
          <a:bodyPr wrap="square" rtlCol="0" anchor="ctr"/>
          <a:lstStyle/>
          <a:p>
            <a:pPr algn="r" indent="0" marL="0">
              <a:buNone/>
            </a:pPr>
            <a:r>
              <a:rPr lang="en-US" sz="1000" b="1" dirty="0">
                <a:solidFill>
                  <a:srgbClr val="1E3A8A"/>
                </a:solidFill>
              </a:rPr>
              <a:t>System Verification</a:t>
            </a:r>
            <a:endParaRPr lang="en-US" sz="1000" dirty="0"/>
          </a:p>
        </p:txBody>
      </p:sp>
      <p:sp>
        <p:nvSpPr>
          <p:cNvPr id="6" name="Shape 4"/>
          <p:cNvSpPr/>
          <p:nvPr/>
        </p:nvSpPr>
        <p:spPr>
          <a:xfrm>
            <a:off x="457200" y="822960"/>
            <a:ext cx="2560320" cy="1280160"/>
          </a:xfrm>
          <a:prstGeom prst="roundRect">
            <a:avLst/>
          </a:prstGeom>
          <a:solidFill>
            <a:srgbClr val="FFFFFF"/>
          </a:solidFill>
          <a:ln w="12700">
            <a:solidFill>
              <a:srgbClr val="CBD5E1"/>
            </a:solidFill>
            <a:prstDash val="solid"/>
          </a:ln>
        </p:spPr>
      </p:sp>
      <p:sp>
        <p:nvSpPr>
          <p:cNvPr id="7" name="Text 5"/>
          <p:cNvSpPr/>
          <p:nvPr/>
        </p:nvSpPr>
        <p:spPr>
          <a:xfrm>
            <a:off x="594360" y="914400"/>
            <a:ext cx="2286000" cy="274320"/>
          </a:xfrm>
          <a:prstGeom prst="rect">
            <a:avLst/>
          </a:prstGeom>
          <a:noFill/>
          <a:ln/>
        </p:spPr>
        <p:txBody>
          <a:bodyPr wrap="square" rtlCol="0" anchor="ctr"/>
          <a:lstStyle/>
          <a:p>
            <a:pPr indent="0" marL="0">
              <a:buNone/>
            </a:pPr>
            <a:r>
              <a:rPr lang="en-US" sz="1050" b="1" dirty="0">
                <a:solidFill>
                  <a:srgbClr val="1E3A8A"/>
                </a:solidFill>
              </a:rPr>
              <a:t>Babel Compiler Test</a:t>
            </a:r>
            <a:endParaRPr lang="en-US" sz="1050" dirty="0"/>
          </a:p>
        </p:txBody>
      </p:sp>
      <p:sp>
        <p:nvSpPr>
          <p:cNvPr id="8" name="Text 6"/>
          <p:cNvSpPr/>
          <p:nvPr/>
        </p:nvSpPr>
        <p:spPr>
          <a:xfrm>
            <a:off x="594360" y="1188720"/>
            <a:ext cx="2286000" cy="365760"/>
          </a:xfrm>
          <a:prstGeom prst="rect">
            <a:avLst/>
          </a:prstGeom>
          <a:noFill/>
          <a:ln/>
        </p:spPr>
        <p:txBody>
          <a:bodyPr wrap="square" rtlCol="0" anchor="ctr"/>
          <a:lstStyle/>
          <a:p>
            <a:pPr indent="0" marL="0">
              <a:buNone/>
            </a:pPr>
            <a:r>
              <a:rPr lang="en-US" sz="1400" b="1" dirty="0">
                <a:solidFill>
                  <a:srgbClr val="059669"/>
                </a:solidFill>
              </a:rPr>
              <a:t>PASSED 0 Errors</a:t>
            </a:r>
            <a:endParaRPr lang="en-US" sz="1400" dirty="0"/>
          </a:p>
        </p:txBody>
      </p:sp>
      <p:sp>
        <p:nvSpPr>
          <p:cNvPr id="9" name="Text 7"/>
          <p:cNvSpPr/>
          <p:nvPr/>
        </p:nvSpPr>
        <p:spPr>
          <a:xfrm>
            <a:off x="594360" y="1554480"/>
            <a:ext cx="2286000" cy="457200"/>
          </a:xfrm>
          <a:prstGeom prst="rect">
            <a:avLst/>
          </a:prstGeom>
          <a:noFill/>
          <a:ln/>
        </p:spPr>
        <p:txBody>
          <a:bodyPr wrap="square" rtlCol="0" anchor="ctr"/>
          <a:lstStyle/>
          <a:p>
            <a:pPr indent="0" marL="0">
              <a:buNone/>
            </a:pPr>
            <a:r>
              <a:rPr lang="en-US" sz="950" dirty="0">
                <a:solidFill>
                  <a:srgbClr val="475569"/>
                </a:solidFill>
              </a:rPr>
              <a:t>Biên dịch mượt mà 98KB JSX code</a:t>
            </a:r>
            <a:endParaRPr lang="en-US" sz="950" dirty="0"/>
          </a:p>
        </p:txBody>
      </p:sp>
      <p:sp>
        <p:nvSpPr>
          <p:cNvPr id="10" name="Shape 8"/>
          <p:cNvSpPr/>
          <p:nvPr/>
        </p:nvSpPr>
        <p:spPr>
          <a:xfrm>
            <a:off x="3291840" y="822960"/>
            <a:ext cx="2560320" cy="1280160"/>
          </a:xfrm>
          <a:prstGeom prst="roundRect">
            <a:avLst/>
          </a:prstGeom>
          <a:solidFill>
            <a:srgbClr val="FFFFFF"/>
          </a:solidFill>
          <a:ln w="12700">
            <a:solidFill>
              <a:srgbClr val="CBD5E1"/>
            </a:solidFill>
            <a:prstDash val="solid"/>
          </a:ln>
        </p:spPr>
      </p:sp>
      <p:sp>
        <p:nvSpPr>
          <p:cNvPr id="11" name="Text 9"/>
          <p:cNvSpPr/>
          <p:nvPr/>
        </p:nvSpPr>
        <p:spPr>
          <a:xfrm>
            <a:off x="3429000" y="914400"/>
            <a:ext cx="2286000" cy="274320"/>
          </a:xfrm>
          <a:prstGeom prst="rect">
            <a:avLst/>
          </a:prstGeom>
          <a:noFill/>
          <a:ln/>
        </p:spPr>
        <p:txBody>
          <a:bodyPr wrap="square" rtlCol="0" anchor="ctr"/>
          <a:lstStyle/>
          <a:p>
            <a:pPr indent="0" marL="0">
              <a:buNone/>
            </a:pPr>
            <a:r>
              <a:rPr lang="en-US" sz="1050" b="1" dirty="0">
                <a:solidFill>
                  <a:srgbClr val="1E3A8A"/>
                </a:solidFill>
              </a:rPr>
              <a:t>Node API Unit Test</a:t>
            </a:r>
            <a:endParaRPr lang="en-US" sz="1050" dirty="0"/>
          </a:p>
        </p:txBody>
      </p:sp>
      <p:sp>
        <p:nvSpPr>
          <p:cNvPr id="12" name="Text 10"/>
          <p:cNvSpPr/>
          <p:nvPr/>
        </p:nvSpPr>
        <p:spPr>
          <a:xfrm>
            <a:off x="3429000" y="1188720"/>
            <a:ext cx="2286000" cy="365760"/>
          </a:xfrm>
          <a:prstGeom prst="rect">
            <a:avLst/>
          </a:prstGeom>
          <a:noFill/>
          <a:ln/>
        </p:spPr>
        <p:txBody>
          <a:bodyPr wrap="square" rtlCol="0" anchor="ctr"/>
          <a:lstStyle/>
          <a:p>
            <a:pPr indent="0" marL="0">
              <a:buNone/>
            </a:pPr>
            <a:r>
              <a:rPr lang="en-US" sz="1400" b="1" dirty="0">
                <a:solidFill>
                  <a:srgbClr val="059669"/>
                </a:solidFill>
              </a:rPr>
              <a:t>100% SUCCESS</a:t>
            </a:r>
            <a:endParaRPr lang="en-US" sz="1400" dirty="0"/>
          </a:p>
        </p:txBody>
      </p:sp>
      <p:sp>
        <p:nvSpPr>
          <p:cNvPr id="13" name="Text 11"/>
          <p:cNvSpPr/>
          <p:nvPr/>
        </p:nvSpPr>
        <p:spPr>
          <a:xfrm>
            <a:off x="3429000" y="1554480"/>
            <a:ext cx="2286000" cy="457200"/>
          </a:xfrm>
          <a:prstGeom prst="rect">
            <a:avLst/>
          </a:prstGeom>
          <a:noFill/>
          <a:ln/>
        </p:spPr>
        <p:txBody>
          <a:bodyPr wrap="square" rtlCol="0" anchor="ctr"/>
          <a:lstStyle/>
          <a:p>
            <a:pPr indent="0" marL="0">
              <a:buNone/>
            </a:pPr>
            <a:r>
              <a:rPr lang="en-US" sz="950" dirty="0">
                <a:solidFill>
                  <a:srgbClr val="475569"/>
                </a:solidFill>
              </a:rPr>
              <a:t>Pass 4/4 test cases Live Chat API</a:t>
            </a:r>
            <a:endParaRPr lang="en-US" sz="950" dirty="0"/>
          </a:p>
        </p:txBody>
      </p:sp>
      <p:sp>
        <p:nvSpPr>
          <p:cNvPr id="14" name="Shape 12"/>
          <p:cNvSpPr/>
          <p:nvPr/>
        </p:nvSpPr>
        <p:spPr>
          <a:xfrm>
            <a:off x="6126480" y="822960"/>
            <a:ext cx="2560320" cy="1280160"/>
          </a:xfrm>
          <a:prstGeom prst="roundRect">
            <a:avLst/>
          </a:prstGeom>
          <a:solidFill>
            <a:srgbClr val="FFFFFF"/>
          </a:solidFill>
          <a:ln w="12700">
            <a:solidFill>
              <a:srgbClr val="CBD5E1"/>
            </a:solidFill>
            <a:prstDash val="solid"/>
          </a:ln>
        </p:spPr>
      </p:sp>
      <p:sp>
        <p:nvSpPr>
          <p:cNvPr id="15" name="Text 13"/>
          <p:cNvSpPr/>
          <p:nvPr/>
        </p:nvSpPr>
        <p:spPr>
          <a:xfrm>
            <a:off x="6263640" y="914400"/>
            <a:ext cx="2286000" cy="274320"/>
          </a:xfrm>
          <a:prstGeom prst="rect">
            <a:avLst/>
          </a:prstGeom>
          <a:noFill/>
          <a:ln/>
        </p:spPr>
        <p:txBody>
          <a:bodyPr wrap="square" rtlCol="0" anchor="ctr"/>
          <a:lstStyle/>
          <a:p>
            <a:pPr indent="0" marL="0">
              <a:buNone/>
            </a:pPr>
            <a:r>
              <a:rPr lang="en-US" sz="1050" b="1" dirty="0">
                <a:solidFill>
                  <a:srgbClr val="1E3A8A"/>
                </a:solidFill>
              </a:rPr>
              <a:t>HTTP Status Server</a:t>
            </a:r>
            <a:endParaRPr lang="en-US" sz="1050" dirty="0"/>
          </a:p>
        </p:txBody>
      </p:sp>
      <p:sp>
        <p:nvSpPr>
          <p:cNvPr id="16" name="Text 14"/>
          <p:cNvSpPr/>
          <p:nvPr/>
        </p:nvSpPr>
        <p:spPr>
          <a:xfrm>
            <a:off x="6263640" y="1188720"/>
            <a:ext cx="2286000" cy="365760"/>
          </a:xfrm>
          <a:prstGeom prst="rect">
            <a:avLst/>
          </a:prstGeom>
          <a:noFill/>
          <a:ln/>
        </p:spPr>
        <p:txBody>
          <a:bodyPr wrap="square" rtlCol="0" anchor="ctr"/>
          <a:lstStyle/>
          <a:p>
            <a:pPr indent="0" marL="0">
              <a:buNone/>
            </a:pPr>
            <a:r>
              <a:rPr lang="en-US" sz="1400" b="1" dirty="0">
                <a:solidFill>
                  <a:srgbClr val="059669"/>
                </a:solidFill>
              </a:rPr>
              <a:t>HTTP 200 OK</a:t>
            </a:r>
            <a:endParaRPr lang="en-US" sz="1400" dirty="0"/>
          </a:p>
        </p:txBody>
      </p:sp>
      <p:sp>
        <p:nvSpPr>
          <p:cNvPr id="17" name="Text 15"/>
          <p:cNvSpPr/>
          <p:nvPr/>
        </p:nvSpPr>
        <p:spPr>
          <a:xfrm>
            <a:off x="6263640" y="1554480"/>
            <a:ext cx="2286000" cy="457200"/>
          </a:xfrm>
          <a:prstGeom prst="rect">
            <a:avLst/>
          </a:prstGeom>
          <a:noFill/>
          <a:ln/>
        </p:spPr>
        <p:txBody>
          <a:bodyPr wrap="square" rtlCol="0" anchor="ctr"/>
          <a:lstStyle/>
          <a:p>
            <a:pPr indent="0" marL="0">
              <a:buNone/>
            </a:pPr>
            <a:r>
              <a:rPr lang="en-US" sz="950" dirty="0">
                <a:solidFill>
                  <a:srgbClr val="475569"/>
                </a:solidFill>
              </a:rPr>
              <a:t>Chạy ổn định tại port 8088</a:t>
            </a:r>
            <a:endParaRPr lang="en-US" sz="950" dirty="0"/>
          </a:p>
        </p:txBody>
      </p:sp>
      <p:sp>
        <p:nvSpPr>
          <p:cNvPr id="18" name="Shape 16"/>
          <p:cNvSpPr/>
          <p:nvPr/>
        </p:nvSpPr>
        <p:spPr>
          <a:xfrm>
            <a:off x="457200" y="2286000"/>
            <a:ext cx="8229600" cy="2468880"/>
          </a:xfrm>
          <a:prstGeom prst="roundRect">
            <a:avLst/>
          </a:prstGeom>
          <a:solidFill>
            <a:srgbClr val="1E3A8A"/>
          </a:solidFill>
          <a:ln/>
        </p:spPr>
      </p:sp>
      <p:sp>
        <p:nvSpPr>
          <p:cNvPr id="19" name="Text 17"/>
          <p:cNvSpPr/>
          <p:nvPr/>
        </p:nvSpPr>
        <p:spPr>
          <a:xfrm>
            <a:off x="640080" y="2560320"/>
            <a:ext cx="7863840" cy="548640"/>
          </a:xfrm>
          <a:prstGeom prst="rect">
            <a:avLst/>
          </a:prstGeom>
          <a:noFill/>
          <a:ln/>
        </p:spPr>
        <p:txBody>
          <a:bodyPr wrap="square" rtlCol="0" anchor="ctr"/>
          <a:lstStyle/>
          <a:p>
            <a:pPr algn="ctr" indent="0" marL="0">
              <a:buNone/>
            </a:pPr>
            <a:r>
              <a:rPr lang="en-US" sz="2000" b="1" dirty="0">
                <a:solidFill>
                  <a:srgbClr val="FFFFFF"/>
                </a:solidFill>
              </a:rPr>
              <a:t>XIN CHÂN THÀNH CẢM ƠN THẦY VÀ CÁC BẠN!</a:t>
            </a:r>
            <a:endParaRPr lang="en-US" sz="2000" dirty="0"/>
          </a:p>
        </p:txBody>
      </p:sp>
      <p:sp>
        <p:nvSpPr>
          <p:cNvPr id="20" name="Text 18"/>
          <p:cNvSpPr/>
          <p:nvPr/>
        </p:nvSpPr>
        <p:spPr>
          <a:xfrm>
            <a:off x="640080" y="3200400"/>
            <a:ext cx="7863840" cy="1280160"/>
          </a:xfrm>
          <a:prstGeom prst="rect">
            <a:avLst/>
          </a:prstGeom>
          <a:noFill/>
          <a:ln/>
        </p:spPr>
        <p:txBody>
          <a:bodyPr wrap="square" rtlCol="0" anchor="ctr"/>
          <a:lstStyle/>
          <a:p>
            <a:pPr algn="ctr" indent="0" marL="0">
              <a:buNone/>
            </a:pPr>
            <a:r>
              <a:rPr lang="en-US" sz="1200" dirty="0">
                <a:solidFill>
                  <a:srgbClr val="93C5FD"/>
                </a:solidFill>
              </a:rPr>
              <a:t>Hệ Thống Thư Viện Số Enterprise &amp; Sàn Cho Thuê Truyện v5.0 sẵn sàng đưa vào ứng dụng thực tế.</a:t>
            </a:r>
            <a:endParaRPr lang="en-US" sz="1200" dirty="0"/>
          </a:p>
          <a:p>
            <a:pPr algn="ctr" indent="0" marL="0">
              <a:buNone/>
            </a:pPr>
            <a:endParaRPr lang="en-US" sz="1200" dirty="0"/>
          </a:p>
          <a:p>
            <a:pPr algn="ctr" indent="0" marL="0">
              <a:buNone/>
            </a:pPr>
            <a:r>
              <a:rPr lang="en-US" sz="1200" dirty="0">
                <a:solidFill>
                  <a:srgbClr val="93C5FD"/>
                </a:solidFill>
              </a:rPr>
              <a:t>Nhóm Thực Hiện: Nguyễn Đăng Khải (Leader) • Nguyễn Nhật Linh Ân • Phan Duy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Enterprise Digital Library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Thư Viện Số Enterprise &amp; Sàn Cho Thuê Truyện v5.0</dc:title>
  <dc:subject>PptxGenJS Presentation</dc:subject>
  <dc:creator>Nguyễn Đăng Khải</dc:creator>
  <cp:lastModifiedBy>Nguyễn Đăng Khải</cp:lastModifiedBy>
  <cp:revision>1</cp:revision>
  <dcterms:created xsi:type="dcterms:W3CDTF">2026-09-14T17:29:01Z</dcterms:created>
  <dcterms:modified xsi:type="dcterms:W3CDTF">2026-09-14T17:29:01Z</dcterms:modified>
</cp:coreProperties>
</file>