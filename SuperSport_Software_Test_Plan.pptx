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và các bạn. Hôm nay, nhóm kiểm thử gồm Đăng Khải, Linh Ân và Phan Duy xin trình bày Báo cáo Kế hoạch Kiểm thử Phần mềm cho Hệ thống Quản lý &amp; Kết nối Thể thao SuperSport (WebSports). Kế hoạch diễn ra từ ngày 18/09 đến 30/09/2026 theo tiêu chuẩn IEEE 830 và OWASP.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báo cáo hôm nay bao gồm 6 phần chính: 1. Phân tích sản phẩm SuperSport; 2. Lập chiến lược kiểm thử; 3. Xác định mục tiêu chất lượng; 4. Hoạch định nhân sự cho 3 thành viên; 5. Kế hoạch môi trường Staging &amp; Mock API; 6. Lịch trình chi tiết 13 ngày từ 18/09 đến 30/09.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phân tích sản phẩm, SuperSport là hệ sinh thái Web Client-Server xây dựng trên PHP 8.1 và cơ sở dữ liệu MySQL 8.0 với 14+ bảng. Hệ thống có 2 điểm đặc trưng kỹ thuật quan trọng là xử lý thời gian thực qua WebSockets port 8080 và tự động đối soát thanh toán chuyển khoản VietQR MBBank bằng SieuThiCode API thông qua CronJob.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bao gồm 7 mô-đun chức năng chính: 1. Đặt sân thể thao có áp voucher; 2. Ghép đội &amp; Bắt kèo thách đấu; 3. Cửa hàng E-commerce đồ thể thao; 4. Ví điện tử VietQR MBBank; 5. Nền tảng SaaS 199k/tháng cho chủ sân; 6. Admin Control Panel phân quyền RBAC; và 7. Phân hệ Tin tức Cộng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chiến lược kiểm thử, phạm vi bắt buộc (Scope IN) bao gồm toàn bộ 7 mô-đun Web, tích hợp VietQR, kết nối WebSockets, kiểm thử hiệu năng 500 users và bảo mật OWASP. Các phần ngoài phạm vi (Scope OUT) là Mobile App Native và cổng MoMo/VNPay do thuộc giai đoạn nâng cấp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nghiệm thu là 100% Critical Test Cases phải Pass, không còn lỗi Blocker hay Critical nào trước khi Go-Live. Để quản lý rủi ro, chúng tôi xây dựng Mock API MBBank và thiết kế kịch bản test concurrency lock chống trùng lịch đặt sân.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chất lượng cụ thể bao gồm: Thời gian tải trang dưới 1.5 giây, phản hồi API đặt sân dưới 300ms, chịu tải đồng thời 500 người dùng, bảo mật 100% Bcrypt/SQLi/XSS và kiểm thử chống nạp tiền trùng idempotency.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lực nhân sự được phân công rõ ràng: Đăng Khải (Test Lead) phụ trách Ví VietQR, Admin Panel &amp; Kiểm thử Bảo mật; Linh Ân phụ trách Đặt sân, E-Commerce, UI/UX &amp; Automation Test; Phan Duy phụ trách Ghép đội, WebSockets, SaaS Portal, Mock API &amp; Load Test JMeter.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Staging được dựng trên Ubuntu Server 22.04 với 4 CPU Cores, 8GB RAM, MySQL 8.0 chứa 1,000 người dùng mẫu. Chúng tôi sử dụng bộ công cụ kiểm thử tiêu chuẩn bao gồm Postman, JMeter, OWASP ZAP, Selenium và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Lịch trình 13 ngày được chia làm 5 giai đoạn: Giai đoạn 1 chuẩn bị và chốt test cases ngày 20/09; Giai đoạn 2 test chức năng hoàn tất ngày 24/09; Giai đoạn 3 test hiệu năng &amp; bảo mật hoàn tất ngày 27/09; Giai đoạn 4 re-test &amp; regression test ngày 29/09; và Giai đoạn 5 nghiệm thu bàn giao ngày 30/09.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đảm bảo chất lượng, dự án tuân thủ nghiêm ngặt chỉ số Quality Gates với 250+ test cases thực thi 100%, 0 Fatal/Critical bugs. Quy trình xử lý lỗi được quản lý từ New, Assigned, Resolved, Re-testing đến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kế hoạch kiểm thử SuperSport từ 18/09 đến 30/09/2026 đảm bảo hệ thống vận hành an toàn, chính xác tài chính 100% và đạt hiệu năng tối ưu trước khi phát hành. Cảm ơn thầy 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828800" y="914400"/>
            <a:ext cx="8503920" cy="457200"/>
          </a:xfrm>
          <a:prstGeom prst="rect">
            <a:avLst/>
          </a:prstGeom>
          <a:solidFill>
            <a:srgbClr val="000000"/>
          </a:solidFill>
          <a:ln w="12700">
            <a:solidFill>
              <a:srgbClr val="000000"/>
            </a:solidFill>
            <a:prstDash val="solid"/>
          </a:ln>
        </p:spPr>
      </p:sp>
      <p:sp>
        <p:nvSpPr>
          <p:cNvPr id="4" name="Text 1"/>
          <p:cNvSpPr/>
          <p:nvPr/>
        </p:nvSpPr>
        <p:spPr>
          <a:xfrm>
            <a:off x="1828800" y="914400"/>
            <a:ext cx="8503920" cy="457200"/>
          </a:xfrm>
          <a:prstGeom prst="rect">
            <a:avLst/>
          </a:prstGeom>
          <a:noFill/>
          <a:ln/>
        </p:spPr>
        <p:txBody>
          <a:bodyPr wrap="square" rtlCol="0" anchor="ctr"/>
          <a:lstStyle/>
          <a:p>
            <a:pPr algn="ctr" indent="0" marL="0">
              <a:buNone/>
            </a:pPr>
            <a:r>
              <a:rPr lang="en-US" sz="1300" b="1" dirty="0">
                <a:solidFill>
                  <a:srgbClr val="FFFFFF"/>
                </a:solidFill>
              </a:rPr>
              <a:t>BÁO CÁO KẾ HOẠCH KIỂM THỬ PHẦN MỀM (SOFTWARE TEST PLAN)</a:t>
            </a:r>
            <a:endParaRPr lang="en-US" sz="1300" dirty="0"/>
          </a:p>
        </p:txBody>
      </p:sp>
      <p:sp>
        <p:nvSpPr>
          <p:cNvPr id="5" name="Text 2"/>
          <p:cNvSpPr/>
          <p:nvPr/>
        </p:nvSpPr>
        <p:spPr>
          <a:xfrm>
            <a:off x="457200" y="1645920"/>
            <a:ext cx="11247120" cy="548640"/>
          </a:xfrm>
          <a:prstGeom prst="rect">
            <a:avLst/>
          </a:prstGeom>
          <a:noFill/>
          <a:ln/>
        </p:spPr>
        <p:txBody>
          <a:bodyPr wrap="square" rtlCol="0" anchor="ctr"/>
          <a:lstStyle/>
          <a:p>
            <a:pPr algn="ctr" indent="0" marL="0">
              <a:buNone/>
            </a:pPr>
            <a:r>
              <a:rPr lang="en-US" sz="2600" b="1" dirty="0">
                <a:solidFill>
                  <a:srgbClr val="000000"/>
                </a:solidFill>
              </a:rPr>
              <a:t>HỆ THỐNG QUẢN LÝ &amp; KẾT NỐI THỂ THAO</a:t>
            </a:r>
            <a:endParaRPr lang="en-US" sz="2600" dirty="0"/>
          </a:p>
        </p:txBody>
      </p:sp>
      <p:sp>
        <p:nvSpPr>
          <p:cNvPr id="6" name="Text 3"/>
          <p:cNvSpPr/>
          <p:nvPr/>
        </p:nvSpPr>
        <p:spPr>
          <a:xfrm>
            <a:off x="457200" y="2194560"/>
            <a:ext cx="11247120" cy="731520"/>
          </a:xfrm>
          <a:prstGeom prst="rect">
            <a:avLst/>
          </a:prstGeom>
          <a:noFill/>
          <a:ln/>
        </p:spPr>
        <p:txBody>
          <a:bodyPr wrap="square" rtlCol="0" anchor="ctr"/>
          <a:lstStyle/>
          <a:p>
            <a:pPr algn="ctr" indent="0" marL="0">
              <a:buNone/>
            </a:pPr>
            <a:r>
              <a:rPr lang="en-US" sz="3400" b="1" dirty="0">
                <a:solidFill>
                  <a:srgbClr val="000000"/>
                </a:solidFill>
              </a:rPr>
              <a:t>SUPERSPORT (WEBSPORTS)</a:t>
            </a:r>
            <a:endParaRPr lang="en-US" sz="3400" dirty="0"/>
          </a:p>
        </p:txBody>
      </p:sp>
      <p:sp>
        <p:nvSpPr>
          <p:cNvPr id="7" name="Text 4"/>
          <p:cNvSpPr/>
          <p:nvPr/>
        </p:nvSpPr>
        <p:spPr>
          <a:xfrm>
            <a:off x="914400" y="3017520"/>
            <a:ext cx="10332720" cy="457200"/>
          </a:xfrm>
          <a:prstGeom prst="rect">
            <a:avLst/>
          </a:prstGeom>
          <a:noFill/>
          <a:ln/>
        </p:spPr>
        <p:txBody>
          <a:bodyPr wrap="square" rtlCol="0" anchor="ctr"/>
          <a:lstStyle/>
          <a:p>
            <a:pPr algn="ctr" indent="0" marL="0">
              <a:buNone/>
            </a:pPr>
            <a:r>
              <a:rPr lang="en-US" sz="1300" dirty="0">
                <a:solidFill>
                  <a:srgbClr val="444444"/>
                </a:solidFill>
              </a:rPr>
              <a:t>Chiến lược kiểm thử 7 mô-đun chức năng, tích hợp ví VietQR MBBank &amp; xử lý Real-time WebSockets</a:t>
            </a:r>
            <a:endParaRPr lang="en-US" sz="1300" dirty="0"/>
          </a:p>
        </p:txBody>
      </p:sp>
      <p:sp>
        <p:nvSpPr>
          <p:cNvPr id="8" name="Shape 5"/>
          <p:cNvSpPr/>
          <p:nvPr/>
        </p:nvSpPr>
        <p:spPr>
          <a:xfrm>
            <a:off x="1097280" y="3840480"/>
            <a:ext cx="3108960" cy="2011680"/>
          </a:xfrm>
          <a:prstGeom prst="rect">
            <a:avLst/>
          </a:prstGeom>
          <a:solidFill>
            <a:srgbClr val="FFFFFF"/>
          </a:solidFill>
          <a:ln w="19050">
            <a:solidFill>
              <a:srgbClr val="000000"/>
            </a:solidFill>
            <a:prstDash val="solid"/>
          </a:ln>
        </p:spPr>
      </p:sp>
      <p:sp>
        <p:nvSpPr>
          <p:cNvPr id="9" name="Text 6"/>
          <p:cNvSpPr/>
          <p:nvPr/>
        </p:nvSpPr>
        <p:spPr>
          <a:xfrm>
            <a:off x="1280160" y="4023360"/>
            <a:ext cx="2743200" cy="274320"/>
          </a:xfrm>
          <a:prstGeom prst="rect">
            <a:avLst/>
          </a:prstGeom>
          <a:noFill/>
          <a:ln/>
        </p:spPr>
        <p:txBody>
          <a:bodyPr wrap="square" rtlCol="0" anchor="ctr"/>
          <a:lstStyle/>
          <a:p>
            <a:pPr indent="0" marL="0">
              <a:buNone/>
            </a:pPr>
            <a:r>
              <a:rPr lang="en-US" sz="1100" b="1" dirty="0">
                <a:solidFill>
                  <a:srgbClr val="000000"/>
                </a:solidFill>
              </a:rPr>
              <a:t>ĐỘI NGŨ KIỂM THỬ</a:t>
            </a:r>
            <a:endParaRPr lang="en-US" sz="1100" dirty="0"/>
          </a:p>
        </p:txBody>
      </p:sp>
      <p:sp>
        <p:nvSpPr>
          <p:cNvPr id="10" name="Text 7"/>
          <p:cNvSpPr/>
          <p:nvPr/>
        </p:nvSpPr>
        <p:spPr>
          <a:xfrm>
            <a:off x="1280160" y="4389120"/>
            <a:ext cx="2743200" cy="1280160"/>
          </a:xfrm>
          <a:prstGeom prst="rect">
            <a:avLst/>
          </a:prstGeom>
          <a:noFill/>
          <a:ln/>
        </p:spPr>
        <p:txBody>
          <a:bodyPr wrap="square" rtlCol="0" anchor="ctr"/>
          <a:lstStyle/>
          <a:p>
            <a:pPr indent="0" marL="0">
              <a:lnSpc>
                <a:spcPts val="2200"/>
              </a:lnSpc>
              <a:buNone/>
            </a:pPr>
            <a:r>
              <a:rPr lang="en-US" sz="1200" dirty="0">
                <a:solidFill>
                  <a:srgbClr val="444444"/>
                </a:solidFill>
              </a:rPr>
              <a:t>• Đăng Khải (Test Lead)</a:t>
            </a:r>
            <a:endParaRPr lang="en-US" sz="1200" dirty="0"/>
          </a:p>
          <a:p>
            <a:pPr indent="0" marL="0">
              <a:lnSpc>
                <a:spcPts val="2200"/>
              </a:lnSpc>
              <a:buNone/>
            </a:pPr>
            <a:r>
              <a:rPr lang="en-US" sz="1200" dirty="0">
                <a:solidFill>
                  <a:srgbClr val="444444"/>
                </a:solidFill>
              </a:rPr>
              <a:t>• Linh Ân (Functional &amp; Auto)</a:t>
            </a:r>
            <a:endParaRPr lang="en-US" sz="1200" dirty="0"/>
          </a:p>
          <a:p>
            <a:pPr indent="0" marL="0">
              <a:lnSpc>
                <a:spcPts val="2200"/>
              </a:lnSpc>
              <a:buNone/>
            </a:pPr>
            <a:r>
              <a:rPr lang="en-US" sz="1200" dirty="0">
                <a:solidFill>
                  <a:srgbClr val="444444"/>
                </a:solidFill>
              </a:rPr>
              <a:t>• Phan Duy (Integration &amp; Perf)</a:t>
            </a:r>
            <a:endParaRPr lang="en-US" sz="1200" dirty="0"/>
          </a:p>
        </p:txBody>
      </p:sp>
      <p:sp>
        <p:nvSpPr>
          <p:cNvPr id="11" name="Shape 8"/>
          <p:cNvSpPr/>
          <p:nvPr/>
        </p:nvSpPr>
        <p:spPr>
          <a:xfrm>
            <a:off x="4480560" y="3840480"/>
            <a:ext cx="3108960" cy="2011680"/>
          </a:xfrm>
          <a:prstGeom prst="rect">
            <a:avLst/>
          </a:prstGeom>
          <a:solidFill>
            <a:srgbClr val="FFFFFF"/>
          </a:solidFill>
          <a:ln w="19050">
            <a:solidFill>
              <a:srgbClr val="000000"/>
            </a:solidFill>
            <a:prstDash val="solid"/>
          </a:ln>
        </p:spPr>
      </p:sp>
      <p:sp>
        <p:nvSpPr>
          <p:cNvPr id="12" name="Text 9"/>
          <p:cNvSpPr/>
          <p:nvPr/>
        </p:nvSpPr>
        <p:spPr>
          <a:xfrm>
            <a:off x="4663440" y="4023360"/>
            <a:ext cx="2743200" cy="274320"/>
          </a:xfrm>
          <a:prstGeom prst="rect">
            <a:avLst/>
          </a:prstGeom>
          <a:noFill/>
          <a:ln/>
        </p:spPr>
        <p:txBody>
          <a:bodyPr wrap="square" rtlCol="0" anchor="ctr"/>
          <a:lstStyle/>
          <a:p>
            <a:pPr indent="0" marL="0">
              <a:buNone/>
            </a:pPr>
            <a:r>
              <a:rPr lang="en-US" sz="1100" b="1" dirty="0">
                <a:solidFill>
                  <a:srgbClr val="000000"/>
                </a:solidFill>
              </a:rPr>
              <a:t>THỜI GIAN THỰC HIỆN</a:t>
            </a:r>
            <a:endParaRPr lang="en-US" sz="1100" dirty="0"/>
          </a:p>
        </p:txBody>
      </p:sp>
      <p:sp>
        <p:nvSpPr>
          <p:cNvPr id="13" name="Text 10"/>
          <p:cNvSpPr/>
          <p:nvPr/>
        </p:nvSpPr>
        <p:spPr>
          <a:xfrm>
            <a:off x="4663440" y="4480560"/>
            <a:ext cx="2743200" cy="731520"/>
          </a:xfrm>
          <a:prstGeom prst="rect">
            <a:avLst/>
          </a:prstGeom>
          <a:noFill/>
          <a:ln/>
        </p:spPr>
        <p:txBody>
          <a:bodyPr wrap="square" rtlCol="0" anchor="ctr"/>
          <a:lstStyle/>
          <a:p>
            <a:pPr indent="0" marL="0">
              <a:buNone/>
            </a:pPr>
            <a:r>
              <a:rPr lang="en-US" sz="1400" b="1" dirty="0">
                <a:solidFill>
                  <a:srgbClr val="000000"/>
                </a:solidFill>
              </a:rPr>
              <a:t>18/09/2026 – 30/09/2026</a:t>
            </a:r>
            <a:endParaRPr lang="en-US" sz="1400" dirty="0"/>
          </a:p>
          <a:p>
            <a:pPr indent="0" marL="0">
              <a:buNone/>
            </a:pPr>
            <a:r>
              <a:rPr lang="en-US" sz="1400" b="1" dirty="0">
                <a:solidFill>
                  <a:srgbClr val="000000"/>
                </a:solidFill>
              </a:rPr>
              <a:t>(13 Ngày / 5 Giai Đoạn)</a:t>
            </a:r>
            <a:endParaRPr lang="en-US" sz="1400" dirty="0"/>
          </a:p>
        </p:txBody>
      </p:sp>
      <p:sp>
        <p:nvSpPr>
          <p:cNvPr id="14" name="Text 11"/>
          <p:cNvSpPr/>
          <p:nvPr/>
        </p:nvSpPr>
        <p:spPr>
          <a:xfrm>
            <a:off x="4663440" y="5303520"/>
            <a:ext cx="2743200" cy="365760"/>
          </a:xfrm>
          <a:prstGeom prst="rect">
            <a:avLst/>
          </a:prstGeom>
          <a:noFill/>
          <a:ln/>
        </p:spPr>
        <p:txBody>
          <a:bodyPr wrap="square" rtlCol="0" anchor="ctr"/>
          <a:lstStyle/>
          <a:p>
            <a:pPr indent="0" marL="0">
              <a:buNone/>
            </a:pPr>
            <a:r>
              <a:rPr lang="en-US" sz="1100" dirty="0">
                <a:solidFill>
                  <a:srgbClr val="444444"/>
                </a:solidFill>
              </a:rPr>
              <a:t>Milestone Sign-off: 30/09/2026</a:t>
            </a:r>
            <a:endParaRPr lang="en-US" sz="1100" dirty="0"/>
          </a:p>
        </p:txBody>
      </p:sp>
      <p:sp>
        <p:nvSpPr>
          <p:cNvPr id="15" name="Shape 12"/>
          <p:cNvSpPr/>
          <p:nvPr/>
        </p:nvSpPr>
        <p:spPr>
          <a:xfrm>
            <a:off x="7863840" y="3840480"/>
            <a:ext cx="3108960" cy="2011680"/>
          </a:xfrm>
          <a:prstGeom prst="rect">
            <a:avLst/>
          </a:prstGeom>
          <a:solidFill>
            <a:srgbClr val="FFFFFF"/>
          </a:solidFill>
          <a:ln w="19050">
            <a:solidFill>
              <a:srgbClr val="000000"/>
            </a:solidFill>
            <a:prstDash val="solid"/>
          </a:ln>
        </p:spPr>
      </p:sp>
      <p:sp>
        <p:nvSpPr>
          <p:cNvPr id="16" name="Text 13"/>
          <p:cNvSpPr/>
          <p:nvPr/>
        </p:nvSpPr>
        <p:spPr>
          <a:xfrm>
            <a:off x="8046720" y="4023360"/>
            <a:ext cx="2743200" cy="274320"/>
          </a:xfrm>
          <a:prstGeom prst="rect">
            <a:avLst/>
          </a:prstGeom>
          <a:noFill/>
          <a:ln/>
        </p:spPr>
        <p:txBody>
          <a:bodyPr wrap="square" rtlCol="0" anchor="ctr"/>
          <a:lstStyle/>
          <a:p>
            <a:pPr indent="0" marL="0">
              <a:buNone/>
            </a:pPr>
            <a:r>
              <a:rPr lang="en-US" sz="1100" b="1" dirty="0">
                <a:solidFill>
                  <a:srgbClr val="000000"/>
                </a:solidFill>
              </a:rPr>
              <a:t>TIÊU CHUẨN ĐÁNH GIÁ</a:t>
            </a:r>
            <a:endParaRPr lang="en-US" sz="1100" dirty="0"/>
          </a:p>
        </p:txBody>
      </p:sp>
      <p:sp>
        <p:nvSpPr>
          <p:cNvPr id="17" name="Text 14"/>
          <p:cNvSpPr/>
          <p:nvPr/>
        </p:nvSpPr>
        <p:spPr>
          <a:xfrm>
            <a:off x="8046720" y="4389120"/>
            <a:ext cx="2743200" cy="1280160"/>
          </a:xfrm>
          <a:prstGeom prst="rect">
            <a:avLst/>
          </a:prstGeom>
          <a:noFill/>
          <a:ln/>
        </p:spPr>
        <p:txBody>
          <a:bodyPr wrap="square" rtlCol="0" anchor="ctr"/>
          <a:lstStyle/>
          <a:p>
            <a:pPr indent="0" marL="0">
              <a:lnSpc>
                <a:spcPts val="2000"/>
              </a:lnSpc>
              <a:buNone/>
            </a:pPr>
            <a:r>
              <a:rPr lang="en-US" sz="1200" dirty="0">
                <a:solidFill>
                  <a:srgbClr val="444444"/>
                </a:solidFill>
              </a:rPr>
              <a:t>• IEEE Std 830-1998 (SRS)</a:t>
            </a:r>
            <a:endParaRPr lang="en-US" sz="1200" dirty="0"/>
          </a:p>
          <a:p>
            <a:pPr indent="0" marL="0">
              <a:lnSpc>
                <a:spcPts val="2000"/>
              </a:lnSpc>
              <a:buNone/>
            </a:pPr>
            <a:r>
              <a:rPr lang="en-US" sz="1200" dirty="0">
                <a:solidFill>
                  <a:srgbClr val="444444"/>
                </a:solidFill>
              </a:rPr>
              <a:t>• OWASP Top 10 Security</a:t>
            </a:r>
            <a:endParaRPr lang="en-US" sz="1200" dirty="0"/>
          </a:p>
          <a:p>
            <a:pPr indent="0" marL="0">
              <a:lnSpc>
                <a:spcPts val="2000"/>
              </a:lnSpc>
              <a:buNone/>
            </a:pPr>
            <a:r>
              <a:rPr lang="en-US" sz="1200" dirty="0">
                <a:solidFill>
                  <a:srgbClr val="444444"/>
                </a:solidFill>
              </a:rPr>
              <a:t>• 100% Core Function Pass</a:t>
            </a:r>
            <a:endParaRPr lang="en-US" sz="1200" dirty="0"/>
          </a:p>
          <a:p>
            <a:pPr indent="0" marL="0">
              <a:lnSpc>
                <a:spcPts val="2000"/>
              </a:lnSpc>
              <a:buNone/>
            </a:pPr>
            <a:r>
              <a:rPr lang="en-US" sz="1200" dirty="0">
                <a:solidFill>
                  <a:srgbClr val="444444"/>
                </a:solidFill>
              </a:rPr>
              <a:t>• Zero Blocker/Critical Bugs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MỤC LỤC</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Mục Lục Kế Hoạch Kiểm Thử (Table of Contents)</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2 / 12</a:t>
            </a:r>
            <a:endParaRPr lang="en-US" sz="1100" dirty="0"/>
          </a:p>
        </p:txBody>
      </p:sp>
      <p:sp>
        <p:nvSpPr>
          <p:cNvPr id="7" name="Shape 4"/>
          <p:cNvSpPr/>
          <p:nvPr/>
        </p:nvSpPr>
        <p:spPr>
          <a:xfrm>
            <a:off x="548640" y="1097280"/>
            <a:ext cx="5303520" cy="1463040"/>
          </a:xfrm>
          <a:prstGeom prst="rect">
            <a:avLst/>
          </a:prstGeom>
          <a:solidFill>
            <a:srgbClr val="FFFFFF"/>
          </a:solidFill>
          <a:ln w="12700">
            <a:solidFill>
              <a:srgbClr val="000000"/>
            </a:solidFill>
            <a:prstDash val="solid"/>
          </a:ln>
        </p:spPr>
      </p:sp>
      <p:sp>
        <p:nvSpPr>
          <p:cNvPr id="8" name="Shape 5"/>
          <p:cNvSpPr/>
          <p:nvPr/>
        </p:nvSpPr>
        <p:spPr>
          <a:xfrm>
            <a:off x="822960" y="1371600"/>
            <a:ext cx="548640" cy="548640"/>
          </a:xfrm>
          <a:prstGeom prst="rect">
            <a:avLst/>
          </a:prstGeom>
          <a:solidFill>
            <a:srgbClr val="000000"/>
          </a:solidFill>
          <a:ln/>
        </p:spPr>
      </p:sp>
      <p:sp>
        <p:nvSpPr>
          <p:cNvPr id="9" name="Text 6"/>
          <p:cNvSpPr/>
          <p:nvPr/>
        </p:nvSpPr>
        <p:spPr>
          <a:xfrm>
            <a:off x="822960" y="1371600"/>
            <a:ext cx="548640" cy="54864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10" name="Text 7"/>
          <p:cNvSpPr/>
          <p:nvPr/>
        </p:nvSpPr>
        <p:spPr>
          <a:xfrm>
            <a:off x="1554480" y="1325880"/>
            <a:ext cx="4023360" cy="320040"/>
          </a:xfrm>
          <a:prstGeom prst="rect">
            <a:avLst/>
          </a:prstGeom>
          <a:noFill/>
          <a:ln/>
        </p:spPr>
        <p:txBody>
          <a:bodyPr wrap="square" rtlCol="0" anchor="ctr"/>
          <a:lstStyle/>
          <a:p>
            <a:pPr indent="0" marL="0">
              <a:buNone/>
            </a:pPr>
            <a:r>
              <a:rPr lang="en-US" sz="1300" b="1" dirty="0">
                <a:solidFill>
                  <a:srgbClr val="000000"/>
                </a:solidFill>
              </a:rPr>
              <a:t>1. Analyze the Product</a:t>
            </a:r>
            <a:endParaRPr lang="en-US" sz="1300" dirty="0"/>
          </a:p>
        </p:txBody>
      </p:sp>
      <p:sp>
        <p:nvSpPr>
          <p:cNvPr id="11" name="Text 8"/>
          <p:cNvSpPr/>
          <p:nvPr/>
        </p:nvSpPr>
        <p:spPr>
          <a:xfrm>
            <a:off x="1554480" y="1691640"/>
            <a:ext cx="4023360" cy="731520"/>
          </a:xfrm>
          <a:prstGeom prst="rect">
            <a:avLst/>
          </a:prstGeom>
          <a:noFill/>
          <a:ln/>
        </p:spPr>
        <p:txBody>
          <a:bodyPr wrap="square" rtlCol="0" anchor="ctr"/>
          <a:lstStyle/>
          <a:p>
            <a:pPr indent="0" marL="0">
              <a:buNone/>
            </a:pPr>
            <a:r>
              <a:rPr lang="en-US" sz="1100" dirty="0">
                <a:solidFill>
                  <a:srgbClr val="444444"/>
                </a:solidFill>
              </a:rPr>
              <a:t>Phân tích sản phẩm, kiến trúc Web Client-Server &amp; 7 mô-đun chức năng SuperSport.</a:t>
            </a:r>
            <a:endParaRPr lang="en-US" sz="1100" dirty="0"/>
          </a:p>
        </p:txBody>
      </p:sp>
      <p:sp>
        <p:nvSpPr>
          <p:cNvPr id="12" name="Shape 9"/>
          <p:cNvSpPr/>
          <p:nvPr/>
        </p:nvSpPr>
        <p:spPr>
          <a:xfrm>
            <a:off x="6126480" y="1097280"/>
            <a:ext cx="5303520" cy="1463040"/>
          </a:xfrm>
          <a:prstGeom prst="rect">
            <a:avLst/>
          </a:prstGeom>
          <a:solidFill>
            <a:srgbClr val="FFFFFF"/>
          </a:solidFill>
          <a:ln w="12700">
            <a:solidFill>
              <a:srgbClr val="000000"/>
            </a:solidFill>
            <a:prstDash val="solid"/>
          </a:ln>
        </p:spPr>
      </p:sp>
      <p:sp>
        <p:nvSpPr>
          <p:cNvPr id="13" name="Shape 10"/>
          <p:cNvSpPr/>
          <p:nvPr/>
        </p:nvSpPr>
        <p:spPr>
          <a:xfrm>
            <a:off x="6400800" y="1371600"/>
            <a:ext cx="548640" cy="548640"/>
          </a:xfrm>
          <a:prstGeom prst="rect">
            <a:avLst/>
          </a:prstGeom>
          <a:solidFill>
            <a:srgbClr val="000000"/>
          </a:solidFill>
          <a:ln/>
        </p:spPr>
      </p:sp>
      <p:sp>
        <p:nvSpPr>
          <p:cNvPr id="14" name="Text 11"/>
          <p:cNvSpPr/>
          <p:nvPr/>
        </p:nvSpPr>
        <p:spPr>
          <a:xfrm>
            <a:off x="6400800" y="1371600"/>
            <a:ext cx="548640" cy="54864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5" name="Text 12"/>
          <p:cNvSpPr/>
          <p:nvPr/>
        </p:nvSpPr>
        <p:spPr>
          <a:xfrm>
            <a:off x="7132320" y="1325880"/>
            <a:ext cx="4023360" cy="320040"/>
          </a:xfrm>
          <a:prstGeom prst="rect">
            <a:avLst/>
          </a:prstGeom>
          <a:noFill/>
          <a:ln/>
        </p:spPr>
        <p:txBody>
          <a:bodyPr wrap="square" rtlCol="0" anchor="ctr"/>
          <a:lstStyle/>
          <a:p>
            <a:pPr indent="0" marL="0">
              <a:buNone/>
            </a:pPr>
            <a:r>
              <a:rPr lang="en-US" sz="1300" b="1" dirty="0">
                <a:solidFill>
                  <a:srgbClr val="000000"/>
                </a:solidFill>
              </a:rPr>
              <a:t>2. Design the Test Strategy</a:t>
            </a:r>
            <a:endParaRPr lang="en-US" sz="1300" dirty="0"/>
          </a:p>
        </p:txBody>
      </p:sp>
      <p:sp>
        <p:nvSpPr>
          <p:cNvPr id="16" name="Text 13"/>
          <p:cNvSpPr/>
          <p:nvPr/>
        </p:nvSpPr>
        <p:spPr>
          <a:xfrm>
            <a:off x="7132320" y="1691640"/>
            <a:ext cx="4023360" cy="731520"/>
          </a:xfrm>
          <a:prstGeom prst="rect">
            <a:avLst/>
          </a:prstGeom>
          <a:noFill/>
          <a:ln/>
        </p:spPr>
        <p:txBody>
          <a:bodyPr wrap="square" rtlCol="0" anchor="ctr"/>
          <a:lstStyle/>
          <a:p>
            <a:pPr indent="0" marL="0">
              <a:buNone/>
            </a:pPr>
            <a:r>
              <a:rPr lang="en-US" sz="1100" dirty="0">
                <a:solidFill>
                  <a:srgbClr val="444444"/>
                </a:solidFill>
              </a:rPr>
              <a:t>Phạm vi Scope IN/OUT, kiểm thử Chức năng, API VietQR, Real-time WebSockets &amp; OWASP.</a:t>
            </a:r>
            <a:endParaRPr lang="en-US" sz="1100" dirty="0"/>
          </a:p>
        </p:txBody>
      </p:sp>
      <p:sp>
        <p:nvSpPr>
          <p:cNvPr id="17" name="Shape 14"/>
          <p:cNvSpPr/>
          <p:nvPr/>
        </p:nvSpPr>
        <p:spPr>
          <a:xfrm>
            <a:off x="548640" y="2834640"/>
            <a:ext cx="5303520" cy="1463040"/>
          </a:xfrm>
          <a:prstGeom prst="rect">
            <a:avLst/>
          </a:prstGeom>
          <a:solidFill>
            <a:srgbClr val="FFFFFF"/>
          </a:solidFill>
          <a:ln w="12700">
            <a:solidFill>
              <a:srgbClr val="000000"/>
            </a:solidFill>
            <a:prstDash val="solid"/>
          </a:ln>
        </p:spPr>
      </p:sp>
      <p:sp>
        <p:nvSpPr>
          <p:cNvPr id="18" name="Shape 15"/>
          <p:cNvSpPr/>
          <p:nvPr/>
        </p:nvSpPr>
        <p:spPr>
          <a:xfrm>
            <a:off x="822960" y="3108960"/>
            <a:ext cx="548640" cy="548640"/>
          </a:xfrm>
          <a:prstGeom prst="rect">
            <a:avLst/>
          </a:prstGeom>
          <a:solidFill>
            <a:srgbClr val="000000"/>
          </a:solidFill>
          <a:ln/>
        </p:spPr>
      </p:sp>
      <p:sp>
        <p:nvSpPr>
          <p:cNvPr id="19" name="Text 16"/>
          <p:cNvSpPr/>
          <p:nvPr/>
        </p:nvSpPr>
        <p:spPr>
          <a:xfrm>
            <a:off x="822960" y="3108960"/>
            <a:ext cx="548640" cy="54864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20" name="Text 17"/>
          <p:cNvSpPr/>
          <p:nvPr/>
        </p:nvSpPr>
        <p:spPr>
          <a:xfrm>
            <a:off x="1554480" y="3063240"/>
            <a:ext cx="4023360" cy="320040"/>
          </a:xfrm>
          <a:prstGeom prst="rect">
            <a:avLst/>
          </a:prstGeom>
          <a:noFill/>
          <a:ln/>
        </p:spPr>
        <p:txBody>
          <a:bodyPr wrap="square" rtlCol="0" anchor="ctr"/>
          <a:lstStyle/>
          <a:p>
            <a:pPr indent="0" marL="0">
              <a:buNone/>
            </a:pPr>
            <a:r>
              <a:rPr lang="en-US" sz="1300" b="1" dirty="0">
                <a:solidFill>
                  <a:srgbClr val="000000"/>
                </a:solidFill>
              </a:rPr>
              <a:t>3. Define Test Objectives</a:t>
            </a:r>
            <a:endParaRPr lang="en-US" sz="1300" dirty="0"/>
          </a:p>
        </p:txBody>
      </p:sp>
      <p:sp>
        <p:nvSpPr>
          <p:cNvPr id="21" name="Text 18"/>
          <p:cNvSpPr/>
          <p:nvPr/>
        </p:nvSpPr>
        <p:spPr>
          <a:xfrm>
            <a:off x="1554480" y="3429000"/>
            <a:ext cx="4023360" cy="731520"/>
          </a:xfrm>
          <a:prstGeom prst="rect">
            <a:avLst/>
          </a:prstGeom>
          <a:noFill/>
          <a:ln/>
        </p:spPr>
        <p:txBody>
          <a:bodyPr wrap="square" rtlCol="0" anchor="ctr"/>
          <a:lstStyle/>
          <a:p>
            <a:pPr indent="0" marL="0">
              <a:buNone/>
            </a:pPr>
            <a:r>
              <a:rPr lang="en-US" sz="1100" dirty="0">
                <a:solidFill>
                  <a:srgbClr val="444444"/>
                </a:solidFill>
              </a:rPr>
              <a:t>Mục tiêu chất lượng, hiệu năng (&lt;1.5s page load), bảo mật Bcrypt/SQLi và Idempotency.</a:t>
            </a:r>
            <a:endParaRPr lang="en-US" sz="1100" dirty="0"/>
          </a:p>
        </p:txBody>
      </p:sp>
      <p:sp>
        <p:nvSpPr>
          <p:cNvPr id="22" name="Shape 19"/>
          <p:cNvSpPr/>
          <p:nvPr/>
        </p:nvSpPr>
        <p:spPr>
          <a:xfrm>
            <a:off x="6126480" y="2834640"/>
            <a:ext cx="5303520" cy="1463040"/>
          </a:xfrm>
          <a:prstGeom prst="rect">
            <a:avLst/>
          </a:prstGeom>
          <a:solidFill>
            <a:srgbClr val="FFFFFF"/>
          </a:solidFill>
          <a:ln w="12700">
            <a:solidFill>
              <a:srgbClr val="000000"/>
            </a:solidFill>
            <a:prstDash val="solid"/>
          </a:ln>
        </p:spPr>
      </p:sp>
      <p:sp>
        <p:nvSpPr>
          <p:cNvPr id="23" name="Shape 20"/>
          <p:cNvSpPr/>
          <p:nvPr/>
        </p:nvSpPr>
        <p:spPr>
          <a:xfrm>
            <a:off x="6400800" y="3108960"/>
            <a:ext cx="548640" cy="548640"/>
          </a:xfrm>
          <a:prstGeom prst="rect">
            <a:avLst/>
          </a:prstGeom>
          <a:solidFill>
            <a:srgbClr val="000000"/>
          </a:solidFill>
          <a:ln/>
        </p:spPr>
      </p:sp>
      <p:sp>
        <p:nvSpPr>
          <p:cNvPr id="24" name="Text 21"/>
          <p:cNvSpPr/>
          <p:nvPr/>
        </p:nvSpPr>
        <p:spPr>
          <a:xfrm>
            <a:off x="6400800" y="3108960"/>
            <a:ext cx="548640" cy="54864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25" name="Text 22"/>
          <p:cNvSpPr/>
          <p:nvPr/>
        </p:nvSpPr>
        <p:spPr>
          <a:xfrm>
            <a:off x="7132320" y="3063240"/>
            <a:ext cx="4023360" cy="320040"/>
          </a:xfrm>
          <a:prstGeom prst="rect">
            <a:avLst/>
          </a:prstGeom>
          <a:noFill/>
          <a:ln/>
        </p:spPr>
        <p:txBody>
          <a:bodyPr wrap="square" rtlCol="0" anchor="ctr"/>
          <a:lstStyle/>
          <a:p>
            <a:pPr indent="0" marL="0">
              <a:buNone/>
            </a:pPr>
            <a:r>
              <a:rPr lang="en-US" sz="1300" b="1" dirty="0">
                <a:solidFill>
                  <a:srgbClr val="000000"/>
                </a:solidFill>
              </a:rPr>
              <a:t>4. Resource Planning</a:t>
            </a:r>
            <a:endParaRPr lang="en-US" sz="1300" dirty="0"/>
          </a:p>
        </p:txBody>
      </p:sp>
      <p:sp>
        <p:nvSpPr>
          <p:cNvPr id="26" name="Text 23"/>
          <p:cNvSpPr/>
          <p:nvPr/>
        </p:nvSpPr>
        <p:spPr>
          <a:xfrm>
            <a:off x="7132320" y="3429000"/>
            <a:ext cx="4023360" cy="731520"/>
          </a:xfrm>
          <a:prstGeom prst="rect">
            <a:avLst/>
          </a:prstGeom>
          <a:noFill/>
          <a:ln/>
        </p:spPr>
        <p:txBody>
          <a:bodyPr wrap="square" rtlCol="0" anchor="ctr"/>
          <a:lstStyle/>
          <a:p>
            <a:pPr indent="0" marL="0">
              <a:buNone/>
            </a:pPr>
            <a:r>
              <a:rPr lang="en-US" sz="1100" dirty="0">
                <a:solidFill>
                  <a:srgbClr val="444444"/>
                </a:solidFill>
              </a:rPr>
              <a:t>Phân công nhân sự chi tiết 3 thành viên: Đăng Khải (Lead), Linh Ân, Phan Duy.</a:t>
            </a:r>
            <a:endParaRPr lang="en-US" sz="1100" dirty="0"/>
          </a:p>
        </p:txBody>
      </p:sp>
      <p:sp>
        <p:nvSpPr>
          <p:cNvPr id="27" name="Shape 24"/>
          <p:cNvSpPr/>
          <p:nvPr/>
        </p:nvSpPr>
        <p:spPr>
          <a:xfrm>
            <a:off x="548640" y="4572000"/>
            <a:ext cx="5303520" cy="1463040"/>
          </a:xfrm>
          <a:prstGeom prst="rect">
            <a:avLst/>
          </a:prstGeom>
          <a:solidFill>
            <a:srgbClr val="FFFFFF"/>
          </a:solidFill>
          <a:ln w="12700">
            <a:solidFill>
              <a:srgbClr val="000000"/>
            </a:solidFill>
            <a:prstDash val="solid"/>
          </a:ln>
        </p:spPr>
      </p:sp>
      <p:sp>
        <p:nvSpPr>
          <p:cNvPr id="28" name="Shape 25"/>
          <p:cNvSpPr/>
          <p:nvPr/>
        </p:nvSpPr>
        <p:spPr>
          <a:xfrm>
            <a:off x="822960" y="4846320"/>
            <a:ext cx="548640" cy="548640"/>
          </a:xfrm>
          <a:prstGeom prst="rect">
            <a:avLst/>
          </a:prstGeom>
          <a:solidFill>
            <a:srgbClr val="000000"/>
          </a:solidFill>
          <a:ln/>
        </p:spPr>
      </p:sp>
      <p:sp>
        <p:nvSpPr>
          <p:cNvPr id="29" name="Text 26"/>
          <p:cNvSpPr/>
          <p:nvPr/>
        </p:nvSpPr>
        <p:spPr>
          <a:xfrm>
            <a:off x="822960" y="4846320"/>
            <a:ext cx="548640" cy="54864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30" name="Text 27"/>
          <p:cNvSpPr/>
          <p:nvPr/>
        </p:nvSpPr>
        <p:spPr>
          <a:xfrm>
            <a:off x="1554480" y="4800600"/>
            <a:ext cx="4023360" cy="320040"/>
          </a:xfrm>
          <a:prstGeom prst="rect">
            <a:avLst/>
          </a:prstGeom>
          <a:noFill/>
          <a:ln/>
        </p:spPr>
        <p:txBody>
          <a:bodyPr wrap="square" rtlCol="0" anchor="ctr"/>
          <a:lstStyle/>
          <a:p>
            <a:pPr indent="0" marL="0">
              <a:buNone/>
            </a:pPr>
            <a:r>
              <a:rPr lang="en-US" sz="1300" b="1" dirty="0">
                <a:solidFill>
                  <a:srgbClr val="000000"/>
                </a:solidFill>
              </a:rPr>
              <a:t>5. Plan Test Environment</a:t>
            </a:r>
            <a:endParaRPr lang="en-US" sz="1300" dirty="0"/>
          </a:p>
        </p:txBody>
      </p:sp>
      <p:sp>
        <p:nvSpPr>
          <p:cNvPr id="31" name="Text 28"/>
          <p:cNvSpPr/>
          <p:nvPr/>
        </p:nvSpPr>
        <p:spPr>
          <a:xfrm>
            <a:off x="1554480" y="5166360"/>
            <a:ext cx="4023360" cy="731520"/>
          </a:xfrm>
          <a:prstGeom prst="rect">
            <a:avLst/>
          </a:prstGeom>
          <a:noFill/>
          <a:ln/>
        </p:spPr>
        <p:txBody>
          <a:bodyPr wrap="square" rtlCol="0" anchor="ctr"/>
          <a:lstStyle/>
          <a:p>
            <a:pPr indent="0" marL="0">
              <a:buNone/>
            </a:pPr>
            <a:r>
              <a:rPr lang="en-US" sz="1100" dirty="0">
                <a:solidFill>
                  <a:srgbClr val="444444"/>
                </a:solidFill>
              </a:rPr>
              <a:t>Cấu hình Staging Server (Ubuntu/PHP 8.1/MySQL 8.0), Mock MBBank API &amp; Browser matrix.</a:t>
            </a:r>
            <a:endParaRPr lang="en-US" sz="1100" dirty="0"/>
          </a:p>
        </p:txBody>
      </p:sp>
      <p:sp>
        <p:nvSpPr>
          <p:cNvPr id="32" name="Shape 29"/>
          <p:cNvSpPr/>
          <p:nvPr/>
        </p:nvSpPr>
        <p:spPr>
          <a:xfrm>
            <a:off x="6126480" y="4572000"/>
            <a:ext cx="5303520" cy="1463040"/>
          </a:xfrm>
          <a:prstGeom prst="rect">
            <a:avLst/>
          </a:prstGeom>
          <a:solidFill>
            <a:srgbClr val="FFFFFF"/>
          </a:solidFill>
          <a:ln w="12700">
            <a:solidFill>
              <a:srgbClr val="000000"/>
            </a:solidFill>
            <a:prstDash val="solid"/>
          </a:ln>
        </p:spPr>
      </p:sp>
      <p:sp>
        <p:nvSpPr>
          <p:cNvPr id="33" name="Shape 30"/>
          <p:cNvSpPr/>
          <p:nvPr/>
        </p:nvSpPr>
        <p:spPr>
          <a:xfrm>
            <a:off x="6400800" y="4846320"/>
            <a:ext cx="548640" cy="548640"/>
          </a:xfrm>
          <a:prstGeom prst="rect">
            <a:avLst/>
          </a:prstGeom>
          <a:solidFill>
            <a:srgbClr val="000000"/>
          </a:solidFill>
          <a:ln/>
        </p:spPr>
      </p:sp>
      <p:sp>
        <p:nvSpPr>
          <p:cNvPr id="34" name="Text 31"/>
          <p:cNvSpPr/>
          <p:nvPr/>
        </p:nvSpPr>
        <p:spPr>
          <a:xfrm>
            <a:off x="6400800" y="4846320"/>
            <a:ext cx="548640" cy="548640"/>
          </a:xfrm>
          <a:prstGeom prst="rect">
            <a:avLst/>
          </a:prstGeom>
          <a:noFill/>
          <a:ln/>
        </p:spPr>
        <p:txBody>
          <a:bodyPr wrap="square" rtlCol="0" anchor="ctr"/>
          <a:lstStyle/>
          <a:p>
            <a:pPr algn="ctr" indent="0" marL="0">
              <a:buNone/>
            </a:pPr>
            <a:r>
              <a:rPr lang="en-US" sz="1400" b="1" dirty="0">
                <a:solidFill>
                  <a:srgbClr val="FFFFFF"/>
                </a:solidFill>
              </a:rPr>
              <a:t>6</a:t>
            </a:r>
            <a:endParaRPr lang="en-US" sz="1400" dirty="0"/>
          </a:p>
        </p:txBody>
      </p:sp>
      <p:sp>
        <p:nvSpPr>
          <p:cNvPr id="35" name="Text 32"/>
          <p:cNvSpPr/>
          <p:nvPr/>
        </p:nvSpPr>
        <p:spPr>
          <a:xfrm>
            <a:off x="7132320" y="4800600"/>
            <a:ext cx="4023360" cy="320040"/>
          </a:xfrm>
          <a:prstGeom prst="rect">
            <a:avLst/>
          </a:prstGeom>
          <a:noFill/>
          <a:ln/>
        </p:spPr>
        <p:txBody>
          <a:bodyPr wrap="square" rtlCol="0" anchor="ctr"/>
          <a:lstStyle/>
          <a:p>
            <a:pPr indent="0" marL="0">
              <a:buNone/>
            </a:pPr>
            <a:r>
              <a:rPr lang="en-US" sz="1300" b="1" dirty="0">
                <a:solidFill>
                  <a:srgbClr val="000000"/>
                </a:solidFill>
              </a:rPr>
              <a:t>6. Schedule &amp; Estimation</a:t>
            </a:r>
            <a:endParaRPr lang="en-US" sz="1300" dirty="0"/>
          </a:p>
        </p:txBody>
      </p:sp>
      <p:sp>
        <p:nvSpPr>
          <p:cNvPr id="36" name="Text 33"/>
          <p:cNvSpPr/>
          <p:nvPr/>
        </p:nvSpPr>
        <p:spPr>
          <a:xfrm>
            <a:off x="7132320" y="5166360"/>
            <a:ext cx="4023360" cy="731520"/>
          </a:xfrm>
          <a:prstGeom prst="rect">
            <a:avLst/>
          </a:prstGeom>
          <a:noFill/>
          <a:ln/>
        </p:spPr>
        <p:txBody>
          <a:bodyPr wrap="square" rtlCol="0" anchor="ctr"/>
          <a:lstStyle/>
          <a:p>
            <a:pPr indent="0" marL="0">
              <a:buNone/>
            </a:pPr>
            <a:r>
              <a:rPr lang="en-US" sz="1100" dirty="0">
                <a:solidFill>
                  <a:srgbClr val="444444"/>
                </a:solidFill>
              </a:rPr>
              <a:t>Lịch trình 13 ngày (18/09 - 30/09) qua 5 giai đoạn &amp; tiêu chí nghiệm thu Go-Live.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PHÂN TÍCH SẢN PHẨM</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1. Phân Tích Sản Phẩm - Tổng Quan &amp; Kiến Trúc</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3 / 12</a:t>
            </a:r>
            <a:endParaRPr lang="en-US" sz="1100" dirty="0"/>
          </a:p>
        </p:txBody>
      </p:sp>
      <p:sp>
        <p:nvSpPr>
          <p:cNvPr id="7" name="Shape 4"/>
          <p:cNvSpPr/>
          <p:nvPr/>
        </p:nvSpPr>
        <p:spPr>
          <a:xfrm>
            <a:off x="548640" y="1005840"/>
            <a:ext cx="3657600" cy="5120640"/>
          </a:xfrm>
          <a:prstGeom prst="rect">
            <a:avLst/>
          </a:prstGeom>
          <a:solidFill>
            <a:srgbClr val="FFFFFF"/>
          </a:solidFill>
          <a:ln w="19050">
            <a:solidFill>
              <a:srgbClr val="000000"/>
            </a:solidFill>
            <a:prstDash val="solid"/>
          </a:ln>
        </p:spPr>
      </p:sp>
      <p:sp>
        <p:nvSpPr>
          <p:cNvPr id="8" name="Text 5"/>
          <p:cNvSpPr/>
          <p:nvPr/>
        </p:nvSpPr>
        <p:spPr>
          <a:xfrm>
            <a:off x="731520" y="1188720"/>
            <a:ext cx="3291840" cy="274320"/>
          </a:xfrm>
          <a:prstGeom prst="rect">
            <a:avLst/>
          </a:prstGeom>
          <a:noFill/>
          <a:ln/>
        </p:spPr>
        <p:txBody>
          <a:bodyPr wrap="square" rtlCol="0" anchor="ctr"/>
          <a:lstStyle/>
          <a:p>
            <a:pPr indent="0" marL="0">
              <a:buNone/>
            </a:pPr>
            <a:r>
              <a:rPr lang="en-US" sz="1200" b="1" dirty="0">
                <a:solidFill>
                  <a:srgbClr val="000000"/>
                </a:solidFill>
              </a:rPr>
              <a:t>TỔNG QUAN NỀN TẢNG</a:t>
            </a:r>
            <a:endParaRPr lang="en-US" sz="1200" dirty="0"/>
          </a:p>
        </p:txBody>
      </p:sp>
      <p:sp>
        <p:nvSpPr>
          <p:cNvPr id="9" name="Text 6"/>
          <p:cNvSpPr/>
          <p:nvPr/>
        </p:nvSpPr>
        <p:spPr>
          <a:xfrm>
            <a:off x="731520" y="1554480"/>
            <a:ext cx="3291840" cy="4389120"/>
          </a:xfrm>
          <a:prstGeom prst="rect">
            <a:avLst/>
          </a:prstGeom>
          <a:noFill/>
          <a:ln/>
        </p:spPr>
        <p:txBody>
          <a:bodyPr wrap="square" rtlCol="0" anchor="ctr"/>
          <a:lstStyle/>
          <a:p>
            <a:pPr indent="0" marL="0">
              <a:lnSpc>
                <a:spcPts val="1800"/>
              </a:lnSpc>
              <a:buNone/>
            </a:pPr>
            <a:r>
              <a:rPr lang="en-US" sz="1100" dirty="0">
                <a:solidFill>
                  <a:srgbClr val="444444"/>
                </a:solidFill>
              </a:rPr>
              <a:t>SuperSport (WebSports) là hệ sinh thái nền tảng web thể thao phong trào (Bóng đá, Cầu lông...):</a:t>
            </a:r>
            <a:endParaRPr lang="en-US" sz="1100" dirty="0"/>
          </a:p>
          <a:p>
            <a:pPr indent="0" marL="0">
              <a:lnSpc>
                <a:spcPts val="1800"/>
              </a:lnSpc>
              <a:buNone/>
            </a:pPr>
            <a:endParaRPr lang="en-US" sz="1100" dirty="0"/>
          </a:p>
          <a:p>
            <a:pPr indent="0" marL="0">
              <a:lnSpc>
                <a:spcPts val="1800"/>
              </a:lnSpc>
              <a:buNone/>
            </a:pPr>
            <a:r>
              <a:rPr lang="en-US" sz="1100" dirty="0">
                <a:solidFill>
                  <a:srgbClr val="444444"/>
                </a:solidFill>
              </a:rPr>
              <a:t>• Đặt sân trực tuyến &amp; áp mã voucher.</a:t>
            </a:r>
            <a:endParaRPr lang="en-US" sz="1100" dirty="0"/>
          </a:p>
          <a:p>
            <a:pPr indent="0" marL="0">
              <a:lnSpc>
                <a:spcPts val="1800"/>
              </a:lnSpc>
              <a:buNone/>
            </a:pPr>
            <a:r>
              <a:rPr lang="en-US" sz="1100" dirty="0">
                <a:solidFill>
                  <a:srgbClr val="444444"/>
                </a:solidFill>
              </a:rPr>
              <a:t>• Ghép đội, bắt kèo thi đấu thời gian thực.</a:t>
            </a:r>
            <a:endParaRPr lang="en-US" sz="1100" dirty="0"/>
          </a:p>
          <a:p>
            <a:pPr indent="0" marL="0">
              <a:lnSpc>
                <a:spcPts val="1800"/>
              </a:lnSpc>
              <a:buNone/>
            </a:pPr>
            <a:r>
              <a:rPr lang="en-US" sz="1100" dirty="0">
                <a:solidFill>
                  <a:srgbClr val="444444"/>
                </a:solidFill>
              </a:rPr>
              <a:t>• Cửa hàng phụ kiện dụng cụ thể thao.</a:t>
            </a:r>
            <a:endParaRPr lang="en-US" sz="1100" dirty="0"/>
          </a:p>
          <a:p>
            <a:pPr indent="0" marL="0">
              <a:lnSpc>
                <a:spcPts val="1800"/>
              </a:lnSpc>
              <a:buNone/>
            </a:pPr>
            <a:r>
              <a:rPr lang="en-US" sz="1100" dirty="0">
                <a:solidFill>
                  <a:srgbClr val="444444"/>
                </a:solidFill>
              </a:rPr>
              <a:t>• Ví điện tử &amp; nạp tiền VietQR MBBank.</a:t>
            </a:r>
            <a:endParaRPr lang="en-US" sz="1100" dirty="0"/>
          </a:p>
          <a:p>
            <a:pPr indent="0" marL="0">
              <a:lnSpc>
                <a:spcPts val="1800"/>
              </a:lnSpc>
              <a:buNone/>
            </a:pPr>
            <a:r>
              <a:rPr lang="en-US" sz="1100" dirty="0">
                <a:solidFill>
                  <a:srgbClr val="444444"/>
                </a:solidFill>
              </a:rPr>
              <a:t>• Mô hình SaaS cho đối tác chủ sân.</a:t>
            </a:r>
            <a:endParaRPr lang="en-US" sz="1100" dirty="0"/>
          </a:p>
          <a:p>
            <a:pPr indent="0" marL="0">
              <a:lnSpc>
                <a:spcPts val="1800"/>
              </a:lnSpc>
              <a:buNone/>
            </a:pPr>
            <a:r>
              <a:rPr lang="en-US" sz="1100" dirty="0">
                <a:solidFill>
                  <a:srgbClr val="444444"/>
                </a:solidFill>
              </a:rPr>
              <a:t>• Admin Control Panel quản trị toàn diện.</a:t>
            </a:r>
            <a:endParaRPr lang="en-US" sz="1100" dirty="0"/>
          </a:p>
        </p:txBody>
      </p:sp>
      <p:sp>
        <p:nvSpPr>
          <p:cNvPr id="10" name="Shape 7"/>
          <p:cNvSpPr/>
          <p:nvPr/>
        </p:nvSpPr>
        <p:spPr>
          <a:xfrm>
            <a:off x="4389120" y="1005840"/>
            <a:ext cx="7132320" cy="5120640"/>
          </a:xfrm>
          <a:prstGeom prst="rect">
            <a:avLst/>
          </a:prstGeom>
          <a:solidFill>
            <a:srgbClr val="FFFFFF"/>
          </a:solidFill>
          <a:ln w="12700">
            <a:solidFill>
              <a:srgbClr val="000000"/>
            </a:solidFill>
            <a:prstDash val="solid"/>
          </a:ln>
        </p:spPr>
      </p:sp>
      <p:sp>
        <p:nvSpPr>
          <p:cNvPr id="11" name="Text 8"/>
          <p:cNvSpPr/>
          <p:nvPr/>
        </p:nvSpPr>
        <p:spPr>
          <a:xfrm>
            <a:off x="4572000" y="1188720"/>
            <a:ext cx="6766560" cy="274320"/>
          </a:xfrm>
          <a:prstGeom prst="rect">
            <a:avLst/>
          </a:prstGeom>
          <a:noFill/>
          <a:ln/>
        </p:spPr>
        <p:txBody>
          <a:bodyPr wrap="square" rtlCol="0" anchor="ctr"/>
          <a:lstStyle/>
          <a:p>
            <a:pPr indent="0" marL="0">
              <a:buNone/>
            </a:pPr>
            <a:r>
              <a:rPr lang="en-US" sz="1200" b="1" dirty="0">
                <a:solidFill>
                  <a:srgbClr val="000000"/>
                </a:solidFill>
              </a:rPr>
              <a:t>KIẾN TRÚC VẬN HÀNH &amp; KỸ THUẬT (TECH STACK)</a:t>
            </a:r>
            <a:endParaRPr lang="en-US" sz="1200" dirty="0"/>
          </a:p>
        </p:txBody>
      </p:sp>
      <p:sp>
        <p:nvSpPr>
          <p:cNvPr id="12" name="Shape 9"/>
          <p:cNvSpPr/>
          <p:nvPr/>
        </p:nvSpPr>
        <p:spPr>
          <a:xfrm>
            <a:off x="4663440" y="1645920"/>
            <a:ext cx="6583680" cy="914400"/>
          </a:xfrm>
          <a:prstGeom prst="rect">
            <a:avLst/>
          </a:prstGeom>
          <a:solidFill>
            <a:srgbClr val="F8F9FA"/>
          </a:solidFill>
          <a:ln w="12700">
            <a:solidFill>
              <a:srgbClr val="CCCCCC"/>
            </a:solidFill>
            <a:prstDash val="solid"/>
          </a:ln>
        </p:spPr>
      </p:sp>
      <p:sp>
        <p:nvSpPr>
          <p:cNvPr id="13" name="Text 10"/>
          <p:cNvSpPr/>
          <p:nvPr/>
        </p:nvSpPr>
        <p:spPr>
          <a:xfrm>
            <a:off x="4846320" y="1783080"/>
            <a:ext cx="6217920" cy="228600"/>
          </a:xfrm>
          <a:prstGeom prst="rect">
            <a:avLst/>
          </a:prstGeom>
          <a:noFill/>
          <a:ln/>
        </p:spPr>
        <p:txBody>
          <a:bodyPr wrap="square" rtlCol="0" anchor="ctr"/>
          <a:lstStyle/>
          <a:p>
            <a:pPr indent="0" marL="0">
              <a:buNone/>
            </a:pPr>
            <a:r>
              <a:rPr lang="en-US" sz="1200" b="1" dirty="0">
                <a:solidFill>
                  <a:srgbClr val="000000"/>
                </a:solidFill>
              </a:rPr>
              <a:t>Web Client-Server</a:t>
            </a:r>
            <a:endParaRPr lang="en-US" sz="1200" dirty="0"/>
          </a:p>
        </p:txBody>
      </p:sp>
      <p:sp>
        <p:nvSpPr>
          <p:cNvPr id="14" name="Text 11"/>
          <p:cNvSpPr/>
          <p:nvPr/>
        </p:nvSpPr>
        <p:spPr>
          <a:xfrm>
            <a:off x="4846320" y="2057400"/>
            <a:ext cx="6217920" cy="411480"/>
          </a:xfrm>
          <a:prstGeom prst="rect">
            <a:avLst/>
          </a:prstGeom>
          <a:noFill/>
          <a:ln/>
        </p:spPr>
        <p:txBody>
          <a:bodyPr wrap="square" rtlCol="0" anchor="ctr"/>
          <a:lstStyle/>
          <a:p>
            <a:pPr indent="0" marL="0">
              <a:buNone/>
            </a:pPr>
            <a:r>
              <a:rPr lang="en-US" sz="1100" dirty="0">
                <a:solidFill>
                  <a:srgbClr val="444444"/>
                </a:solidFill>
              </a:rPr>
              <a:t>PHP 8.1+ Backend kết hợp MySQL 8.0 Database (14+ tables).</a:t>
            </a:r>
            <a:endParaRPr lang="en-US" sz="1100" dirty="0"/>
          </a:p>
        </p:txBody>
      </p:sp>
      <p:sp>
        <p:nvSpPr>
          <p:cNvPr id="15" name="Shape 12"/>
          <p:cNvSpPr/>
          <p:nvPr/>
        </p:nvSpPr>
        <p:spPr>
          <a:xfrm>
            <a:off x="4663440" y="2743200"/>
            <a:ext cx="6583680" cy="914400"/>
          </a:xfrm>
          <a:prstGeom prst="rect">
            <a:avLst/>
          </a:prstGeom>
          <a:solidFill>
            <a:srgbClr val="F8F9FA"/>
          </a:solidFill>
          <a:ln w="12700">
            <a:solidFill>
              <a:srgbClr val="CCCCCC"/>
            </a:solidFill>
            <a:prstDash val="solid"/>
          </a:ln>
        </p:spPr>
      </p:sp>
      <p:sp>
        <p:nvSpPr>
          <p:cNvPr id="16" name="Text 13"/>
          <p:cNvSpPr/>
          <p:nvPr/>
        </p:nvSpPr>
        <p:spPr>
          <a:xfrm>
            <a:off x="4846320" y="2880360"/>
            <a:ext cx="6217920" cy="228600"/>
          </a:xfrm>
          <a:prstGeom prst="rect">
            <a:avLst/>
          </a:prstGeom>
          <a:noFill/>
          <a:ln/>
        </p:spPr>
        <p:txBody>
          <a:bodyPr wrap="square" rtlCol="0" anchor="ctr"/>
          <a:lstStyle/>
          <a:p>
            <a:pPr indent="0" marL="0">
              <a:buNone/>
            </a:pPr>
            <a:r>
              <a:rPr lang="en-US" sz="1200" b="1" dirty="0">
                <a:solidFill>
                  <a:srgbClr val="000000"/>
                </a:solidFill>
              </a:rPr>
              <a:t>Real-time Protocol</a:t>
            </a:r>
            <a:endParaRPr lang="en-US" sz="1200" dirty="0"/>
          </a:p>
        </p:txBody>
      </p:sp>
      <p:sp>
        <p:nvSpPr>
          <p:cNvPr id="17" name="Text 14"/>
          <p:cNvSpPr/>
          <p:nvPr/>
        </p:nvSpPr>
        <p:spPr>
          <a:xfrm>
            <a:off x="4846320" y="3154680"/>
            <a:ext cx="6217920" cy="411480"/>
          </a:xfrm>
          <a:prstGeom prst="rect">
            <a:avLst/>
          </a:prstGeom>
          <a:noFill/>
          <a:ln/>
        </p:spPr>
        <p:txBody>
          <a:bodyPr wrap="square" rtlCol="0" anchor="ctr"/>
          <a:lstStyle/>
          <a:p>
            <a:pPr indent="0" marL="0">
              <a:buNone/>
            </a:pPr>
            <a:r>
              <a:rPr lang="en-US" sz="1100" dirty="0">
                <a:solidFill>
                  <a:srgbClr val="444444"/>
                </a:solidFill>
              </a:rPr>
              <a:t>WebSocket Service (Port 8080) phục vụ chat &amp; khớp kèo tức thì.</a:t>
            </a:r>
            <a:endParaRPr lang="en-US" sz="1100" dirty="0"/>
          </a:p>
        </p:txBody>
      </p:sp>
      <p:sp>
        <p:nvSpPr>
          <p:cNvPr id="18" name="Shape 15"/>
          <p:cNvSpPr/>
          <p:nvPr/>
        </p:nvSpPr>
        <p:spPr>
          <a:xfrm>
            <a:off x="4663440" y="3840480"/>
            <a:ext cx="6583680" cy="914400"/>
          </a:xfrm>
          <a:prstGeom prst="rect">
            <a:avLst/>
          </a:prstGeom>
          <a:solidFill>
            <a:srgbClr val="F8F9FA"/>
          </a:solidFill>
          <a:ln w="12700">
            <a:solidFill>
              <a:srgbClr val="CCCCCC"/>
            </a:solidFill>
            <a:prstDash val="solid"/>
          </a:ln>
        </p:spPr>
      </p:sp>
      <p:sp>
        <p:nvSpPr>
          <p:cNvPr id="19" name="Text 16"/>
          <p:cNvSpPr/>
          <p:nvPr/>
        </p:nvSpPr>
        <p:spPr>
          <a:xfrm>
            <a:off x="4846320" y="3977640"/>
            <a:ext cx="6217920" cy="228600"/>
          </a:xfrm>
          <a:prstGeom prst="rect">
            <a:avLst/>
          </a:prstGeom>
          <a:noFill/>
          <a:ln/>
        </p:spPr>
        <p:txBody>
          <a:bodyPr wrap="square" rtlCol="0" anchor="ctr"/>
          <a:lstStyle/>
          <a:p>
            <a:pPr indent="0" marL="0">
              <a:buNone/>
            </a:pPr>
            <a:r>
              <a:rPr lang="en-US" sz="1200" b="1" dirty="0">
                <a:solidFill>
                  <a:srgbClr val="000000"/>
                </a:solidFill>
              </a:rPr>
              <a:t>Payment Gateway</a:t>
            </a:r>
            <a:endParaRPr lang="en-US" sz="1200" dirty="0"/>
          </a:p>
        </p:txBody>
      </p:sp>
      <p:sp>
        <p:nvSpPr>
          <p:cNvPr id="20" name="Text 17"/>
          <p:cNvSpPr/>
          <p:nvPr/>
        </p:nvSpPr>
        <p:spPr>
          <a:xfrm>
            <a:off x="4846320" y="4251960"/>
            <a:ext cx="6217920" cy="411480"/>
          </a:xfrm>
          <a:prstGeom prst="rect">
            <a:avLst/>
          </a:prstGeom>
          <a:noFill/>
          <a:ln/>
        </p:spPr>
        <p:txBody>
          <a:bodyPr wrap="square" rtlCol="0" anchor="ctr"/>
          <a:lstStyle/>
          <a:p>
            <a:pPr indent="0" marL="0">
              <a:buNone/>
            </a:pPr>
            <a:r>
              <a:rPr lang="en-US" sz="1100" dirty="0">
                <a:solidFill>
                  <a:srgbClr val="444444"/>
                </a:solidFill>
              </a:rPr>
              <a:t>VietQR MBBank API + SieuThiCode Webhook / CronJob đối soát tự động.</a:t>
            </a:r>
            <a:endParaRPr lang="en-US" sz="1100" dirty="0"/>
          </a:p>
        </p:txBody>
      </p:sp>
      <p:sp>
        <p:nvSpPr>
          <p:cNvPr id="21" name="Shape 18"/>
          <p:cNvSpPr/>
          <p:nvPr/>
        </p:nvSpPr>
        <p:spPr>
          <a:xfrm>
            <a:off x="4663440" y="4937760"/>
            <a:ext cx="6583680" cy="914400"/>
          </a:xfrm>
          <a:prstGeom prst="rect">
            <a:avLst/>
          </a:prstGeom>
          <a:solidFill>
            <a:srgbClr val="F8F9FA"/>
          </a:solidFill>
          <a:ln w="12700">
            <a:solidFill>
              <a:srgbClr val="CCCCCC"/>
            </a:solidFill>
            <a:prstDash val="solid"/>
          </a:ln>
        </p:spPr>
      </p:sp>
      <p:sp>
        <p:nvSpPr>
          <p:cNvPr id="22" name="Text 19"/>
          <p:cNvSpPr/>
          <p:nvPr/>
        </p:nvSpPr>
        <p:spPr>
          <a:xfrm>
            <a:off x="4846320" y="5074920"/>
            <a:ext cx="6217920" cy="228600"/>
          </a:xfrm>
          <a:prstGeom prst="rect">
            <a:avLst/>
          </a:prstGeom>
          <a:noFill/>
          <a:ln/>
        </p:spPr>
        <p:txBody>
          <a:bodyPr wrap="square" rtlCol="0" anchor="ctr"/>
          <a:lstStyle/>
          <a:p>
            <a:pPr indent="0" marL="0">
              <a:buNone/>
            </a:pPr>
            <a:r>
              <a:rPr lang="en-US" sz="1200" b="1" dirty="0">
                <a:solidFill>
                  <a:srgbClr val="000000"/>
                </a:solidFill>
              </a:rPr>
              <a:t>Security &amp; Hash</a:t>
            </a:r>
            <a:endParaRPr lang="en-US" sz="1200" dirty="0"/>
          </a:p>
        </p:txBody>
      </p:sp>
      <p:sp>
        <p:nvSpPr>
          <p:cNvPr id="23" name="Text 20"/>
          <p:cNvSpPr/>
          <p:nvPr/>
        </p:nvSpPr>
        <p:spPr>
          <a:xfrm>
            <a:off x="4846320" y="5349240"/>
            <a:ext cx="6217920" cy="411480"/>
          </a:xfrm>
          <a:prstGeom prst="rect">
            <a:avLst/>
          </a:prstGeom>
          <a:noFill/>
          <a:ln/>
        </p:spPr>
        <p:txBody>
          <a:bodyPr wrap="square" rtlCol="0" anchor="ctr"/>
          <a:lstStyle/>
          <a:p>
            <a:pPr indent="0" marL="0">
              <a:buNone/>
            </a:pPr>
            <a:r>
              <a:rPr lang="en-US" sz="1100" dirty="0">
                <a:solidFill>
                  <a:srgbClr val="444444"/>
                </a:solidFill>
              </a:rPr>
              <a:t>Bcrypt Password Hashing, Prepared Statements (mysqli_stmt) &amp; RBAC.</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PHÂN TÍCH SẢN PHẨM</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1. Phân Tích 7 Mô-đun Chức Năng Cốt Lõi</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4 / 12</a:t>
            </a:r>
            <a:endParaRPr lang="en-US" sz="1100" dirty="0"/>
          </a:p>
        </p:txBody>
      </p:sp>
      <p:sp>
        <p:nvSpPr>
          <p:cNvPr id="7" name="Shape 4"/>
          <p:cNvSpPr/>
          <p:nvPr/>
        </p:nvSpPr>
        <p:spPr>
          <a:xfrm>
            <a:off x="548640" y="1097280"/>
            <a:ext cx="3566160" cy="2286000"/>
          </a:xfrm>
          <a:prstGeom prst="rect">
            <a:avLst/>
          </a:prstGeom>
          <a:solidFill>
            <a:srgbClr val="FFFFFF"/>
          </a:solidFill>
          <a:ln w="19050">
            <a:solidFill>
              <a:srgbClr val="000000"/>
            </a:solidFill>
            <a:prstDash val="solid"/>
          </a:ln>
        </p:spPr>
      </p:sp>
      <p:sp>
        <p:nvSpPr>
          <p:cNvPr id="8" name="Text 5"/>
          <p:cNvSpPr/>
          <p:nvPr/>
        </p:nvSpPr>
        <p:spPr>
          <a:xfrm>
            <a:off x="731520" y="1280160"/>
            <a:ext cx="3200400" cy="320040"/>
          </a:xfrm>
          <a:prstGeom prst="rect">
            <a:avLst/>
          </a:prstGeom>
          <a:noFill/>
          <a:ln/>
        </p:spPr>
        <p:txBody>
          <a:bodyPr wrap="square" rtlCol="0" anchor="ctr"/>
          <a:lstStyle/>
          <a:p>
            <a:pPr indent="0" marL="0">
              <a:buNone/>
            </a:pPr>
            <a:r>
              <a:rPr lang="en-US" sz="1300" b="1" dirty="0">
                <a:solidFill>
                  <a:srgbClr val="000000"/>
                </a:solidFill>
              </a:rPr>
              <a:t>1. Đặt Sân Thể Thao</a:t>
            </a:r>
            <a:endParaRPr lang="en-US" sz="1300" dirty="0"/>
          </a:p>
        </p:txBody>
      </p:sp>
      <p:sp>
        <p:nvSpPr>
          <p:cNvPr id="9" name="Text 6"/>
          <p:cNvSpPr/>
          <p:nvPr/>
        </p:nvSpPr>
        <p:spPr>
          <a:xfrm>
            <a:off x="731520" y="169164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Xem khung giờ trống (Time slot), chọn loại sân (5,7,11, đơn/đôi), áp voucher (`SUMMER30`), thanh toán VietQR / Ví.</a:t>
            </a:r>
            <a:endParaRPr lang="en-US" sz="1100" dirty="0"/>
          </a:p>
        </p:txBody>
      </p:sp>
      <p:sp>
        <p:nvSpPr>
          <p:cNvPr id="10" name="Shape 7"/>
          <p:cNvSpPr/>
          <p:nvPr/>
        </p:nvSpPr>
        <p:spPr>
          <a:xfrm>
            <a:off x="4297680" y="1097280"/>
            <a:ext cx="3566160" cy="2286000"/>
          </a:xfrm>
          <a:prstGeom prst="rect">
            <a:avLst/>
          </a:prstGeom>
          <a:solidFill>
            <a:srgbClr val="FFFFFF"/>
          </a:solidFill>
          <a:ln w="19050">
            <a:solidFill>
              <a:srgbClr val="000000"/>
            </a:solidFill>
            <a:prstDash val="solid"/>
          </a:ln>
        </p:spPr>
      </p:sp>
      <p:sp>
        <p:nvSpPr>
          <p:cNvPr id="11" name="Text 8"/>
          <p:cNvSpPr/>
          <p:nvPr/>
        </p:nvSpPr>
        <p:spPr>
          <a:xfrm>
            <a:off x="4480560" y="1280160"/>
            <a:ext cx="3200400" cy="320040"/>
          </a:xfrm>
          <a:prstGeom prst="rect">
            <a:avLst/>
          </a:prstGeom>
          <a:noFill/>
          <a:ln/>
        </p:spPr>
        <p:txBody>
          <a:bodyPr wrap="square" rtlCol="0" anchor="ctr"/>
          <a:lstStyle/>
          <a:p>
            <a:pPr indent="0" marL="0">
              <a:buNone/>
            </a:pPr>
            <a:r>
              <a:rPr lang="en-US" sz="1300" b="1" dirty="0">
                <a:solidFill>
                  <a:srgbClr val="000000"/>
                </a:solidFill>
              </a:rPr>
              <a:t>2. Ghép Đội &amp; Bắt Kèo</a:t>
            </a:r>
            <a:endParaRPr lang="en-US" sz="1300" dirty="0"/>
          </a:p>
        </p:txBody>
      </p:sp>
      <p:sp>
        <p:nvSpPr>
          <p:cNvPr id="12" name="Text 9"/>
          <p:cNvSpPr/>
          <p:nvPr/>
        </p:nvSpPr>
        <p:spPr>
          <a:xfrm>
            <a:off x="4480560" y="169164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Tạo CLB, đăng bài bắt kèo (`team_challenges`), tuyển thành viên vãng lai (`recruitment`), BXH điểm số.</a:t>
            </a:r>
            <a:endParaRPr lang="en-US" sz="1100" dirty="0"/>
          </a:p>
        </p:txBody>
      </p:sp>
      <p:sp>
        <p:nvSpPr>
          <p:cNvPr id="13" name="Shape 10"/>
          <p:cNvSpPr/>
          <p:nvPr/>
        </p:nvSpPr>
        <p:spPr>
          <a:xfrm>
            <a:off x="8046720" y="1097280"/>
            <a:ext cx="3566160" cy="2286000"/>
          </a:xfrm>
          <a:prstGeom prst="rect">
            <a:avLst/>
          </a:prstGeom>
          <a:solidFill>
            <a:srgbClr val="FFFFFF"/>
          </a:solidFill>
          <a:ln w="19050">
            <a:solidFill>
              <a:srgbClr val="000000"/>
            </a:solidFill>
            <a:prstDash val="solid"/>
          </a:ln>
        </p:spPr>
      </p:sp>
      <p:sp>
        <p:nvSpPr>
          <p:cNvPr id="14" name="Text 11"/>
          <p:cNvSpPr/>
          <p:nvPr/>
        </p:nvSpPr>
        <p:spPr>
          <a:xfrm>
            <a:off x="8229600" y="1280160"/>
            <a:ext cx="3200400" cy="320040"/>
          </a:xfrm>
          <a:prstGeom prst="rect">
            <a:avLst/>
          </a:prstGeom>
          <a:noFill/>
          <a:ln/>
        </p:spPr>
        <p:txBody>
          <a:bodyPr wrap="square" rtlCol="0" anchor="ctr"/>
          <a:lstStyle/>
          <a:p>
            <a:pPr indent="0" marL="0">
              <a:buNone/>
            </a:pPr>
            <a:r>
              <a:rPr lang="en-US" sz="1300" b="1" dirty="0">
                <a:solidFill>
                  <a:srgbClr val="000000"/>
                </a:solidFill>
              </a:rPr>
              <a:t>3. Cửa Hàng E-Commerce</a:t>
            </a:r>
            <a:endParaRPr lang="en-US" sz="1300" dirty="0"/>
          </a:p>
        </p:txBody>
      </p:sp>
      <p:sp>
        <p:nvSpPr>
          <p:cNvPr id="15" name="Text 12"/>
          <p:cNvSpPr/>
          <p:nvPr/>
        </p:nvSpPr>
        <p:spPr>
          <a:xfrm>
            <a:off x="8229600" y="169164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Giày, áo đấu, phụ kiện, giỏ hàng real-time, đặt hàng (`orders`, `order_items`), theo dõi vận chuyển.</a:t>
            </a:r>
            <a:endParaRPr lang="en-US" sz="1100" dirty="0"/>
          </a:p>
        </p:txBody>
      </p:sp>
      <p:sp>
        <p:nvSpPr>
          <p:cNvPr id="16" name="Shape 13"/>
          <p:cNvSpPr/>
          <p:nvPr/>
        </p:nvSpPr>
        <p:spPr>
          <a:xfrm>
            <a:off x="548640" y="3657600"/>
            <a:ext cx="3566160" cy="2286000"/>
          </a:xfrm>
          <a:prstGeom prst="rect">
            <a:avLst/>
          </a:prstGeom>
          <a:solidFill>
            <a:srgbClr val="FFFFFF"/>
          </a:solidFill>
          <a:ln w="19050">
            <a:solidFill>
              <a:srgbClr val="000000"/>
            </a:solidFill>
            <a:prstDash val="solid"/>
          </a:ln>
        </p:spPr>
      </p:sp>
      <p:sp>
        <p:nvSpPr>
          <p:cNvPr id="17" name="Text 14"/>
          <p:cNvSpPr/>
          <p:nvPr/>
        </p:nvSpPr>
        <p:spPr>
          <a:xfrm>
            <a:off x="731520" y="3840480"/>
            <a:ext cx="3200400" cy="320040"/>
          </a:xfrm>
          <a:prstGeom prst="rect">
            <a:avLst/>
          </a:prstGeom>
          <a:noFill/>
          <a:ln/>
        </p:spPr>
        <p:txBody>
          <a:bodyPr wrap="square" rtlCol="0" anchor="ctr"/>
          <a:lstStyle/>
          <a:p>
            <a:pPr indent="0" marL="0">
              <a:buNone/>
            </a:pPr>
            <a:r>
              <a:rPr lang="en-US" sz="1300" b="1" dirty="0">
                <a:solidFill>
                  <a:srgbClr val="000000"/>
                </a:solidFill>
              </a:rPr>
              <a:t>4. Ví VietQR MBBank</a:t>
            </a:r>
            <a:endParaRPr lang="en-US" sz="1300" dirty="0"/>
          </a:p>
        </p:txBody>
      </p:sp>
      <p:sp>
        <p:nvSpPr>
          <p:cNvPr id="18" name="Text 15"/>
          <p:cNvSpPr/>
          <p:nvPr/>
        </p:nvSpPr>
        <p:spPr>
          <a:xfrm>
            <a:off x="731520" y="425196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Quản lý `users.balance`, Nạp tiền cú pháp `NAP [ID]`, CronJob đối soát biến động ngân hàng tự động.</a:t>
            </a:r>
            <a:endParaRPr lang="en-US" sz="1100" dirty="0"/>
          </a:p>
        </p:txBody>
      </p:sp>
      <p:sp>
        <p:nvSpPr>
          <p:cNvPr id="19" name="Shape 16"/>
          <p:cNvSpPr/>
          <p:nvPr/>
        </p:nvSpPr>
        <p:spPr>
          <a:xfrm>
            <a:off x="4297680" y="3657600"/>
            <a:ext cx="3566160" cy="2286000"/>
          </a:xfrm>
          <a:prstGeom prst="rect">
            <a:avLst/>
          </a:prstGeom>
          <a:solidFill>
            <a:srgbClr val="FFFFFF"/>
          </a:solidFill>
          <a:ln w="19050">
            <a:solidFill>
              <a:srgbClr val="000000"/>
            </a:solidFill>
            <a:prstDash val="solid"/>
          </a:ln>
        </p:spPr>
      </p:sp>
      <p:sp>
        <p:nvSpPr>
          <p:cNvPr id="20" name="Text 17"/>
          <p:cNvSpPr/>
          <p:nvPr/>
        </p:nvSpPr>
        <p:spPr>
          <a:xfrm>
            <a:off x="4480560" y="3840480"/>
            <a:ext cx="3200400" cy="320040"/>
          </a:xfrm>
          <a:prstGeom prst="rect">
            <a:avLst/>
          </a:prstGeom>
          <a:noFill/>
          <a:ln/>
        </p:spPr>
        <p:txBody>
          <a:bodyPr wrap="square" rtlCol="0" anchor="ctr"/>
          <a:lstStyle/>
          <a:p>
            <a:pPr indent="0" marL="0">
              <a:buNone/>
            </a:pPr>
            <a:r>
              <a:rPr lang="en-US" sz="1300" b="1" dirty="0">
                <a:solidFill>
                  <a:srgbClr val="000000"/>
                </a:solidFill>
              </a:rPr>
              <a:t>5. SaaS Reseller Portal</a:t>
            </a:r>
            <a:endParaRPr lang="en-US" sz="1300" dirty="0"/>
          </a:p>
        </p:txBody>
      </p:sp>
      <p:sp>
        <p:nvSpPr>
          <p:cNvPr id="21" name="Text 18"/>
          <p:cNvSpPr/>
          <p:nvPr/>
        </p:nvSpPr>
        <p:spPr>
          <a:xfrm>
            <a:off x="4480560" y="425196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Chủ sân đăng ký kinh doanh, quản lý gói SaaS 199k/tháng, tự động gia hạn `SUPER RENEW [USER_ID]`.</a:t>
            </a:r>
            <a:endParaRPr lang="en-US" sz="1100" dirty="0"/>
          </a:p>
        </p:txBody>
      </p:sp>
      <p:sp>
        <p:nvSpPr>
          <p:cNvPr id="22" name="Shape 19"/>
          <p:cNvSpPr/>
          <p:nvPr/>
        </p:nvSpPr>
        <p:spPr>
          <a:xfrm>
            <a:off x="8046720" y="3657600"/>
            <a:ext cx="3566160" cy="2286000"/>
          </a:xfrm>
          <a:prstGeom prst="rect">
            <a:avLst/>
          </a:prstGeom>
          <a:solidFill>
            <a:srgbClr val="FFFFFF"/>
          </a:solidFill>
          <a:ln w="19050">
            <a:solidFill>
              <a:srgbClr val="000000"/>
            </a:solidFill>
            <a:prstDash val="solid"/>
          </a:ln>
        </p:spPr>
      </p:sp>
      <p:sp>
        <p:nvSpPr>
          <p:cNvPr id="23" name="Text 20"/>
          <p:cNvSpPr/>
          <p:nvPr/>
        </p:nvSpPr>
        <p:spPr>
          <a:xfrm>
            <a:off x="8229600" y="3840480"/>
            <a:ext cx="3200400" cy="320040"/>
          </a:xfrm>
          <a:prstGeom prst="rect">
            <a:avLst/>
          </a:prstGeom>
          <a:noFill/>
          <a:ln/>
        </p:spPr>
        <p:txBody>
          <a:bodyPr wrap="square" rtlCol="0" anchor="ctr"/>
          <a:lstStyle/>
          <a:p>
            <a:pPr indent="0" marL="0">
              <a:buNone/>
            </a:pPr>
            <a:r>
              <a:rPr lang="en-US" sz="1300" b="1" dirty="0">
                <a:solidFill>
                  <a:srgbClr val="000000"/>
                </a:solidFill>
              </a:rPr>
              <a:t>6 &amp; 7. Admin &amp; Cộng Đồng</a:t>
            </a:r>
            <a:endParaRPr lang="en-US" sz="1300" dirty="0"/>
          </a:p>
        </p:txBody>
      </p:sp>
      <p:sp>
        <p:nvSpPr>
          <p:cNvPr id="24" name="Text 21"/>
          <p:cNvSpPr/>
          <p:nvPr/>
        </p:nvSpPr>
        <p:spPr>
          <a:xfrm>
            <a:off x="8229600" y="4251960"/>
            <a:ext cx="3200400" cy="1463040"/>
          </a:xfrm>
          <a:prstGeom prst="rect">
            <a:avLst/>
          </a:prstGeom>
          <a:noFill/>
          <a:ln/>
        </p:spPr>
        <p:txBody>
          <a:bodyPr wrap="square" rtlCol="0" anchor="ctr"/>
          <a:lstStyle/>
          <a:p>
            <a:pPr indent="0" marL="0">
              <a:lnSpc>
                <a:spcPts val="1600"/>
              </a:lnSpc>
              <a:buNone/>
            </a:pPr>
            <a:r>
              <a:rPr lang="en-US" sz="1100" dirty="0">
                <a:solidFill>
                  <a:srgbClr val="444444"/>
                </a:solidFill>
              </a:rPr>
              <a:t>Dashboard báo cáo tài chính, phân quyền Admin, duyệt chủ sân, CRUD bảo trì sân bóng, Tin tức &amp;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CHIẾN LƯỢC KIỂM THỬ</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2. Chiến Lược Kiểm Thử - Phạm Vi &amp; Phương Pháp</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5 / 12</a:t>
            </a:r>
            <a:endParaRPr lang="en-US" sz="1100" dirty="0"/>
          </a:p>
        </p:txBody>
      </p:sp>
      <p:sp>
        <p:nvSpPr>
          <p:cNvPr id="7" name="Shape 4"/>
          <p:cNvSpPr/>
          <p:nvPr/>
        </p:nvSpPr>
        <p:spPr>
          <a:xfrm>
            <a:off x="548640" y="1005840"/>
            <a:ext cx="5303520" cy="5120640"/>
          </a:xfrm>
          <a:prstGeom prst="rect">
            <a:avLst/>
          </a:prstGeom>
          <a:solidFill>
            <a:srgbClr val="FFFFFF"/>
          </a:solidFill>
          <a:ln w="19050">
            <a:solidFill>
              <a:srgbClr val="000000"/>
            </a:solidFill>
            <a:prstDash val="solid"/>
          </a:ln>
        </p:spPr>
      </p:sp>
      <p:sp>
        <p:nvSpPr>
          <p:cNvPr id="8" name="Text 5"/>
          <p:cNvSpPr/>
          <p:nvPr/>
        </p:nvSpPr>
        <p:spPr>
          <a:xfrm>
            <a:off x="731520" y="1188720"/>
            <a:ext cx="4937760" cy="274320"/>
          </a:xfrm>
          <a:prstGeom prst="rect">
            <a:avLst/>
          </a:prstGeom>
          <a:noFill/>
          <a:ln/>
        </p:spPr>
        <p:txBody>
          <a:bodyPr wrap="square" rtlCol="0" anchor="ctr"/>
          <a:lstStyle/>
          <a:p>
            <a:pPr indent="0" marL="0">
              <a:buNone/>
            </a:pPr>
            <a:r>
              <a:rPr lang="en-US" sz="1200" b="1" dirty="0">
                <a:solidFill>
                  <a:srgbClr val="000000"/>
                </a:solidFill>
              </a:rPr>
              <a:t>PHẠM VI KIỂM THỬ (SCOPE IN)</a:t>
            </a:r>
            <a:endParaRPr lang="en-US" sz="1200" dirty="0"/>
          </a:p>
        </p:txBody>
      </p:sp>
      <p:sp>
        <p:nvSpPr>
          <p:cNvPr id="9" name="Text 6"/>
          <p:cNvSpPr/>
          <p:nvPr/>
        </p:nvSpPr>
        <p:spPr>
          <a:xfrm>
            <a:off x="731520" y="1645920"/>
            <a:ext cx="4937760" cy="4206240"/>
          </a:xfrm>
          <a:prstGeom prst="rect">
            <a:avLst/>
          </a:prstGeom>
          <a:noFill/>
          <a:ln/>
        </p:spPr>
        <p:txBody>
          <a:bodyPr wrap="square" rtlCol="0" anchor="ctr"/>
          <a:lstStyle/>
          <a:p>
            <a:pPr indent="0" marL="0">
              <a:lnSpc>
                <a:spcPts val="2000"/>
              </a:lnSpc>
              <a:buNone/>
            </a:pPr>
            <a:r>
              <a:rPr lang="en-US" sz="1100" dirty="0">
                <a:solidFill>
                  <a:srgbClr val="444444"/>
                </a:solidFill>
              </a:rPr>
              <a:t>✓ Tất cả 7 Mô-đun Web Client &amp; Admin Panel.</a:t>
            </a:r>
            <a:endParaRPr lang="en-US" sz="1100" dirty="0"/>
          </a:p>
          <a:p>
            <a:pPr indent="0" marL="0">
              <a:lnSpc>
                <a:spcPts val="2000"/>
              </a:lnSpc>
              <a:buNone/>
            </a:pPr>
            <a:r>
              <a:rPr lang="en-US" sz="1100" dirty="0">
                <a:solidFill>
                  <a:srgbClr val="444444"/>
                </a:solidFill>
              </a:rPr>
              <a:t>✓ Tích hợp VietQR MBBank API &amp; SieuThiCode Webhook/CronJob.</a:t>
            </a:r>
            <a:endParaRPr lang="en-US" sz="1100" dirty="0"/>
          </a:p>
          <a:p>
            <a:pPr indent="0" marL="0">
              <a:lnSpc>
                <a:spcPts val="2000"/>
              </a:lnSpc>
              <a:buNone/>
            </a:pPr>
            <a:r>
              <a:rPr lang="en-US" sz="1100" dirty="0">
                <a:solidFill>
                  <a:srgbClr val="444444"/>
                </a:solidFill>
              </a:rPr>
              <a:t>✓ Kết nối Real-time WebSockets (Port 8080).</a:t>
            </a:r>
            <a:endParaRPr lang="en-US" sz="1100" dirty="0"/>
          </a:p>
          <a:p>
            <a:pPr indent="0" marL="0">
              <a:lnSpc>
                <a:spcPts val="2000"/>
              </a:lnSpc>
              <a:buNone/>
            </a:pPr>
            <a:r>
              <a:rPr lang="en-US" sz="1100" dirty="0">
                <a:solidFill>
                  <a:srgbClr val="444444"/>
                </a:solidFill>
              </a:rPr>
              <a:t>✓ Kiểm thử Idempotency (chống nạp tiền 2 lần).</a:t>
            </a:r>
            <a:endParaRPr lang="en-US" sz="1100" dirty="0"/>
          </a:p>
          <a:p>
            <a:pPr indent="0" marL="0">
              <a:lnSpc>
                <a:spcPts val="2000"/>
              </a:lnSpc>
              <a:buNone/>
            </a:pPr>
            <a:r>
              <a:rPr lang="en-US" sz="1100" dirty="0">
                <a:solidFill>
                  <a:srgbClr val="444444"/>
                </a:solidFill>
              </a:rPr>
              <a:t>✓ Kiểm thử Hiệu năng (JMeter 500 concurrent users).</a:t>
            </a:r>
            <a:endParaRPr lang="en-US" sz="1100" dirty="0"/>
          </a:p>
          <a:p>
            <a:pPr indent="0" marL="0">
              <a:lnSpc>
                <a:spcPts val="2000"/>
              </a:lnSpc>
              <a:buNone/>
            </a:pPr>
            <a:r>
              <a:rPr lang="en-US" sz="1100" dirty="0">
                <a:solidFill>
                  <a:srgbClr val="444444"/>
                </a:solidFill>
              </a:rPr>
              <a:t>✓ Kiểm thử Bảo mật OWASP Top 10 (SQLi, XSS, Bcrypt).</a:t>
            </a:r>
            <a:endParaRPr lang="en-US" sz="1100" dirty="0"/>
          </a:p>
          <a:p>
            <a:pPr indent="0" marL="0">
              <a:lnSpc>
                <a:spcPts val="2000"/>
              </a:lnSpc>
              <a:buNone/>
            </a:pPr>
            <a:r>
              <a:rPr lang="en-US" sz="1100" dirty="0">
                <a:solidFill>
                  <a:srgbClr val="444444"/>
                </a:solidFill>
              </a:rPr>
              <a:t>✓ Responsive layout trên Chrome, Firefox, Safari, Mobile.</a:t>
            </a:r>
            <a:endParaRPr lang="en-US" sz="1100" dirty="0"/>
          </a:p>
        </p:txBody>
      </p:sp>
      <p:sp>
        <p:nvSpPr>
          <p:cNvPr id="10" name="Shape 7"/>
          <p:cNvSpPr/>
          <p:nvPr/>
        </p:nvSpPr>
        <p:spPr>
          <a:xfrm>
            <a:off x="6217920" y="1005840"/>
            <a:ext cx="5303520" cy="5120640"/>
          </a:xfrm>
          <a:prstGeom prst="rect">
            <a:avLst/>
          </a:prstGeom>
          <a:solidFill>
            <a:srgbClr val="FFFFFF"/>
          </a:solidFill>
          <a:ln w="12700">
            <a:solidFill>
              <a:srgbClr val="CCCCCC"/>
            </a:solidFill>
            <a:prstDash val="solid"/>
          </a:ln>
        </p:spPr>
      </p:sp>
      <p:sp>
        <p:nvSpPr>
          <p:cNvPr id="11" name="Text 8"/>
          <p:cNvSpPr/>
          <p:nvPr/>
        </p:nvSpPr>
        <p:spPr>
          <a:xfrm>
            <a:off x="6400800" y="1188720"/>
            <a:ext cx="4937760" cy="274320"/>
          </a:xfrm>
          <a:prstGeom prst="rect">
            <a:avLst/>
          </a:prstGeom>
          <a:noFill/>
          <a:ln/>
        </p:spPr>
        <p:txBody>
          <a:bodyPr wrap="square" rtlCol="0" anchor="ctr"/>
          <a:lstStyle/>
          <a:p>
            <a:pPr indent="0" marL="0">
              <a:buNone/>
            </a:pPr>
            <a:r>
              <a:rPr lang="en-US" sz="1200" b="1" dirty="0">
                <a:solidFill>
                  <a:srgbClr val="000000"/>
                </a:solidFill>
              </a:rPr>
              <a:t>NGOÀI PHẠM VI (SCOPE OUT)</a:t>
            </a:r>
            <a:endParaRPr lang="en-US" sz="1200" dirty="0"/>
          </a:p>
        </p:txBody>
      </p:sp>
      <p:sp>
        <p:nvSpPr>
          <p:cNvPr id="12" name="Text 9"/>
          <p:cNvSpPr/>
          <p:nvPr/>
        </p:nvSpPr>
        <p:spPr>
          <a:xfrm>
            <a:off x="6400800" y="1645920"/>
            <a:ext cx="4937760" cy="4206240"/>
          </a:xfrm>
          <a:prstGeom prst="rect">
            <a:avLst/>
          </a:prstGeom>
          <a:noFill/>
          <a:ln/>
        </p:spPr>
        <p:txBody>
          <a:bodyPr wrap="square" rtlCol="0" anchor="ctr"/>
          <a:lstStyle/>
          <a:p>
            <a:pPr indent="0" marL="0">
              <a:lnSpc>
                <a:spcPts val="2000"/>
              </a:lnSpc>
              <a:buNone/>
            </a:pPr>
            <a:r>
              <a:rPr lang="en-US" sz="1100" dirty="0">
                <a:solidFill>
                  <a:srgbClr val="444444"/>
                </a:solidFill>
              </a:rPr>
              <a:t>✕ Ứng dụng Di động Native (React Native / Flutter).</a:t>
            </a:r>
            <a:endParaRPr lang="en-US" sz="1100" dirty="0"/>
          </a:p>
          <a:p>
            <a:pPr indent="0" marL="0">
              <a:lnSpc>
                <a:spcPts val="2000"/>
              </a:lnSpc>
              <a:buNone/>
            </a:pPr>
            <a:r>
              <a:rPr lang="en-US" sz="1100" dirty="0">
                <a:solidFill>
                  <a:srgbClr val="444444"/>
                </a:solidFill>
              </a:rPr>
              <a:t>✕ Cổng thanh toán ngoài (VNPay, MoMo) - Thuộc Open Issues.</a:t>
            </a:r>
            <a:endParaRPr lang="en-US" sz="1100" dirty="0"/>
          </a:p>
          <a:p>
            <a:pPr indent="0" marL="0">
              <a:lnSpc>
                <a:spcPts val="2000"/>
              </a:lnSpc>
              <a:buNone/>
            </a:pPr>
            <a:r>
              <a:rPr lang="en-US" sz="1100" dirty="0">
                <a:solidFill>
                  <a:srgbClr val="444444"/>
                </a:solidFill>
              </a:rPr>
              <a:t>✕ Thuật toán AI gợi ý đối thủ &amp; khung giờ thông minh.</a:t>
            </a:r>
            <a:endParaRPr lang="en-US" sz="1100" dirty="0"/>
          </a:p>
          <a:p>
            <a:pPr indent="0" marL="0">
              <a:lnSpc>
                <a:spcPts val="2000"/>
              </a:lnSpc>
              <a:buNone/>
            </a:pPr>
            <a:r>
              <a:rPr lang="en-US" sz="1100" dirty="0">
                <a:solidFill>
                  <a:srgbClr val="444444"/>
                </a:solidFill>
              </a:rPr>
              <a:t>✕ Hạ tầng phần cứng vật lý phía Ngân hàng thật.</a:t>
            </a:r>
            <a:endParaRPr lang="en-US" sz="1100" dirty="0"/>
          </a:p>
          <a:p>
            <a:pPr indent="0" marL="0">
              <a:lnSpc>
                <a:spcPts val="2000"/>
              </a:lnSpc>
              <a:buNone/>
            </a:pPr>
            <a:endParaRPr lang="en-US" sz="1100" dirty="0"/>
          </a:p>
          <a:p>
            <a:pPr indent="0" marL="0">
              <a:lnSpc>
                <a:spcPts val="2000"/>
              </a:lnSpc>
              <a:buNone/>
            </a:pPr>
            <a:r>
              <a:rPr lang="en-US" sz="1100" dirty="0">
                <a:solidFill>
                  <a:srgbClr val="444444"/>
                </a:solidFill>
              </a:rPr>
              <a:t>PHƯƠNG PHÁP KIỂM THỬ:</a:t>
            </a:r>
            <a:endParaRPr lang="en-US" sz="1100" dirty="0"/>
          </a:p>
          <a:p>
            <a:pPr indent="0" marL="0">
              <a:lnSpc>
                <a:spcPts val="2000"/>
              </a:lnSpc>
              <a:buNone/>
            </a:pPr>
            <a:r>
              <a:rPr lang="en-US" sz="1100" dirty="0">
                <a:solidFill>
                  <a:srgbClr val="444444"/>
                </a:solidFill>
              </a:rPr>
              <a:t>• Black-box Functional E2E Testing.</a:t>
            </a:r>
            <a:endParaRPr lang="en-US" sz="1100" dirty="0"/>
          </a:p>
          <a:p>
            <a:pPr indent="0" marL="0">
              <a:lnSpc>
                <a:spcPts val="2000"/>
              </a:lnSpc>
              <a:buNone/>
            </a:pPr>
            <a:r>
              <a:rPr lang="en-US" sz="1100" dirty="0">
                <a:solidFill>
                  <a:srgbClr val="444444"/>
                </a:solidFill>
              </a:rPr>
              <a:t>• REST API &amp; Idempotency Testing.</a:t>
            </a:r>
            <a:endParaRPr lang="en-US" sz="1100" dirty="0"/>
          </a:p>
          <a:p>
            <a:pPr indent="0" marL="0">
              <a:lnSpc>
                <a:spcPts val="2000"/>
              </a:lnSpc>
              <a:buNone/>
            </a:pPr>
            <a:r>
              <a:rPr lang="en-US" sz="1100" dirty="0">
                <a:solidFill>
                  <a:srgbClr val="444444"/>
                </a:solidFill>
              </a:rPr>
              <a:t>• Automation Regression Suite (Selenium/Playwright).</a:t>
            </a:r>
            <a:endParaRPr lang="en-US" sz="1100" dirty="0"/>
          </a:p>
          <a:p>
            <a:pPr indent="0" marL="0">
              <a:lnSpc>
                <a:spcPts val="2000"/>
              </a:lnSpc>
              <a:buNone/>
            </a:pPr>
            <a:r>
              <a:rPr lang="en-US" sz="1100" dirty="0">
                <a:solidFill>
                  <a:srgbClr val="444444"/>
                </a:solidFill>
              </a:rPr>
              <a:t>• OWASP Security Penetration Testing.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CHIẾN LƯỢC KIỂM THỬ</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2. Tiêu Chí Nghiệm Thu &amp; Quản Lý Rủi Ro</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6 / 12</a:t>
            </a:r>
            <a:endParaRPr lang="en-US" sz="1100" dirty="0"/>
          </a:p>
        </p:txBody>
      </p:sp>
      <p:sp>
        <p:nvSpPr>
          <p:cNvPr id="7" name="Shape 4"/>
          <p:cNvSpPr/>
          <p:nvPr/>
        </p:nvSpPr>
        <p:spPr>
          <a:xfrm>
            <a:off x="548640" y="1005840"/>
            <a:ext cx="5303520" cy="5120640"/>
          </a:xfrm>
          <a:prstGeom prst="rect">
            <a:avLst/>
          </a:prstGeom>
          <a:solidFill>
            <a:srgbClr val="FFFFFF"/>
          </a:solidFill>
          <a:ln w="12700">
            <a:solidFill>
              <a:srgbClr val="000000"/>
            </a:solidFill>
            <a:prstDash val="solid"/>
          </a:ln>
        </p:spPr>
      </p:sp>
      <p:sp>
        <p:nvSpPr>
          <p:cNvPr id="8" name="Text 5"/>
          <p:cNvSpPr/>
          <p:nvPr/>
        </p:nvSpPr>
        <p:spPr>
          <a:xfrm>
            <a:off x="731520" y="1188720"/>
            <a:ext cx="4937760" cy="274320"/>
          </a:xfrm>
          <a:prstGeom prst="rect">
            <a:avLst/>
          </a:prstGeom>
          <a:noFill/>
          <a:ln/>
        </p:spPr>
        <p:txBody>
          <a:bodyPr wrap="square" rtlCol="0" anchor="ctr"/>
          <a:lstStyle/>
          <a:p>
            <a:pPr indent="0" marL="0">
              <a:buNone/>
            </a:pPr>
            <a:r>
              <a:rPr lang="en-US" sz="1200" b="1" dirty="0">
                <a:solidFill>
                  <a:srgbClr val="000000"/>
                </a:solidFill>
              </a:rPr>
              <a:t>TIÊU CHÍ PASS / FAIL &amp; EXIT CRITERIA</a:t>
            </a:r>
            <a:endParaRPr lang="en-US" sz="1200" dirty="0"/>
          </a:p>
        </p:txBody>
      </p:sp>
      <p:sp>
        <p:nvSpPr>
          <p:cNvPr id="9" name="Text 6"/>
          <p:cNvSpPr/>
          <p:nvPr/>
        </p:nvSpPr>
        <p:spPr>
          <a:xfrm>
            <a:off x="731520" y="1645920"/>
            <a:ext cx="4937760" cy="4206240"/>
          </a:xfrm>
          <a:prstGeom prst="rect">
            <a:avLst/>
          </a:prstGeom>
          <a:noFill/>
          <a:ln/>
        </p:spPr>
        <p:txBody>
          <a:bodyPr wrap="square" rtlCol="0" anchor="ctr"/>
          <a:lstStyle/>
          <a:p>
            <a:pPr indent="0" marL="0">
              <a:lnSpc>
                <a:spcPts val="2000"/>
              </a:lnSpc>
              <a:buNone/>
            </a:pPr>
            <a:r>
              <a:rPr lang="en-US" sz="1100" dirty="0">
                <a:solidFill>
                  <a:srgbClr val="444444"/>
                </a:solidFill>
              </a:rPr>
              <a:t>• 100% Critical Test Cases Pass (Đặt sân, VietQR, Đơn hàng, RBAC).</a:t>
            </a:r>
            <a:endParaRPr lang="en-US" sz="1100" dirty="0"/>
          </a:p>
          <a:p>
            <a:pPr indent="0" marL="0">
              <a:lnSpc>
                <a:spcPts val="2000"/>
              </a:lnSpc>
              <a:buNone/>
            </a:pPr>
            <a:r>
              <a:rPr lang="en-US" sz="1100" dirty="0">
                <a:solidFill>
                  <a:srgbClr val="444444"/>
                </a:solidFill>
              </a:rPr>
              <a:t>• Zero Severity 1 (Fatal/Blocker) Defects khi Release.</a:t>
            </a:r>
            <a:endParaRPr lang="en-US" sz="1100" dirty="0"/>
          </a:p>
          <a:p>
            <a:pPr indent="0" marL="0">
              <a:lnSpc>
                <a:spcPts val="2000"/>
              </a:lnSpc>
              <a:buNone/>
            </a:pPr>
            <a:r>
              <a:rPr lang="en-US" sz="1100" dirty="0">
                <a:solidFill>
                  <a:srgbClr val="444444"/>
                </a:solidFill>
              </a:rPr>
              <a:t>• Zero Severity 2 (Critical) Defects chưa giải quyết.</a:t>
            </a:r>
            <a:endParaRPr lang="en-US" sz="1100" dirty="0"/>
          </a:p>
          <a:p>
            <a:pPr indent="0" marL="0">
              <a:lnSpc>
                <a:spcPts val="2000"/>
              </a:lnSpc>
              <a:buNone/>
            </a:pPr>
            <a:r>
              <a:rPr lang="en-US" sz="1100" dirty="0">
                <a:solidFill>
                  <a:srgbClr val="444444"/>
                </a:solidFill>
              </a:rPr>
              <a:t>• Severity 3 (Medium/Low) &lt; 5% và có giải pháp tạm thời (workaround).</a:t>
            </a:r>
            <a:endParaRPr lang="en-US" sz="1100" dirty="0"/>
          </a:p>
          <a:p>
            <a:pPr indent="0" marL="0">
              <a:lnSpc>
                <a:spcPts val="2000"/>
              </a:lnSpc>
              <a:buNone/>
            </a:pPr>
            <a:r>
              <a:rPr lang="en-US" sz="1100" dirty="0">
                <a:solidFill>
                  <a:srgbClr val="444444"/>
                </a:solidFill>
              </a:rPr>
              <a:t>• Tỷ lệ bao phủ Use Cases &amp; API đạt &gt; 95%.</a:t>
            </a:r>
            <a:endParaRPr lang="en-US" sz="1100" dirty="0"/>
          </a:p>
          <a:p>
            <a:pPr indent="0" marL="0">
              <a:lnSpc>
                <a:spcPts val="2000"/>
              </a:lnSpc>
              <a:buNone/>
            </a:pPr>
            <a:r>
              <a:rPr lang="en-US" sz="1100" dirty="0">
                <a:solidFill>
                  <a:srgbClr val="444444"/>
                </a:solidFill>
              </a:rPr>
              <a:t>• Ký biên bản nghiệm thu Go-Live Approval.</a:t>
            </a:r>
            <a:endParaRPr lang="en-US" sz="1100" dirty="0"/>
          </a:p>
        </p:txBody>
      </p:sp>
      <p:sp>
        <p:nvSpPr>
          <p:cNvPr id="10" name="Shape 7"/>
          <p:cNvSpPr/>
          <p:nvPr/>
        </p:nvSpPr>
        <p:spPr>
          <a:xfrm>
            <a:off x="6217920" y="1005840"/>
            <a:ext cx="5303520" cy="5120640"/>
          </a:xfrm>
          <a:prstGeom prst="rect">
            <a:avLst/>
          </a:prstGeom>
          <a:solidFill>
            <a:srgbClr val="FFFFFF"/>
          </a:solidFill>
          <a:ln w="12700">
            <a:solidFill>
              <a:srgbClr val="000000"/>
            </a:solidFill>
            <a:prstDash val="solid"/>
          </a:ln>
        </p:spPr>
      </p:sp>
      <p:sp>
        <p:nvSpPr>
          <p:cNvPr id="11" name="Text 8"/>
          <p:cNvSpPr/>
          <p:nvPr/>
        </p:nvSpPr>
        <p:spPr>
          <a:xfrm>
            <a:off x="6400800" y="1188720"/>
            <a:ext cx="4937760" cy="274320"/>
          </a:xfrm>
          <a:prstGeom prst="rect">
            <a:avLst/>
          </a:prstGeom>
          <a:noFill/>
          <a:ln/>
        </p:spPr>
        <p:txBody>
          <a:bodyPr wrap="square" rtlCol="0" anchor="ctr"/>
          <a:lstStyle/>
          <a:p>
            <a:pPr indent="0" marL="0">
              <a:buNone/>
            </a:pPr>
            <a:r>
              <a:rPr lang="en-US" sz="1200" b="1" dirty="0">
                <a:solidFill>
                  <a:srgbClr val="000000"/>
                </a:solidFill>
              </a:rPr>
              <a:t>MA TRẬN QUẢN LÝ RỦI RO &amp; BIỆN PHÁP</a:t>
            </a:r>
            <a:endParaRPr lang="en-US" sz="1200" dirty="0"/>
          </a:p>
        </p:txBody>
      </p:sp>
      <p:sp>
        <p:nvSpPr>
          <p:cNvPr id="12" name="Shape 9"/>
          <p:cNvSpPr/>
          <p:nvPr/>
        </p:nvSpPr>
        <p:spPr>
          <a:xfrm>
            <a:off x="6492240" y="1645920"/>
            <a:ext cx="4754880" cy="914400"/>
          </a:xfrm>
          <a:prstGeom prst="rect">
            <a:avLst/>
          </a:prstGeom>
          <a:solidFill>
            <a:srgbClr val="F8F9FA"/>
          </a:solidFill>
          <a:ln w="12700">
            <a:solidFill>
              <a:srgbClr val="CCCCCC"/>
            </a:solidFill>
            <a:prstDash val="solid"/>
          </a:ln>
        </p:spPr>
      </p:sp>
      <p:sp>
        <p:nvSpPr>
          <p:cNvPr id="13" name="Text 10"/>
          <p:cNvSpPr/>
          <p:nvPr/>
        </p:nvSpPr>
        <p:spPr>
          <a:xfrm>
            <a:off x="6583680" y="1737360"/>
            <a:ext cx="4572000" cy="228600"/>
          </a:xfrm>
          <a:prstGeom prst="rect">
            <a:avLst/>
          </a:prstGeom>
          <a:noFill/>
          <a:ln/>
        </p:spPr>
        <p:txBody>
          <a:bodyPr wrap="square" rtlCol="0" anchor="ctr"/>
          <a:lstStyle/>
          <a:p>
            <a:pPr indent="0" marL="0">
              <a:buNone/>
            </a:pPr>
            <a:r>
              <a:rPr lang="en-US" sz="1100" b="1" dirty="0">
                <a:solidFill>
                  <a:srgbClr val="000000"/>
                </a:solidFill>
              </a:rPr>
              <a:t>Rủi ro 1: MBBank API bị gián đoạn</a:t>
            </a:r>
            <a:endParaRPr lang="en-US" sz="1100" dirty="0"/>
          </a:p>
        </p:txBody>
      </p:sp>
      <p:sp>
        <p:nvSpPr>
          <p:cNvPr id="14" name="Text 11"/>
          <p:cNvSpPr/>
          <p:nvPr/>
        </p:nvSpPr>
        <p:spPr>
          <a:xfrm>
            <a:off x="6583680" y="2011680"/>
            <a:ext cx="4572000" cy="457200"/>
          </a:xfrm>
          <a:prstGeom prst="rect">
            <a:avLst/>
          </a:prstGeom>
          <a:noFill/>
          <a:ln/>
        </p:spPr>
        <p:txBody>
          <a:bodyPr wrap="square" rtlCol="0" anchor="ctr"/>
          <a:lstStyle/>
          <a:p>
            <a:pPr indent="0" marL="0">
              <a:buNone/>
            </a:pPr>
            <a:r>
              <a:rPr lang="en-US" sz="1000" dirty="0">
                <a:solidFill>
                  <a:srgbClr val="444444"/>
                </a:solidFill>
              </a:rPr>
              <a:t>Giảm thiểu: Xây dựng Mock Server API giả lập Webhook đối soát số dư.</a:t>
            </a:r>
            <a:endParaRPr lang="en-US" sz="1000" dirty="0"/>
          </a:p>
        </p:txBody>
      </p:sp>
      <p:sp>
        <p:nvSpPr>
          <p:cNvPr id="15" name="Shape 12"/>
          <p:cNvSpPr/>
          <p:nvPr/>
        </p:nvSpPr>
        <p:spPr>
          <a:xfrm>
            <a:off x="6492240" y="2743200"/>
            <a:ext cx="4754880" cy="914400"/>
          </a:xfrm>
          <a:prstGeom prst="rect">
            <a:avLst/>
          </a:prstGeom>
          <a:solidFill>
            <a:srgbClr val="F8F9FA"/>
          </a:solidFill>
          <a:ln w="12700">
            <a:solidFill>
              <a:srgbClr val="CCCCCC"/>
            </a:solidFill>
            <a:prstDash val="solid"/>
          </a:ln>
        </p:spPr>
      </p:sp>
      <p:sp>
        <p:nvSpPr>
          <p:cNvPr id="16" name="Text 13"/>
          <p:cNvSpPr/>
          <p:nvPr/>
        </p:nvSpPr>
        <p:spPr>
          <a:xfrm>
            <a:off x="6583680" y="2834640"/>
            <a:ext cx="4572000" cy="228600"/>
          </a:xfrm>
          <a:prstGeom prst="rect">
            <a:avLst/>
          </a:prstGeom>
          <a:noFill/>
          <a:ln/>
        </p:spPr>
        <p:txBody>
          <a:bodyPr wrap="square" rtlCol="0" anchor="ctr"/>
          <a:lstStyle/>
          <a:p>
            <a:pPr indent="0" marL="0">
              <a:buNone/>
            </a:pPr>
            <a:r>
              <a:rPr lang="en-US" sz="1100" b="1" dirty="0">
                <a:solidFill>
                  <a:srgbClr val="000000"/>
                </a:solidFill>
              </a:rPr>
              <a:t>Rủi ro 2: Race Condition trùng khung giờ</a:t>
            </a:r>
            <a:endParaRPr lang="en-US" sz="1100" dirty="0"/>
          </a:p>
        </p:txBody>
      </p:sp>
      <p:sp>
        <p:nvSpPr>
          <p:cNvPr id="17" name="Text 14"/>
          <p:cNvSpPr/>
          <p:nvPr/>
        </p:nvSpPr>
        <p:spPr>
          <a:xfrm>
            <a:off x="6583680" y="3108960"/>
            <a:ext cx="4572000" cy="457200"/>
          </a:xfrm>
          <a:prstGeom prst="rect">
            <a:avLst/>
          </a:prstGeom>
          <a:noFill/>
          <a:ln/>
        </p:spPr>
        <p:txBody>
          <a:bodyPr wrap="square" rtlCol="0" anchor="ctr"/>
          <a:lstStyle/>
          <a:p>
            <a:pPr indent="0" marL="0">
              <a:buNone/>
            </a:pPr>
            <a:r>
              <a:rPr lang="en-US" sz="1000" dirty="0">
                <a:solidFill>
                  <a:srgbClr val="444444"/>
                </a:solidFill>
              </a:rPr>
              <a:t>Giảm thiểu: Kiểm thử 5 request đặt sân cùng millisecond để check DB Lock.</a:t>
            </a:r>
            <a:endParaRPr lang="en-US" sz="1000" dirty="0"/>
          </a:p>
        </p:txBody>
      </p:sp>
      <p:sp>
        <p:nvSpPr>
          <p:cNvPr id="18" name="Shape 15"/>
          <p:cNvSpPr/>
          <p:nvPr/>
        </p:nvSpPr>
        <p:spPr>
          <a:xfrm>
            <a:off x="6492240" y="3840480"/>
            <a:ext cx="4754880" cy="914400"/>
          </a:xfrm>
          <a:prstGeom prst="rect">
            <a:avLst/>
          </a:prstGeom>
          <a:solidFill>
            <a:srgbClr val="F8F9FA"/>
          </a:solidFill>
          <a:ln w="12700">
            <a:solidFill>
              <a:srgbClr val="CCCCCC"/>
            </a:solidFill>
            <a:prstDash val="solid"/>
          </a:ln>
        </p:spPr>
      </p:sp>
      <p:sp>
        <p:nvSpPr>
          <p:cNvPr id="19" name="Text 16"/>
          <p:cNvSpPr/>
          <p:nvPr/>
        </p:nvSpPr>
        <p:spPr>
          <a:xfrm>
            <a:off x="6583680" y="3931920"/>
            <a:ext cx="4572000" cy="228600"/>
          </a:xfrm>
          <a:prstGeom prst="rect">
            <a:avLst/>
          </a:prstGeom>
          <a:noFill/>
          <a:ln/>
        </p:spPr>
        <p:txBody>
          <a:bodyPr wrap="square" rtlCol="0" anchor="ctr"/>
          <a:lstStyle/>
          <a:p>
            <a:pPr indent="0" marL="0">
              <a:buNone/>
            </a:pPr>
            <a:r>
              <a:rPr lang="en-US" sz="1100" b="1" dirty="0">
                <a:solidFill>
                  <a:srgbClr val="000000"/>
                </a:solidFill>
              </a:rPr>
              <a:t>Rủi ro 3: Đứt kết nối WebSockets real-time</a:t>
            </a:r>
            <a:endParaRPr lang="en-US" sz="1100" dirty="0"/>
          </a:p>
        </p:txBody>
      </p:sp>
      <p:sp>
        <p:nvSpPr>
          <p:cNvPr id="20" name="Text 17"/>
          <p:cNvSpPr/>
          <p:nvPr/>
        </p:nvSpPr>
        <p:spPr>
          <a:xfrm>
            <a:off x="6583680" y="4206240"/>
            <a:ext cx="4572000" cy="457200"/>
          </a:xfrm>
          <a:prstGeom prst="rect">
            <a:avLst/>
          </a:prstGeom>
          <a:noFill/>
          <a:ln/>
        </p:spPr>
        <p:txBody>
          <a:bodyPr wrap="square" rtlCol="0" anchor="ctr"/>
          <a:lstStyle/>
          <a:p>
            <a:pPr indent="0" marL="0">
              <a:buNone/>
            </a:pPr>
            <a:r>
              <a:rPr lang="en-US" sz="1000" dirty="0">
                <a:solidFill>
                  <a:srgbClr val="444444"/>
                </a:solidFill>
              </a:rPr>
              <a:t>Giảm thiểu: Giả lập rớt mạng để verify cơ chế auto-reconnect của Client.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MỤC TIÊU KIỂM THỬ</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3. Xác Định Mục Tiêu Kiểm Thử (Test Objectives)</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7 / 12</a:t>
            </a:r>
            <a:endParaRPr lang="en-US" sz="1100" dirty="0"/>
          </a:p>
        </p:txBody>
      </p:sp>
      <p:sp>
        <p:nvSpPr>
          <p:cNvPr id="7" name="Shape 4"/>
          <p:cNvSpPr/>
          <p:nvPr/>
        </p:nvSpPr>
        <p:spPr>
          <a:xfrm>
            <a:off x="548640" y="1005840"/>
            <a:ext cx="2651760" cy="1463040"/>
          </a:xfrm>
          <a:prstGeom prst="rect">
            <a:avLst/>
          </a:prstGeom>
          <a:solidFill>
            <a:srgbClr val="FFFFFF"/>
          </a:solidFill>
          <a:ln w="19050">
            <a:solidFill>
              <a:srgbClr val="000000"/>
            </a:solidFill>
            <a:prstDash val="solid"/>
          </a:ln>
        </p:spPr>
      </p:sp>
      <p:sp>
        <p:nvSpPr>
          <p:cNvPr id="8" name="Text 5"/>
          <p:cNvSpPr/>
          <p:nvPr/>
        </p:nvSpPr>
        <p:spPr>
          <a:xfrm>
            <a:off x="548640" y="1188720"/>
            <a:ext cx="2651760" cy="457200"/>
          </a:xfrm>
          <a:prstGeom prst="rect">
            <a:avLst/>
          </a:prstGeom>
          <a:noFill/>
          <a:ln/>
        </p:spPr>
        <p:txBody>
          <a:bodyPr wrap="square" rtlCol="0" anchor="ctr"/>
          <a:lstStyle/>
          <a:p>
            <a:pPr algn="ctr" indent="0" marL="0">
              <a:buNone/>
            </a:pPr>
            <a:r>
              <a:rPr lang="en-US" sz="2400" b="1" dirty="0">
                <a:solidFill>
                  <a:srgbClr val="000000"/>
                </a:solidFill>
              </a:rPr>
              <a:t>&lt; 1.5s</a:t>
            </a:r>
            <a:endParaRPr lang="en-US" sz="2400" dirty="0"/>
          </a:p>
        </p:txBody>
      </p:sp>
      <p:sp>
        <p:nvSpPr>
          <p:cNvPr id="9" name="Text 6"/>
          <p:cNvSpPr/>
          <p:nvPr/>
        </p:nvSpPr>
        <p:spPr>
          <a:xfrm>
            <a:off x="548640" y="1737360"/>
            <a:ext cx="2651760" cy="274320"/>
          </a:xfrm>
          <a:prstGeom prst="rect">
            <a:avLst/>
          </a:prstGeom>
          <a:noFill/>
          <a:ln/>
        </p:spPr>
        <p:txBody>
          <a:bodyPr wrap="square" rtlCol="0" anchor="ctr"/>
          <a:lstStyle/>
          <a:p>
            <a:pPr algn="ctr" indent="0" marL="0">
              <a:buNone/>
            </a:pPr>
            <a:r>
              <a:rPr lang="en-US" sz="1000" b="1" dirty="0">
                <a:solidFill>
                  <a:srgbClr val="444444"/>
                </a:solidFill>
              </a:rPr>
              <a:t>PAGE LOAD TIME</a:t>
            </a:r>
            <a:endParaRPr lang="en-US" sz="1000" dirty="0"/>
          </a:p>
        </p:txBody>
      </p:sp>
      <p:sp>
        <p:nvSpPr>
          <p:cNvPr id="10" name="Shape 7"/>
          <p:cNvSpPr/>
          <p:nvPr/>
        </p:nvSpPr>
        <p:spPr>
          <a:xfrm>
            <a:off x="3383280" y="1005840"/>
            <a:ext cx="2651760" cy="1463040"/>
          </a:xfrm>
          <a:prstGeom prst="rect">
            <a:avLst/>
          </a:prstGeom>
          <a:solidFill>
            <a:srgbClr val="FFFFFF"/>
          </a:solidFill>
          <a:ln w="19050">
            <a:solidFill>
              <a:srgbClr val="000000"/>
            </a:solidFill>
            <a:prstDash val="solid"/>
          </a:ln>
        </p:spPr>
      </p:sp>
      <p:sp>
        <p:nvSpPr>
          <p:cNvPr id="11" name="Text 8"/>
          <p:cNvSpPr/>
          <p:nvPr/>
        </p:nvSpPr>
        <p:spPr>
          <a:xfrm>
            <a:off x="3383280" y="1188720"/>
            <a:ext cx="2651760" cy="457200"/>
          </a:xfrm>
          <a:prstGeom prst="rect">
            <a:avLst/>
          </a:prstGeom>
          <a:noFill/>
          <a:ln/>
        </p:spPr>
        <p:txBody>
          <a:bodyPr wrap="square" rtlCol="0" anchor="ctr"/>
          <a:lstStyle/>
          <a:p>
            <a:pPr algn="ctr" indent="0" marL="0">
              <a:buNone/>
            </a:pPr>
            <a:r>
              <a:rPr lang="en-US" sz="2400" b="1" dirty="0">
                <a:solidFill>
                  <a:srgbClr val="000000"/>
                </a:solidFill>
              </a:rPr>
              <a:t>&lt; 300ms</a:t>
            </a:r>
            <a:endParaRPr lang="en-US" sz="2400" dirty="0"/>
          </a:p>
        </p:txBody>
      </p:sp>
      <p:sp>
        <p:nvSpPr>
          <p:cNvPr id="12" name="Text 9"/>
          <p:cNvSpPr/>
          <p:nvPr/>
        </p:nvSpPr>
        <p:spPr>
          <a:xfrm>
            <a:off x="3383280" y="1737360"/>
            <a:ext cx="2651760" cy="274320"/>
          </a:xfrm>
          <a:prstGeom prst="rect">
            <a:avLst/>
          </a:prstGeom>
          <a:noFill/>
          <a:ln/>
        </p:spPr>
        <p:txBody>
          <a:bodyPr wrap="square" rtlCol="0" anchor="ctr"/>
          <a:lstStyle/>
          <a:p>
            <a:pPr algn="ctr" indent="0" marL="0">
              <a:buNone/>
            </a:pPr>
            <a:r>
              <a:rPr lang="en-US" sz="1000" b="1" dirty="0">
                <a:solidFill>
                  <a:srgbClr val="444444"/>
                </a:solidFill>
              </a:rPr>
              <a:t>API RESPONSE TIME</a:t>
            </a:r>
            <a:endParaRPr lang="en-US" sz="1000" dirty="0"/>
          </a:p>
        </p:txBody>
      </p:sp>
      <p:sp>
        <p:nvSpPr>
          <p:cNvPr id="13" name="Shape 10"/>
          <p:cNvSpPr/>
          <p:nvPr/>
        </p:nvSpPr>
        <p:spPr>
          <a:xfrm>
            <a:off x="6217920" y="1005840"/>
            <a:ext cx="2651760" cy="1463040"/>
          </a:xfrm>
          <a:prstGeom prst="rect">
            <a:avLst/>
          </a:prstGeom>
          <a:solidFill>
            <a:srgbClr val="FFFFFF"/>
          </a:solidFill>
          <a:ln w="19050">
            <a:solidFill>
              <a:srgbClr val="000000"/>
            </a:solidFill>
            <a:prstDash val="solid"/>
          </a:ln>
        </p:spPr>
      </p:sp>
      <p:sp>
        <p:nvSpPr>
          <p:cNvPr id="14" name="Text 11"/>
          <p:cNvSpPr/>
          <p:nvPr/>
        </p:nvSpPr>
        <p:spPr>
          <a:xfrm>
            <a:off x="6217920" y="1188720"/>
            <a:ext cx="2651760" cy="457200"/>
          </a:xfrm>
          <a:prstGeom prst="rect">
            <a:avLst/>
          </a:prstGeom>
          <a:noFill/>
          <a:ln/>
        </p:spPr>
        <p:txBody>
          <a:bodyPr wrap="square" rtlCol="0" anchor="ctr"/>
          <a:lstStyle/>
          <a:p>
            <a:pPr algn="ctr" indent="0" marL="0">
              <a:buNone/>
            </a:pPr>
            <a:r>
              <a:rPr lang="en-US" sz="2400" b="1" dirty="0">
                <a:solidFill>
                  <a:srgbClr val="000000"/>
                </a:solidFill>
              </a:rPr>
              <a:t>500 Users</a:t>
            </a:r>
            <a:endParaRPr lang="en-US" sz="2400" dirty="0"/>
          </a:p>
        </p:txBody>
      </p:sp>
      <p:sp>
        <p:nvSpPr>
          <p:cNvPr id="15" name="Text 12"/>
          <p:cNvSpPr/>
          <p:nvPr/>
        </p:nvSpPr>
        <p:spPr>
          <a:xfrm>
            <a:off x="6217920" y="1737360"/>
            <a:ext cx="2651760" cy="274320"/>
          </a:xfrm>
          <a:prstGeom prst="rect">
            <a:avLst/>
          </a:prstGeom>
          <a:noFill/>
          <a:ln/>
        </p:spPr>
        <p:txBody>
          <a:bodyPr wrap="square" rtlCol="0" anchor="ctr"/>
          <a:lstStyle/>
          <a:p>
            <a:pPr algn="ctr" indent="0" marL="0">
              <a:buNone/>
            </a:pPr>
            <a:r>
              <a:rPr lang="en-US" sz="1000" b="1" dirty="0">
                <a:solidFill>
                  <a:srgbClr val="444444"/>
                </a:solidFill>
              </a:rPr>
              <a:t>CONCURRENT CAPACITY</a:t>
            </a:r>
            <a:endParaRPr lang="en-US" sz="1000" dirty="0"/>
          </a:p>
        </p:txBody>
      </p:sp>
      <p:sp>
        <p:nvSpPr>
          <p:cNvPr id="16" name="Shape 13"/>
          <p:cNvSpPr/>
          <p:nvPr/>
        </p:nvSpPr>
        <p:spPr>
          <a:xfrm>
            <a:off x="9052560" y="1005840"/>
            <a:ext cx="2651760" cy="1463040"/>
          </a:xfrm>
          <a:prstGeom prst="rect">
            <a:avLst/>
          </a:prstGeom>
          <a:solidFill>
            <a:srgbClr val="FFFFFF"/>
          </a:solidFill>
          <a:ln w="19050">
            <a:solidFill>
              <a:srgbClr val="000000"/>
            </a:solidFill>
            <a:prstDash val="solid"/>
          </a:ln>
        </p:spPr>
      </p:sp>
      <p:sp>
        <p:nvSpPr>
          <p:cNvPr id="17" name="Text 14"/>
          <p:cNvSpPr/>
          <p:nvPr/>
        </p:nvSpPr>
        <p:spPr>
          <a:xfrm>
            <a:off x="9052560" y="1188720"/>
            <a:ext cx="2651760" cy="457200"/>
          </a:xfrm>
          <a:prstGeom prst="rect">
            <a:avLst/>
          </a:prstGeom>
          <a:noFill/>
          <a:ln/>
        </p:spPr>
        <p:txBody>
          <a:bodyPr wrap="square" rtlCol="0" anchor="ctr"/>
          <a:lstStyle/>
          <a:p>
            <a:pPr algn="ctr" indent="0" marL="0">
              <a:buNone/>
            </a:pPr>
            <a:r>
              <a:rPr lang="en-US" sz="2400" b="1" dirty="0">
                <a:solidFill>
                  <a:srgbClr val="000000"/>
                </a:solidFill>
              </a:rPr>
              <a:t>99.9%</a:t>
            </a:r>
            <a:endParaRPr lang="en-US" sz="2400" dirty="0"/>
          </a:p>
        </p:txBody>
      </p:sp>
      <p:sp>
        <p:nvSpPr>
          <p:cNvPr id="18" name="Text 15"/>
          <p:cNvSpPr/>
          <p:nvPr/>
        </p:nvSpPr>
        <p:spPr>
          <a:xfrm>
            <a:off x="9052560" y="1737360"/>
            <a:ext cx="2651760" cy="274320"/>
          </a:xfrm>
          <a:prstGeom prst="rect">
            <a:avLst/>
          </a:prstGeom>
          <a:noFill/>
          <a:ln/>
        </p:spPr>
        <p:txBody>
          <a:bodyPr wrap="square" rtlCol="0" anchor="ctr"/>
          <a:lstStyle/>
          <a:p>
            <a:pPr algn="ctr" indent="0" marL="0">
              <a:buNone/>
            </a:pPr>
            <a:r>
              <a:rPr lang="en-US" sz="1000" b="1" dirty="0">
                <a:solidFill>
                  <a:srgbClr val="444444"/>
                </a:solidFill>
              </a:rPr>
              <a:t>AVAILABILITY UPTIME</a:t>
            </a:r>
            <a:endParaRPr lang="en-US" sz="1000" dirty="0"/>
          </a:p>
        </p:txBody>
      </p:sp>
      <p:sp>
        <p:nvSpPr>
          <p:cNvPr id="19" name="Shape 16"/>
          <p:cNvSpPr/>
          <p:nvPr/>
        </p:nvSpPr>
        <p:spPr>
          <a:xfrm>
            <a:off x="548640" y="2743200"/>
            <a:ext cx="5303520" cy="3383280"/>
          </a:xfrm>
          <a:prstGeom prst="rect">
            <a:avLst/>
          </a:prstGeom>
          <a:solidFill>
            <a:srgbClr val="FFFFFF"/>
          </a:solidFill>
          <a:ln w="12700">
            <a:solidFill>
              <a:srgbClr val="000000"/>
            </a:solidFill>
            <a:prstDash val="solid"/>
          </a:ln>
        </p:spPr>
      </p:sp>
      <p:sp>
        <p:nvSpPr>
          <p:cNvPr id="20" name="Text 17"/>
          <p:cNvSpPr/>
          <p:nvPr/>
        </p:nvSpPr>
        <p:spPr>
          <a:xfrm>
            <a:off x="731520" y="2926080"/>
            <a:ext cx="4937760" cy="274320"/>
          </a:xfrm>
          <a:prstGeom prst="rect">
            <a:avLst/>
          </a:prstGeom>
          <a:noFill/>
          <a:ln/>
        </p:spPr>
        <p:txBody>
          <a:bodyPr wrap="square" rtlCol="0" anchor="ctr"/>
          <a:lstStyle/>
          <a:p>
            <a:pPr indent="0" marL="0">
              <a:buNone/>
            </a:pPr>
            <a:r>
              <a:rPr lang="en-US" sz="1200" b="1" dirty="0">
                <a:solidFill>
                  <a:srgbClr val="000000"/>
                </a:solidFill>
              </a:rPr>
              <a:t>MỤC TIÊU CHỨC NĂNG &amp; NGHIỆP VỤ</a:t>
            </a:r>
            <a:endParaRPr lang="en-US" sz="1200" dirty="0"/>
          </a:p>
        </p:txBody>
      </p:sp>
      <p:sp>
        <p:nvSpPr>
          <p:cNvPr id="21" name="Text 18"/>
          <p:cNvSpPr/>
          <p:nvPr/>
        </p:nvSpPr>
        <p:spPr>
          <a:xfrm>
            <a:off x="731520" y="3291840"/>
            <a:ext cx="4937760" cy="2560320"/>
          </a:xfrm>
          <a:prstGeom prst="rect">
            <a:avLst/>
          </a:prstGeom>
          <a:noFill/>
          <a:ln/>
        </p:spPr>
        <p:txBody>
          <a:bodyPr wrap="square" rtlCol="0" anchor="ctr"/>
          <a:lstStyle/>
          <a:p>
            <a:pPr indent="0" marL="0">
              <a:lnSpc>
                <a:spcPts val="1800"/>
              </a:lnSpc>
              <a:buNone/>
            </a:pPr>
            <a:r>
              <a:rPr lang="en-US" sz="1100" dirty="0">
                <a:solidFill>
                  <a:srgbClr val="444444"/>
                </a:solidFill>
              </a:rPr>
              <a:t>• 100% giao dịch tài chính Ví VietQR không tính toán sai lệch dù 1 đồng.</a:t>
            </a:r>
            <a:endParaRPr lang="en-US" sz="1100" dirty="0"/>
          </a:p>
          <a:p>
            <a:pPr indent="0" marL="0">
              <a:lnSpc>
                <a:spcPts val="1800"/>
              </a:lnSpc>
              <a:buNone/>
            </a:pPr>
            <a:r>
              <a:rPr lang="en-US" sz="1100" dirty="0">
                <a:solidFill>
                  <a:srgbClr val="444444"/>
                </a:solidFill>
              </a:rPr>
              <a:t>• Đơn đặt sân confirmed cập nhật sơ đồ khung giờ tức thì.</a:t>
            </a:r>
            <a:endParaRPr lang="en-US" sz="1100" dirty="0"/>
          </a:p>
          <a:p>
            <a:pPr indent="0" marL="0">
              <a:lnSpc>
                <a:spcPts val="1800"/>
              </a:lnSpc>
              <a:buNone/>
            </a:pPr>
            <a:r>
              <a:rPr lang="en-US" sz="1100" dirty="0">
                <a:solidFill>
                  <a:srgbClr val="444444"/>
                </a:solidFill>
              </a:rPr>
              <a:t>• Xử lý ngoại lệ chuẩn xác khi hết slot hoặc ví không đủ tiền.</a:t>
            </a:r>
            <a:endParaRPr lang="en-US" sz="1100" dirty="0"/>
          </a:p>
        </p:txBody>
      </p:sp>
      <p:sp>
        <p:nvSpPr>
          <p:cNvPr id="22" name="Shape 19"/>
          <p:cNvSpPr/>
          <p:nvPr/>
        </p:nvSpPr>
        <p:spPr>
          <a:xfrm>
            <a:off x="6217920" y="2743200"/>
            <a:ext cx="5303520" cy="3383280"/>
          </a:xfrm>
          <a:prstGeom prst="rect">
            <a:avLst/>
          </a:prstGeom>
          <a:solidFill>
            <a:srgbClr val="FFFFFF"/>
          </a:solidFill>
          <a:ln w="12700">
            <a:solidFill>
              <a:srgbClr val="000000"/>
            </a:solidFill>
            <a:prstDash val="solid"/>
          </a:ln>
        </p:spPr>
      </p:sp>
      <p:sp>
        <p:nvSpPr>
          <p:cNvPr id="23" name="Text 20"/>
          <p:cNvSpPr/>
          <p:nvPr/>
        </p:nvSpPr>
        <p:spPr>
          <a:xfrm>
            <a:off x="6400800" y="2926080"/>
            <a:ext cx="4937760" cy="274320"/>
          </a:xfrm>
          <a:prstGeom prst="rect">
            <a:avLst/>
          </a:prstGeom>
          <a:noFill/>
          <a:ln/>
        </p:spPr>
        <p:txBody>
          <a:bodyPr wrap="square" rtlCol="0" anchor="ctr"/>
          <a:lstStyle/>
          <a:p>
            <a:pPr indent="0" marL="0">
              <a:buNone/>
            </a:pPr>
            <a:r>
              <a:rPr lang="en-US" sz="1200" b="1" dirty="0">
                <a:solidFill>
                  <a:srgbClr val="000000"/>
                </a:solidFill>
              </a:rPr>
              <a:t>MỤC TIÊU BẢO MẬT &amp; TOÀN VẸN DỮ LIỆU</a:t>
            </a:r>
            <a:endParaRPr lang="en-US" sz="1200" dirty="0"/>
          </a:p>
        </p:txBody>
      </p:sp>
      <p:sp>
        <p:nvSpPr>
          <p:cNvPr id="24" name="Text 21"/>
          <p:cNvSpPr/>
          <p:nvPr/>
        </p:nvSpPr>
        <p:spPr>
          <a:xfrm>
            <a:off x="6400800" y="3291840"/>
            <a:ext cx="4937760" cy="2560320"/>
          </a:xfrm>
          <a:prstGeom prst="rect">
            <a:avLst/>
          </a:prstGeom>
          <a:noFill/>
          <a:ln/>
        </p:spPr>
        <p:txBody>
          <a:bodyPr wrap="square" rtlCol="0" anchor="ctr"/>
          <a:lstStyle/>
          <a:p>
            <a:pPr indent="0" marL="0">
              <a:lnSpc>
                <a:spcPts val="1800"/>
              </a:lnSpc>
              <a:buNone/>
            </a:pPr>
            <a:r>
              <a:rPr lang="en-US" sz="1100" dirty="0">
                <a:solidFill>
                  <a:srgbClr val="444444"/>
                </a:solidFill>
              </a:rPr>
              <a:t>• Prepared Statements (mysqli_stmt) phòng chống SQL Injection 100%.</a:t>
            </a:r>
            <a:endParaRPr lang="en-US" sz="1100" dirty="0"/>
          </a:p>
          <a:p>
            <a:pPr indent="0" marL="0">
              <a:lnSpc>
                <a:spcPts val="1800"/>
              </a:lnSpc>
              <a:buNone/>
            </a:pPr>
            <a:r>
              <a:rPr lang="en-US" sz="1100" dirty="0">
                <a:solidFill>
                  <a:srgbClr val="444444"/>
                </a:solidFill>
              </a:rPr>
              <a:t>• htmlspecialchars chống tấn công XSS mọi form nhập liệu.</a:t>
            </a:r>
            <a:endParaRPr lang="en-US" sz="1100" dirty="0"/>
          </a:p>
          <a:p>
            <a:pPr indent="0" marL="0">
              <a:lnSpc>
                <a:spcPts val="1800"/>
              </a:lnSpc>
              <a:buNone/>
            </a:pPr>
            <a:r>
              <a:rPr lang="en-US" sz="1100" dirty="0">
                <a:solidFill>
                  <a:srgbClr val="444444"/>
                </a:solidFill>
              </a:rPr>
              <a:t>• Mật khẩu 100% được mã hóa thuật toán Bcrypt an toàn.</a:t>
            </a:r>
            <a:endParaRPr lang="en-US" sz="1100" dirty="0"/>
          </a:p>
          <a:p>
            <a:pPr indent="0" marL="0">
              <a:lnSpc>
                <a:spcPts val="1800"/>
              </a:lnSpc>
              <a:buNone/>
            </a:pPr>
            <a:r>
              <a:rPr lang="en-US" sz="1100" dirty="0">
                <a:solidFill>
                  <a:srgbClr val="444444"/>
                </a:solidFill>
              </a:rPr>
              <a:t>• Chống nạp tiền 2 lần (Idempotency check trên `bank_transactions_log`).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HOẠCH ĐỊNH NGUỒN LỰC</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4. Hoạch Định Nguồn Lực &amp; Phân Công Nhân Sự</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8 / 12</a:t>
            </a:r>
            <a:endParaRPr lang="en-US" sz="1100" dirty="0"/>
          </a:p>
        </p:txBody>
      </p:sp>
      <p:sp>
        <p:nvSpPr>
          <p:cNvPr id="7" name="Shape 4"/>
          <p:cNvSpPr/>
          <p:nvPr/>
        </p:nvSpPr>
        <p:spPr>
          <a:xfrm>
            <a:off x="548640" y="1005840"/>
            <a:ext cx="3566160" cy="5120640"/>
          </a:xfrm>
          <a:prstGeom prst="rect">
            <a:avLst/>
          </a:prstGeom>
          <a:solidFill>
            <a:srgbClr val="FFFFFF"/>
          </a:solidFill>
          <a:ln w="19050">
            <a:solidFill>
              <a:srgbClr val="000000"/>
            </a:solidFill>
            <a:prstDash val="solid"/>
          </a:ln>
        </p:spPr>
      </p:sp>
      <p:sp>
        <p:nvSpPr>
          <p:cNvPr id="8" name="Text 5"/>
          <p:cNvSpPr/>
          <p:nvPr/>
        </p:nvSpPr>
        <p:spPr>
          <a:xfrm>
            <a:off x="822960" y="1188720"/>
            <a:ext cx="3017520" cy="365760"/>
          </a:xfrm>
          <a:prstGeom prst="rect">
            <a:avLst/>
          </a:prstGeom>
          <a:noFill/>
          <a:ln/>
        </p:spPr>
        <p:txBody>
          <a:bodyPr wrap="square" rtlCol="0" anchor="ctr"/>
          <a:lstStyle/>
          <a:p>
            <a:pPr indent="0" marL="0">
              <a:buNone/>
            </a:pPr>
            <a:r>
              <a:rPr lang="en-US" sz="1800" b="1" dirty="0">
                <a:solidFill>
                  <a:srgbClr val="000000"/>
                </a:solidFill>
              </a:rPr>
              <a:t>Đăng Khải</a:t>
            </a:r>
            <a:endParaRPr lang="en-US" sz="1800" dirty="0"/>
          </a:p>
        </p:txBody>
      </p:sp>
      <p:sp>
        <p:nvSpPr>
          <p:cNvPr id="9" name="Text 6"/>
          <p:cNvSpPr/>
          <p:nvPr/>
        </p:nvSpPr>
        <p:spPr>
          <a:xfrm>
            <a:off x="822960" y="1554480"/>
            <a:ext cx="3017520" cy="274320"/>
          </a:xfrm>
          <a:prstGeom prst="rect">
            <a:avLst/>
          </a:prstGeom>
          <a:noFill/>
          <a:ln/>
        </p:spPr>
        <p:txBody>
          <a:bodyPr wrap="square" rtlCol="0" anchor="ctr"/>
          <a:lstStyle/>
          <a:p>
            <a:pPr indent="0" marL="0">
              <a:buNone/>
            </a:pPr>
            <a:r>
              <a:rPr lang="en-US" sz="1100" b="1" dirty="0">
                <a:solidFill>
                  <a:srgbClr val="444444"/>
                </a:solidFill>
              </a:rPr>
              <a:t>Test Lead &amp; Security Specialist</a:t>
            </a:r>
            <a:endParaRPr lang="en-US" sz="1100" dirty="0"/>
          </a:p>
        </p:txBody>
      </p:sp>
      <p:sp>
        <p:nvSpPr>
          <p:cNvPr id="10" name="Text 7"/>
          <p:cNvSpPr/>
          <p:nvPr/>
        </p:nvSpPr>
        <p:spPr>
          <a:xfrm>
            <a:off x="822960" y="1920240"/>
            <a:ext cx="3017520" cy="3474720"/>
          </a:xfrm>
          <a:prstGeom prst="rect">
            <a:avLst/>
          </a:prstGeom>
          <a:noFill/>
          <a:ln/>
        </p:spPr>
        <p:txBody>
          <a:bodyPr wrap="square" rtlCol="0" anchor="ctr"/>
          <a:lstStyle/>
          <a:p>
            <a:pPr indent="0" marL="0">
              <a:lnSpc>
                <a:spcPts val="1800"/>
              </a:lnSpc>
              <a:buNone/>
            </a:pPr>
            <a:r>
              <a:rPr lang="en-US" sz="1100" dirty="0">
                <a:solidFill>
                  <a:srgbClr val="444444"/>
                </a:solidFill>
              </a:rPr>
              <a:t>• Lập Kế hoạch &amp; quản lý tiến độ chung.</a:t>
            </a:r>
            <a:endParaRPr lang="en-US" sz="1100" dirty="0"/>
          </a:p>
          <a:p>
            <a:pPr indent="0" marL="0">
              <a:lnSpc>
                <a:spcPts val="1800"/>
              </a:lnSpc>
              <a:buNone/>
            </a:pPr>
            <a:r>
              <a:rPr lang="en-US" sz="1100" dirty="0">
                <a:solidFill>
                  <a:srgbClr val="444444"/>
                </a:solidFill>
              </a:rPr>
              <a:t>• Phụ trách Mô-đun Ví VietQR MBBank.</a:t>
            </a:r>
            <a:endParaRPr lang="en-US" sz="1100" dirty="0"/>
          </a:p>
          <a:p>
            <a:pPr indent="0" marL="0">
              <a:lnSpc>
                <a:spcPts val="1800"/>
              </a:lnSpc>
              <a:buNone/>
            </a:pPr>
            <a:r>
              <a:rPr lang="en-US" sz="1100" dirty="0">
                <a:solidFill>
                  <a:srgbClr val="444444"/>
                </a:solidFill>
              </a:rPr>
              <a:t>• Phụ trách Bảng Điều Khiển Admin Panel &amp; RBAC.</a:t>
            </a:r>
            <a:endParaRPr lang="en-US" sz="1100" dirty="0"/>
          </a:p>
          <a:p>
            <a:pPr indent="0" marL="0">
              <a:lnSpc>
                <a:spcPts val="1800"/>
              </a:lnSpc>
              <a:buNone/>
            </a:pPr>
            <a:r>
              <a:rPr lang="en-US" sz="1100" dirty="0">
                <a:solidFill>
                  <a:srgbClr val="444444"/>
                </a:solidFill>
              </a:rPr>
              <a:t>• Kiểm thử Bảo Mật (OWASP ZAP: SQLi, XSS, Bcrypt).</a:t>
            </a:r>
            <a:endParaRPr lang="en-US" sz="1100" dirty="0"/>
          </a:p>
          <a:p>
            <a:pPr indent="0" marL="0">
              <a:lnSpc>
                <a:spcPts val="1800"/>
              </a:lnSpc>
              <a:buNone/>
            </a:pPr>
            <a:r>
              <a:rPr lang="en-US" sz="1100" dirty="0">
                <a:solidFill>
                  <a:srgbClr val="444444"/>
                </a:solidFill>
              </a:rPr>
              <a:t>• Tổng hợp chỉ số &amp; duyệt nghiệm thu Go-Live.</a:t>
            </a:r>
            <a:endParaRPr lang="en-US" sz="1100" dirty="0"/>
          </a:p>
        </p:txBody>
      </p:sp>
      <p:sp>
        <p:nvSpPr>
          <p:cNvPr id="11" name="Text 8"/>
          <p:cNvSpPr/>
          <p:nvPr/>
        </p:nvSpPr>
        <p:spPr>
          <a:xfrm>
            <a:off x="822960" y="5577840"/>
            <a:ext cx="3017520" cy="365760"/>
          </a:xfrm>
          <a:prstGeom prst="rect">
            <a:avLst/>
          </a:prstGeom>
          <a:noFill/>
          <a:ln/>
        </p:spPr>
        <p:txBody>
          <a:bodyPr wrap="square" rtlCol="0" anchor="ctr"/>
          <a:lstStyle/>
          <a:p>
            <a:pPr indent="0" marL="0">
              <a:buNone/>
            </a:pPr>
            <a:r>
              <a:rPr lang="en-US" sz="1100" b="1" dirty="0">
                <a:solidFill>
                  <a:srgbClr val="000000"/>
                </a:solidFill>
              </a:rPr>
              <a:t>Khối lượng công việc: 35%</a:t>
            </a:r>
            <a:endParaRPr lang="en-US" sz="1100" dirty="0"/>
          </a:p>
        </p:txBody>
      </p:sp>
      <p:sp>
        <p:nvSpPr>
          <p:cNvPr id="12" name="Shape 9"/>
          <p:cNvSpPr/>
          <p:nvPr/>
        </p:nvSpPr>
        <p:spPr>
          <a:xfrm>
            <a:off x="4297680" y="1005840"/>
            <a:ext cx="3566160" cy="5120640"/>
          </a:xfrm>
          <a:prstGeom prst="rect">
            <a:avLst/>
          </a:prstGeom>
          <a:solidFill>
            <a:srgbClr val="FFFFFF"/>
          </a:solidFill>
          <a:ln w="19050">
            <a:solidFill>
              <a:srgbClr val="000000"/>
            </a:solidFill>
            <a:prstDash val="solid"/>
          </a:ln>
        </p:spPr>
      </p:sp>
      <p:sp>
        <p:nvSpPr>
          <p:cNvPr id="13" name="Text 10"/>
          <p:cNvSpPr/>
          <p:nvPr/>
        </p:nvSpPr>
        <p:spPr>
          <a:xfrm>
            <a:off x="4572000" y="1188720"/>
            <a:ext cx="3017520" cy="365760"/>
          </a:xfrm>
          <a:prstGeom prst="rect">
            <a:avLst/>
          </a:prstGeom>
          <a:noFill/>
          <a:ln/>
        </p:spPr>
        <p:txBody>
          <a:bodyPr wrap="square" rtlCol="0" anchor="ctr"/>
          <a:lstStyle/>
          <a:p>
            <a:pPr indent="0" marL="0">
              <a:buNone/>
            </a:pPr>
            <a:r>
              <a:rPr lang="en-US" sz="1800" b="1" dirty="0">
                <a:solidFill>
                  <a:srgbClr val="000000"/>
                </a:solidFill>
              </a:rPr>
              <a:t>Linh Ân</a:t>
            </a:r>
            <a:endParaRPr lang="en-US" sz="1800" dirty="0"/>
          </a:p>
        </p:txBody>
      </p:sp>
      <p:sp>
        <p:nvSpPr>
          <p:cNvPr id="14" name="Text 11"/>
          <p:cNvSpPr/>
          <p:nvPr/>
        </p:nvSpPr>
        <p:spPr>
          <a:xfrm>
            <a:off x="4572000" y="1554480"/>
            <a:ext cx="3017520" cy="274320"/>
          </a:xfrm>
          <a:prstGeom prst="rect">
            <a:avLst/>
          </a:prstGeom>
          <a:noFill/>
          <a:ln/>
        </p:spPr>
        <p:txBody>
          <a:bodyPr wrap="square" rtlCol="0" anchor="ctr"/>
          <a:lstStyle/>
          <a:p>
            <a:pPr indent="0" marL="0">
              <a:buNone/>
            </a:pPr>
            <a:r>
              <a:rPr lang="en-US" sz="1100" b="1" dirty="0">
                <a:solidFill>
                  <a:srgbClr val="444444"/>
                </a:solidFill>
              </a:rPr>
              <a:t>Functional &amp; Automation Tester</a:t>
            </a:r>
            <a:endParaRPr lang="en-US" sz="1100" dirty="0"/>
          </a:p>
        </p:txBody>
      </p:sp>
      <p:sp>
        <p:nvSpPr>
          <p:cNvPr id="15" name="Text 12"/>
          <p:cNvSpPr/>
          <p:nvPr/>
        </p:nvSpPr>
        <p:spPr>
          <a:xfrm>
            <a:off x="4572000" y="1920240"/>
            <a:ext cx="3017520" cy="3474720"/>
          </a:xfrm>
          <a:prstGeom prst="rect">
            <a:avLst/>
          </a:prstGeom>
          <a:noFill/>
          <a:ln/>
        </p:spPr>
        <p:txBody>
          <a:bodyPr wrap="square" rtlCol="0" anchor="ctr"/>
          <a:lstStyle/>
          <a:p>
            <a:pPr indent="0" marL="0">
              <a:lnSpc>
                <a:spcPts val="1800"/>
              </a:lnSpc>
              <a:buNone/>
            </a:pPr>
            <a:r>
              <a:rPr lang="en-US" sz="1100" dirty="0">
                <a:solidFill>
                  <a:srgbClr val="444444"/>
                </a:solidFill>
              </a:rPr>
              <a:t>• Viết Test Cases Mô-đun Đặt Sân Thể Thao.</a:t>
            </a:r>
            <a:endParaRPr lang="en-US" sz="1100" dirty="0"/>
          </a:p>
          <a:p>
            <a:pPr indent="0" marL="0">
              <a:lnSpc>
                <a:spcPts val="1800"/>
              </a:lnSpc>
              <a:buNone/>
            </a:pPr>
            <a:r>
              <a:rPr lang="en-US" sz="1100" dirty="0">
                <a:solidFill>
                  <a:srgbClr val="444444"/>
                </a:solidFill>
              </a:rPr>
              <a:t>• Kiểm thử Cửa Hàng E-Commerce &amp; Đơn Hàng.</a:t>
            </a:r>
            <a:endParaRPr lang="en-US" sz="1100" dirty="0"/>
          </a:p>
          <a:p>
            <a:pPr indent="0" marL="0">
              <a:lnSpc>
                <a:spcPts val="1800"/>
              </a:lnSpc>
              <a:buNone/>
            </a:pPr>
            <a:r>
              <a:rPr lang="en-US" sz="1100" dirty="0">
                <a:solidFill>
                  <a:srgbClr val="444444"/>
                </a:solidFill>
              </a:rPr>
              <a:t>• Kịch bản Test Tự Động (Selenium/Playwright).</a:t>
            </a:r>
            <a:endParaRPr lang="en-US" sz="1100" dirty="0"/>
          </a:p>
          <a:p>
            <a:pPr indent="0" marL="0">
              <a:lnSpc>
                <a:spcPts val="1800"/>
              </a:lnSpc>
              <a:buNone/>
            </a:pPr>
            <a:r>
              <a:rPr lang="en-US" sz="1100" dirty="0">
                <a:solidFill>
                  <a:srgbClr val="444444"/>
                </a:solidFill>
              </a:rPr>
              <a:t>• Kiểm thử UI/UX Layout &amp; Responsive.</a:t>
            </a:r>
            <a:endParaRPr lang="en-US" sz="1100" dirty="0"/>
          </a:p>
          <a:p>
            <a:pPr indent="0" marL="0">
              <a:lnSpc>
                <a:spcPts val="1800"/>
              </a:lnSpc>
              <a:buNone/>
            </a:pPr>
            <a:r>
              <a:rPr lang="en-US" sz="1100" dirty="0">
                <a:solidFill>
                  <a:srgbClr val="444444"/>
                </a:solidFill>
              </a:rPr>
              <a:t>• Kiểm thử Mô-đun Tin tức &amp; Review Cộng đồng.</a:t>
            </a:r>
            <a:endParaRPr lang="en-US" sz="1100" dirty="0"/>
          </a:p>
        </p:txBody>
      </p:sp>
      <p:sp>
        <p:nvSpPr>
          <p:cNvPr id="16" name="Text 13"/>
          <p:cNvSpPr/>
          <p:nvPr/>
        </p:nvSpPr>
        <p:spPr>
          <a:xfrm>
            <a:off x="4572000" y="5577840"/>
            <a:ext cx="3017520" cy="365760"/>
          </a:xfrm>
          <a:prstGeom prst="rect">
            <a:avLst/>
          </a:prstGeom>
          <a:noFill/>
          <a:ln/>
        </p:spPr>
        <p:txBody>
          <a:bodyPr wrap="square" rtlCol="0" anchor="ctr"/>
          <a:lstStyle/>
          <a:p>
            <a:pPr indent="0" marL="0">
              <a:buNone/>
            </a:pPr>
            <a:r>
              <a:rPr lang="en-US" sz="1100" b="1" dirty="0">
                <a:solidFill>
                  <a:srgbClr val="000000"/>
                </a:solidFill>
              </a:rPr>
              <a:t>Khối lượng công việc: 35%</a:t>
            </a:r>
            <a:endParaRPr lang="en-US" sz="1100" dirty="0"/>
          </a:p>
        </p:txBody>
      </p:sp>
      <p:sp>
        <p:nvSpPr>
          <p:cNvPr id="17" name="Shape 14"/>
          <p:cNvSpPr/>
          <p:nvPr/>
        </p:nvSpPr>
        <p:spPr>
          <a:xfrm>
            <a:off x="8046720" y="1005840"/>
            <a:ext cx="3566160" cy="5120640"/>
          </a:xfrm>
          <a:prstGeom prst="rect">
            <a:avLst/>
          </a:prstGeom>
          <a:solidFill>
            <a:srgbClr val="FFFFFF"/>
          </a:solidFill>
          <a:ln w="19050">
            <a:solidFill>
              <a:srgbClr val="000000"/>
            </a:solidFill>
            <a:prstDash val="solid"/>
          </a:ln>
        </p:spPr>
      </p:sp>
      <p:sp>
        <p:nvSpPr>
          <p:cNvPr id="18" name="Text 15"/>
          <p:cNvSpPr/>
          <p:nvPr/>
        </p:nvSpPr>
        <p:spPr>
          <a:xfrm>
            <a:off x="8321040" y="1188720"/>
            <a:ext cx="3017520" cy="365760"/>
          </a:xfrm>
          <a:prstGeom prst="rect">
            <a:avLst/>
          </a:prstGeom>
          <a:noFill/>
          <a:ln/>
        </p:spPr>
        <p:txBody>
          <a:bodyPr wrap="square" rtlCol="0" anchor="ctr"/>
          <a:lstStyle/>
          <a:p>
            <a:pPr indent="0" marL="0">
              <a:buNone/>
            </a:pPr>
            <a:r>
              <a:rPr lang="en-US" sz="1800" b="1" dirty="0">
                <a:solidFill>
                  <a:srgbClr val="000000"/>
                </a:solidFill>
              </a:rPr>
              <a:t>Phan Duy</a:t>
            </a:r>
            <a:endParaRPr lang="en-US" sz="1800" dirty="0"/>
          </a:p>
        </p:txBody>
      </p:sp>
      <p:sp>
        <p:nvSpPr>
          <p:cNvPr id="19" name="Text 16"/>
          <p:cNvSpPr/>
          <p:nvPr/>
        </p:nvSpPr>
        <p:spPr>
          <a:xfrm>
            <a:off x="8321040" y="1554480"/>
            <a:ext cx="3017520" cy="274320"/>
          </a:xfrm>
          <a:prstGeom prst="rect">
            <a:avLst/>
          </a:prstGeom>
          <a:noFill/>
          <a:ln/>
        </p:spPr>
        <p:txBody>
          <a:bodyPr wrap="square" rtlCol="0" anchor="ctr"/>
          <a:lstStyle/>
          <a:p>
            <a:pPr indent="0" marL="0">
              <a:buNone/>
            </a:pPr>
            <a:r>
              <a:rPr lang="en-US" sz="1100" b="1" dirty="0">
                <a:solidFill>
                  <a:srgbClr val="444444"/>
                </a:solidFill>
              </a:rPr>
              <a:t>Integration &amp; Performance Specialist</a:t>
            </a:r>
            <a:endParaRPr lang="en-US" sz="1100" dirty="0"/>
          </a:p>
        </p:txBody>
      </p:sp>
      <p:sp>
        <p:nvSpPr>
          <p:cNvPr id="20" name="Text 17"/>
          <p:cNvSpPr/>
          <p:nvPr/>
        </p:nvSpPr>
        <p:spPr>
          <a:xfrm>
            <a:off x="8321040" y="1920240"/>
            <a:ext cx="3017520" cy="3474720"/>
          </a:xfrm>
          <a:prstGeom prst="rect">
            <a:avLst/>
          </a:prstGeom>
          <a:noFill/>
          <a:ln/>
        </p:spPr>
        <p:txBody>
          <a:bodyPr wrap="square" rtlCol="0" anchor="ctr"/>
          <a:lstStyle/>
          <a:p>
            <a:pPr indent="0" marL="0">
              <a:lnSpc>
                <a:spcPts val="1800"/>
              </a:lnSpc>
              <a:buNone/>
            </a:pPr>
            <a:r>
              <a:rPr lang="en-US" sz="1100" dirty="0">
                <a:solidFill>
                  <a:srgbClr val="444444"/>
                </a:solidFill>
              </a:rPr>
              <a:t>• Kiểm thử Mô-đun Ghép Đội &amp; Bắt Kèo.</a:t>
            </a:r>
            <a:endParaRPr lang="en-US" sz="1100" dirty="0"/>
          </a:p>
          <a:p>
            <a:pPr indent="0" marL="0">
              <a:lnSpc>
                <a:spcPts val="1800"/>
              </a:lnSpc>
              <a:buNone/>
            </a:pPr>
            <a:r>
              <a:rPr lang="en-US" sz="1100" dirty="0">
                <a:solidFill>
                  <a:srgbClr val="444444"/>
                </a:solidFill>
              </a:rPr>
              <a:t>• Kiểm thử Kết nối Real-time WebSockets (Port 8080).</a:t>
            </a:r>
            <a:endParaRPr lang="en-US" sz="1100" dirty="0"/>
          </a:p>
          <a:p>
            <a:pPr indent="0" marL="0">
              <a:lnSpc>
                <a:spcPts val="1800"/>
              </a:lnSpc>
              <a:buNone/>
            </a:pPr>
            <a:r>
              <a:rPr lang="en-US" sz="1100" dirty="0">
                <a:solidFill>
                  <a:srgbClr val="444444"/>
                </a:solidFill>
              </a:rPr>
              <a:t>• Kiểm thử Mô-đun SaaS Reseller Portal.</a:t>
            </a:r>
            <a:endParaRPr lang="en-US" sz="1100" dirty="0"/>
          </a:p>
          <a:p>
            <a:pPr indent="0" marL="0">
              <a:lnSpc>
                <a:spcPts val="1800"/>
              </a:lnSpc>
              <a:buNone/>
            </a:pPr>
            <a:r>
              <a:rPr lang="en-US" sz="1100" dirty="0">
                <a:solidFill>
                  <a:srgbClr val="444444"/>
                </a:solidFill>
              </a:rPr>
              <a:t>• Xây dựng Mock API Ngân hàng MBBank.</a:t>
            </a:r>
            <a:endParaRPr lang="en-US" sz="1100" dirty="0"/>
          </a:p>
          <a:p>
            <a:pPr indent="0" marL="0">
              <a:lnSpc>
                <a:spcPts val="1800"/>
              </a:lnSpc>
              <a:buNone/>
            </a:pPr>
            <a:r>
              <a:rPr lang="en-US" sz="1100" dirty="0">
                <a:solidFill>
                  <a:srgbClr val="444444"/>
                </a:solidFill>
              </a:rPr>
              <a:t>• Thực thi Load Test (JMeter 500 users).</a:t>
            </a:r>
            <a:endParaRPr lang="en-US" sz="1100" dirty="0"/>
          </a:p>
        </p:txBody>
      </p:sp>
      <p:sp>
        <p:nvSpPr>
          <p:cNvPr id="21" name="Text 18"/>
          <p:cNvSpPr/>
          <p:nvPr/>
        </p:nvSpPr>
        <p:spPr>
          <a:xfrm>
            <a:off x="8321040" y="5577840"/>
            <a:ext cx="3017520" cy="365760"/>
          </a:xfrm>
          <a:prstGeom prst="rect">
            <a:avLst/>
          </a:prstGeom>
          <a:noFill/>
          <a:ln/>
        </p:spPr>
        <p:txBody>
          <a:bodyPr wrap="square" rtlCol="0" anchor="ctr"/>
          <a:lstStyle/>
          <a:p>
            <a:pPr indent="0" marL="0">
              <a:buNone/>
            </a:pPr>
            <a:r>
              <a:rPr lang="en-US" sz="1100" b="1" dirty="0">
                <a:solidFill>
                  <a:srgbClr val="000000"/>
                </a:solidFill>
              </a:rPr>
              <a:t>Khối lượng công việc: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MÔI TRƯỜNG KIỂM THỬ</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5. Kế Hoạch Môi Trường Kiểm Thử (Test Environment)</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9 / 12</a:t>
            </a:r>
            <a:endParaRPr lang="en-US" sz="1100" dirty="0"/>
          </a:p>
        </p:txBody>
      </p:sp>
      <p:sp>
        <p:nvSpPr>
          <p:cNvPr id="7" name="Shape 4"/>
          <p:cNvSpPr/>
          <p:nvPr/>
        </p:nvSpPr>
        <p:spPr>
          <a:xfrm>
            <a:off x="548640" y="1005840"/>
            <a:ext cx="5303520" cy="5120640"/>
          </a:xfrm>
          <a:prstGeom prst="rect">
            <a:avLst/>
          </a:prstGeom>
          <a:solidFill>
            <a:srgbClr val="FFFFFF"/>
          </a:solidFill>
          <a:ln w="12700">
            <a:solidFill>
              <a:srgbClr val="000000"/>
            </a:solidFill>
            <a:prstDash val="solid"/>
          </a:ln>
        </p:spPr>
      </p:sp>
      <p:sp>
        <p:nvSpPr>
          <p:cNvPr id="8" name="Text 5"/>
          <p:cNvSpPr/>
          <p:nvPr/>
        </p:nvSpPr>
        <p:spPr>
          <a:xfrm>
            <a:off x="731520" y="1188720"/>
            <a:ext cx="4937760" cy="274320"/>
          </a:xfrm>
          <a:prstGeom prst="rect">
            <a:avLst/>
          </a:prstGeom>
          <a:noFill/>
          <a:ln/>
        </p:spPr>
        <p:txBody>
          <a:bodyPr wrap="square" rtlCol="0" anchor="ctr"/>
          <a:lstStyle/>
          <a:p>
            <a:pPr indent="0" marL="0">
              <a:buNone/>
            </a:pPr>
            <a:r>
              <a:rPr lang="en-US" sz="1200" b="1" dirty="0">
                <a:solidFill>
                  <a:srgbClr val="000000"/>
                </a:solidFill>
              </a:rPr>
              <a:t>CẤU HÌNH STAGING TEST SERVER</a:t>
            </a:r>
            <a:endParaRPr lang="en-US" sz="1200" dirty="0"/>
          </a:p>
        </p:txBody>
      </p:sp>
      <p:sp>
        <p:nvSpPr>
          <p:cNvPr id="9" name="Text 6"/>
          <p:cNvSpPr/>
          <p:nvPr/>
        </p:nvSpPr>
        <p:spPr>
          <a:xfrm>
            <a:off x="731520" y="1645920"/>
            <a:ext cx="4937760" cy="4206240"/>
          </a:xfrm>
          <a:prstGeom prst="rect">
            <a:avLst/>
          </a:prstGeom>
          <a:noFill/>
          <a:ln/>
        </p:spPr>
        <p:txBody>
          <a:bodyPr wrap="square" rtlCol="0" anchor="ctr"/>
          <a:lstStyle/>
          <a:p>
            <a:pPr indent="0" marL="0">
              <a:lnSpc>
                <a:spcPts val="2000"/>
              </a:lnSpc>
              <a:buNone/>
            </a:pPr>
            <a:r>
              <a:rPr lang="en-US" sz="1100" dirty="0">
                <a:solidFill>
                  <a:srgbClr val="444444"/>
                </a:solidFill>
              </a:rPr>
              <a:t>• OS Server: Ubuntu Server 22.04 LTS.</a:t>
            </a:r>
            <a:endParaRPr lang="en-US" sz="1100" dirty="0"/>
          </a:p>
          <a:p>
            <a:pPr indent="0" marL="0">
              <a:lnSpc>
                <a:spcPts val="2000"/>
              </a:lnSpc>
              <a:buNone/>
            </a:pPr>
            <a:r>
              <a:rPr lang="en-US" sz="1100" dirty="0">
                <a:solidFill>
                  <a:srgbClr val="444444"/>
                </a:solidFill>
              </a:rPr>
              <a:t>• Phần cứng: 4 CPU Cores, 8GB RAM, 50GB NVMe SSD.</a:t>
            </a:r>
            <a:endParaRPr lang="en-US" sz="1100" dirty="0"/>
          </a:p>
          <a:p>
            <a:pPr indent="0" marL="0">
              <a:lnSpc>
                <a:spcPts val="2000"/>
              </a:lnSpc>
              <a:buNone/>
            </a:pPr>
            <a:r>
              <a:rPr lang="en-US" sz="1100" dirty="0">
                <a:solidFill>
                  <a:srgbClr val="444444"/>
                </a:solidFill>
              </a:rPr>
              <a:t>• Web Server &amp; Runtime: Nginx, PHP 8.1+ (PDO, cURL, JSON).</a:t>
            </a:r>
            <a:endParaRPr lang="en-US" sz="1100" dirty="0"/>
          </a:p>
          <a:p>
            <a:pPr indent="0" marL="0">
              <a:lnSpc>
                <a:spcPts val="2000"/>
              </a:lnSpc>
              <a:buNone/>
            </a:pPr>
            <a:r>
              <a:rPr lang="en-US" sz="1100" dirty="0">
                <a:solidFill>
                  <a:srgbClr val="444444"/>
                </a:solidFill>
              </a:rPr>
              <a:t>• Cơ sở dữ liệu: MySQL 8.0 (Sample 1000+ Users dataset).</a:t>
            </a:r>
            <a:endParaRPr lang="en-US" sz="1100" dirty="0"/>
          </a:p>
          <a:p>
            <a:pPr indent="0" marL="0">
              <a:lnSpc>
                <a:spcPts val="2000"/>
              </a:lnSpc>
              <a:buNone/>
            </a:pPr>
            <a:r>
              <a:rPr lang="en-US" sz="1100" dirty="0">
                <a:solidFill>
                  <a:srgbClr val="444444"/>
                </a:solidFill>
              </a:rPr>
              <a:t>• WebSocket Server: WSS Protocol running on Port 8080.</a:t>
            </a:r>
            <a:endParaRPr lang="en-US" sz="1100" dirty="0"/>
          </a:p>
        </p:txBody>
      </p:sp>
      <p:sp>
        <p:nvSpPr>
          <p:cNvPr id="10" name="Shape 7"/>
          <p:cNvSpPr/>
          <p:nvPr/>
        </p:nvSpPr>
        <p:spPr>
          <a:xfrm>
            <a:off x="6217920" y="1005840"/>
            <a:ext cx="5303520" cy="5120640"/>
          </a:xfrm>
          <a:prstGeom prst="rect">
            <a:avLst/>
          </a:prstGeom>
          <a:solidFill>
            <a:srgbClr val="FFFFFF"/>
          </a:solidFill>
          <a:ln w="12700">
            <a:solidFill>
              <a:srgbClr val="000000"/>
            </a:solidFill>
            <a:prstDash val="solid"/>
          </a:ln>
        </p:spPr>
      </p:sp>
      <p:sp>
        <p:nvSpPr>
          <p:cNvPr id="11" name="Text 8"/>
          <p:cNvSpPr/>
          <p:nvPr/>
        </p:nvSpPr>
        <p:spPr>
          <a:xfrm>
            <a:off x="6400800" y="1188720"/>
            <a:ext cx="4937760" cy="274320"/>
          </a:xfrm>
          <a:prstGeom prst="rect">
            <a:avLst/>
          </a:prstGeom>
          <a:noFill/>
          <a:ln/>
        </p:spPr>
        <p:txBody>
          <a:bodyPr wrap="square" rtlCol="0" anchor="ctr"/>
          <a:lstStyle/>
          <a:p>
            <a:pPr indent="0" marL="0">
              <a:buNone/>
            </a:pPr>
            <a:r>
              <a:rPr lang="en-US" sz="1200" b="1" dirty="0">
                <a:solidFill>
                  <a:srgbClr val="000000"/>
                </a:solidFill>
              </a:rPr>
              <a:t>MOCKING &amp; BROWSER MATRIX &amp; TOOLING</a:t>
            </a:r>
            <a:endParaRPr lang="en-US" sz="1200" dirty="0"/>
          </a:p>
        </p:txBody>
      </p:sp>
      <p:sp>
        <p:nvSpPr>
          <p:cNvPr id="12" name="Text 9"/>
          <p:cNvSpPr/>
          <p:nvPr/>
        </p:nvSpPr>
        <p:spPr>
          <a:xfrm>
            <a:off x="6400800" y="1645920"/>
            <a:ext cx="4937760" cy="4206240"/>
          </a:xfrm>
          <a:prstGeom prst="rect">
            <a:avLst/>
          </a:prstGeom>
          <a:noFill/>
          <a:ln/>
        </p:spPr>
        <p:txBody>
          <a:bodyPr wrap="square" rtlCol="0" anchor="ctr"/>
          <a:lstStyle/>
          <a:p>
            <a:pPr indent="0" marL="0">
              <a:lnSpc>
                <a:spcPts val="1800"/>
              </a:lnSpc>
              <a:buNone/>
            </a:pPr>
            <a:r>
              <a:rPr lang="en-US" sz="1100" dirty="0">
                <a:solidFill>
                  <a:srgbClr val="444444"/>
                </a:solidFill>
              </a:rPr>
              <a:t>• VietQR / MBBank Mock API: Giả lập Webhook đối soát số dư với cú pháp `NAP [ID]`, `SUPER BOOK [ID]`.</a:t>
            </a:r>
            <a:endParaRPr lang="en-US" sz="1100" dirty="0"/>
          </a:p>
          <a:p>
            <a:pPr indent="0" marL="0">
              <a:lnSpc>
                <a:spcPts val="1800"/>
              </a:lnSpc>
              <a:buNone/>
            </a:pPr>
            <a:endParaRPr lang="en-US" sz="1100" dirty="0"/>
          </a:p>
          <a:p>
            <a:pPr indent="0" marL="0">
              <a:lnSpc>
                <a:spcPts val="1800"/>
              </a:lnSpc>
              <a:buNone/>
            </a:pPr>
            <a:r>
              <a:rPr lang="en-US" sz="1100" dirty="0">
                <a:solidFill>
                  <a:srgbClr val="444444"/>
                </a:solidFill>
              </a:rPr>
              <a:t>• Ma trận trình duyệt: Chrome, Firefox, Safari, Edge &amp; Mobile Web Responsive (375px - 1440px).</a:t>
            </a:r>
            <a:endParaRPr lang="en-US" sz="1100" dirty="0"/>
          </a:p>
          <a:p>
            <a:pPr indent="0" marL="0">
              <a:lnSpc>
                <a:spcPts val="1800"/>
              </a:lnSpc>
              <a:buNone/>
            </a:pPr>
            <a:endParaRPr lang="en-US" sz="1100" dirty="0"/>
          </a:p>
          <a:p>
            <a:pPr indent="0" marL="0">
              <a:lnSpc>
                <a:spcPts val="1800"/>
              </a:lnSpc>
              <a:buNone/>
            </a:pPr>
            <a:r>
              <a:rPr lang="en-US" sz="1100" dirty="0">
                <a:solidFill>
                  <a:srgbClr val="444444"/>
                </a:solidFill>
              </a:rPr>
              <a:t>• Bộ công cụ kiểm thử:</a:t>
            </a:r>
            <a:endParaRPr lang="en-US" sz="1100" dirty="0"/>
          </a:p>
          <a:p>
            <a:pPr indent="0" marL="0">
              <a:lnSpc>
                <a:spcPts val="1800"/>
              </a:lnSpc>
              <a:buNone/>
            </a:pPr>
            <a:r>
              <a:rPr lang="en-US" sz="1100" dirty="0">
                <a:solidFill>
                  <a:srgbClr val="444444"/>
                </a:solidFill>
              </a:rPr>
              <a:t>  - Postman / Bruno (API Testing)</a:t>
            </a:r>
            <a:endParaRPr lang="en-US" sz="1100" dirty="0"/>
          </a:p>
          <a:p>
            <a:pPr indent="0" marL="0">
              <a:lnSpc>
                <a:spcPts val="1800"/>
              </a:lnSpc>
              <a:buNone/>
            </a:pPr>
            <a:r>
              <a:rPr lang="en-US" sz="1100" dirty="0">
                <a:solidFill>
                  <a:srgbClr val="444444"/>
                </a:solidFill>
              </a:rPr>
              <a:t>  - Apache JMeter (Load Test 500 users)</a:t>
            </a:r>
            <a:endParaRPr lang="en-US" sz="1100" dirty="0"/>
          </a:p>
          <a:p>
            <a:pPr indent="0" marL="0">
              <a:lnSpc>
                <a:spcPts val="1800"/>
              </a:lnSpc>
              <a:buNone/>
            </a:pPr>
            <a:r>
              <a:rPr lang="en-US" sz="1100" dirty="0">
                <a:solidFill>
                  <a:srgbClr val="444444"/>
                </a:solidFill>
              </a:rPr>
              <a:t>  - OWASP ZAP (Security Penetration)</a:t>
            </a:r>
            <a:endParaRPr lang="en-US" sz="1100" dirty="0"/>
          </a:p>
          <a:p>
            <a:pPr indent="0" marL="0">
              <a:lnSpc>
                <a:spcPts val="1800"/>
              </a:lnSpc>
              <a:buNone/>
            </a:pPr>
            <a:r>
              <a:rPr lang="en-US" sz="1100" dirty="0">
                <a:solidFill>
                  <a:srgbClr val="444444"/>
                </a:solidFill>
              </a:rPr>
              <a:t>  - Selenium / Playwright (Automation Suite)</a:t>
            </a:r>
            <a:endParaRPr lang="en-US" sz="1100" dirty="0"/>
          </a:p>
          <a:p>
            <a:pPr indent="0" marL="0">
              <a:lnSpc>
                <a:spcPts val="1800"/>
              </a:lnSpc>
              <a:buNone/>
            </a:pPr>
            <a:r>
              <a:rPr lang="en-US" sz="1100" dirty="0">
                <a:solidFill>
                  <a:srgbClr val="444444"/>
                </a:solidFill>
              </a:rPr>
              <a:t>  - Jira / GitHub Issues (Bug Tracker)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LỊCH TRÌNH KIỂM THỬ</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6. Lịch Trình Thực Hiện (18/09 – 30/09/2026)</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10 / 12</a:t>
            </a:r>
            <a:endParaRPr lang="en-US" sz="1100" dirty="0"/>
          </a:p>
        </p:txBody>
      </p:sp>
      <p:sp>
        <p:nvSpPr>
          <p:cNvPr id="7" name="Shape 4"/>
          <p:cNvSpPr/>
          <p:nvPr/>
        </p:nvSpPr>
        <p:spPr>
          <a:xfrm>
            <a:off x="548640" y="1005840"/>
            <a:ext cx="10972800" cy="960120"/>
          </a:xfrm>
          <a:prstGeom prst="rect">
            <a:avLst/>
          </a:prstGeom>
          <a:solidFill>
            <a:srgbClr val="FFFFFF"/>
          </a:solidFill>
          <a:ln w="19050">
            <a:solidFill>
              <a:srgbClr val="000000"/>
            </a:solidFill>
            <a:prstDash val="solid"/>
          </a:ln>
        </p:spPr>
      </p:sp>
      <p:sp>
        <p:nvSpPr>
          <p:cNvPr id="8" name="Text 5"/>
          <p:cNvSpPr/>
          <p:nvPr/>
        </p:nvSpPr>
        <p:spPr>
          <a:xfrm>
            <a:off x="731520" y="1143000"/>
            <a:ext cx="2926080" cy="274320"/>
          </a:xfrm>
          <a:prstGeom prst="rect">
            <a:avLst/>
          </a:prstGeom>
          <a:noFill/>
          <a:ln/>
        </p:spPr>
        <p:txBody>
          <a:bodyPr wrap="square" rtlCol="0" anchor="ctr"/>
          <a:lstStyle/>
          <a:p>
            <a:pPr indent="0" marL="0">
              <a:buNone/>
            </a:pPr>
            <a:r>
              <a:rPr lang="en-US" sz="1100" b="1" dirty="0">
                <a:solidFill>
                  <a:srgbClr val="000000"/>
                </a:solidFill>
              </a:rPr>
              <a:t>Giai đoạn 1 (18/09 - 20/09)</a:t>
            </a:r>
            <a:endParaRPr lang="en-US" sz="1100" dirty="0"/>
          </a:p>
        </p:txBody>
      </p:sp>
      <p:sp>
        <p:nvSpPr>
          <p:cNvPr id="9" name="Text 6"/>
          <p:cNvSpPr/>
          <p:nvPr/>
        </p:nvSpPr>
        <p:spPr>
          <a:xfrm>
            <a:off x="731520" y="1417320"/>
            <a:ext cx="2926080" cy="411480"/>
          </a:xfrm>
          <a:prstGeom prst="rect">
            <a:avLst/>
          </a:prstGeom>
          <a:noFill/>
          <a:ln/>
        </p:spPr>
        <p:txBody>
          <a:bodyPr wrap="square" rtlCol="0" anchor="ctr"/>
          <a:lstStyle/>
          <a:p>
            <a:pPr indent="0" marL="0">
              <a:buNone/>
            </a:pPr>
            <a:r>
              <a:rPr lang="en-US" sz="1200" b="1" dirty="0">
                <a:solidFill>
                  <a:srgbClr val="000000"/>
                </a:solidFill>
              </a:rPr>
              <a:t>Chuẩn Bị &amp; Thiết Kế Test Cases</a:t>
            </a:r>
            <a:endParaRPr lang="en-US" sz="1200" dirty="0"/>
          </a:p>
        </p:txBody>
      </p:sp>
      <p:sp>
        <p:nvSpPr>
          <p:cNvPr id="10" name="Text 7"/>
          <p:cNvSpPr/>
          <p:nvPr/>
        </p:nvSpPr>
        <p:spPr>
          <a:xfrm>
            <a:off x="3840480" y="1143000"/>
            <a:ext cx="4389120" cy="685800"/>
          </a:xfrm>
          <a:prstGeom prst="rect">
            <a:avLst/>
          </a:prstGeom>
          <a:noFill/>
          <a:ln/>
        </p:spPr>
        <p:txBody>
          <a:bodyPr wrap="square" rtlCol="0" anchor="ctr"/>
          <a:lstStyle/>
          <a:p>
            <a:pPr indent="0" marL="0">
              <a:buNone/>
            </a:pPr>
            <a:r>
              <a:rPr lang="en-US" sz="1100" dirty="0">
                <a:solidFill>
                  <a:srgbClr val="444444"/>
                </a:solidFill>
              </a:rPr>
              <a:t>Phân tích SRS, thiết kế 250+ Test Cases, dựng Staging Server &amp; Mock API Bank.</a:t>
            </a:r>
            <a:endParaRPr lang="en-US" sz="1100" dirty="0"/>
          </a:p>
        </p:txBody>
      </p:sp>
      <p:sp>
        <p:nvSpPr>
          <p:cNvPr id="11" name="Text 8"/>
          <p:cNvSpPr/>
          <p:nvPr/>
        </p:nvSpPr>
        <p:spPr>
          <a:xfrm>
            <a:off x="8321040" y="1325880"/>
            <a:ext cx="3017520" cy="365760"/>
          </a:xfrm>
          <a:prstGeom prst="rect">
            <a:avLst/>
          </a:prstGeom>
          <a:noFill/>
          <a:ln/>
        </p:spPr>
        <p:txBody>
          <a:bodyPr wrap="square" rtlCol="0" anchor="ctr"/>
          <a:lstStyle/>
          <a:p>
            <a:pPr algn="r" indent="0" marL="0">
              <a:buNone/>
            </a:pPr>
            <a:r>
              <a:rPr lang="en-US" sz="1000" b="1" dirty="0">
                <a:solidFill>
                  <a:srgbClr val="000000"/>
                </a:solidFill>
              </a:rPr>
              <a:t>Milestone 1 (20/09): Chốt Test Cases</a:t>
            </a:r>
            <a:endParaRPr lang="en-US" sz="1000" dirty="0"/>
          </a:p>
        </p:txBody>
      </p:sp>
      <p:sp>
        <p:nvSpPr>
          <p:cNvPr id="12" name="Shape 9"/>
          <p:cNvSpPr/>
          <p:nvPr/>
        </p:nvSpPr>
        <p:spPr>
          <a:xfrm>
            <a:off x="548640" y="2057400"/>
            <a:ext cx="10972800" cy="960120"/>
          </a:xfrm>
          <a:prstGeom prst="rect">
            <a:avLst/>
          </a:prstGeom>
          <a:solidFill>
            <a:srgbClr val="FFFFFF"/>
          </a:solidFill>
          <a:ln w="19050">
            <a:solidFill>
              <a:srgbClr val="000000"/>
            </a:solidFill>
            <a:prstDash val="solid"/>
          </a:ln>
        </p:spPr>
      </p:sp>
      <p:sp>
        <p:nvSpPr>
          <p:cNvPr id="13" name="Text 10"/>
          <p:cNvSpPr/>
          <p:nvPr/>
        </p:nvSpPr>
        <p:spPr>
          <a:xfrm>
            <a:off x="731520" y="2194560"/>
            <a:ext cx="2926080" cy="274320"/>
          </a:xfrm>
          <a:prstGeom prst="rect">
            <a:avLst/>
          </a:prstGeom>
          <a:noFill/>
          <a:ln/>
        </p:spPr>
        <p:txBody>
          <a:bodyPr wrap="square" rtlCol="0" anchor="ctr"/>
          <a:lstStyle/>
          <a:p>
            <a:pPr indent="0" marL="0">
              <a:buNone/>
            </a:pPr>
            <a:r>
              <a:rPr lang="en-US" sz="1100" b="1" dirty="0">
                <a:solidFill>
                  <a:srgbClr val="000000"/>
                </a:solidFill>
              </a:rPr>
              <a:t>Giai đoạn 2 (21/09 - 24/09)</a:t>
            </a:r>
            <a:endParaRPr lang="en-US" sz="1100" dirty="0"/>
          </a:p>
        </p:txBody>
      </p:sp>
      <p:sp>
        <p:nvSpPr>
          <p:cNvPr id="14" name="Text 11"/>
          <p:cNvSpPr/>
          <p:nvPr/>
        </p:nvSpPr>
        <p:spPr>
          <a:xfrm>
            <a:off x="731520" y="2468880"/>
            <a:ext cx="2926080" cy="411480"/>
          </a:xfrm>
          <a:prstGeom prst="rect">
            <a:avLst/>
          </a:prstGeom>
          <a:noFill/>
          <a:ln/>
        </p:spPr>
        <p:txBody>
          <a:bodyPr wrap="square" rtlCol="0" anchor="ctr"/>
          <a:lstStyle/>
          <a:p>
            <a:pPr indent="0" marL="0">
              <a:buNone/>
            </a:pPr>
            <a:r>
              <a:rPr lang="en-US" sz="1200" b="1" dirty="0">
                <a:solidFill>
                  <a:srgbClr val="000000"/>
                </a:solidFill>
              </a:rPr>
              <a:t>Thực Thi Functional &amp; Integration (Pass 1)</a:t>
            </a:r>
            <a:endParaRPr lang="en-US" sz="1200" dirty="0"/>
          </a:p>
        </p:txBody>
      </p:sp>
      <p:sp>
        <p:nvSpPr>
          <p:cNvPr id="15" name="Text 12"/>
          <p:cNvSpPr/>
          <p:nvPr/>
        </p:nvSpPr>
        <p:spPr>
          <a:xfrm>
            <a:off x="3840480" y="2194560"/>
            <a:ext cx="4389120" cy="685800"/>
          </a:xfrm>
          <a:prstGeom prst="rect">
            <a:avLst/>
          </a:prstGeom>
          <a:noFill/>
          <a:ln/>
        </p:spPr>
        <p:txBody>
          <a:bodyPr wrap="square" rtlCol="0" anchor="ctr"/>
          <a:lstStyle/>
          <a:p>
            <a:pPr indent="0" marL="0">
              <a:buNone/>
            </a:pPr>
            <a:r>
              <a:rPr lang="en-US" sz="1100" dirty="0">
                <a:solidFill>
                  <a:srgbClr val="444444"/>
                </a:solidFill>
              </a:rPr>
              <a:t>Test 7 mô-đun chức năng, VietQR đối soát &amp; WebSockets real-time. Log Defect.</a:t>
            </a:r>
            <a:endParaRPr lang="en-US" sz="1100" dirty="0"/>
          </a:p>
        </p:txBody>
      </p:sp>
      <p:sp>
        <p:nvSpPr>
          <p:cNvPr id="16" name="Text 13"/>
          <p:cNvSpPr/>
          <p:nvPr/>
        </p:nvSpPr>
        <p:spPr>
          <a:xfrm>
            <a:off x="8321040" y="2377440"/>
            <a:ext cx="3017520" cy="365760"/>
          </a:xfrm>
          <a:prstGeom prst="rect">
            <a:avLst/>
          </a:prstGeom>
          <a:noFill/>
          <a:ln/>
        </p:spPr>
        <p:txBody>
          <a:bodyPr wrap="square" rtlCol="0" anchor="ctr"/>
          <a:lstStyle/>
          <a:p>
            <a:pPr algn="r" indent="0" marL="0">
              <a:buNone/>
            </a:pPr>
            <a:r>
              <a:rPr lang="en-US" sz="1000" b="1" dirty="0">
                <a:solidFill>
                  <a:srgbClr val="000000"/>
                </a:solidFill>
              </a:rPr>
              <a:t>Milestone 2 (24/09): Hoàn tất Functional Pass 1</a:t>
            </a:r>
            <a:endParaRPr lang="en-US" sz="1000" dirty="0"/>
          </a:p>
        </p:txBody>
      </p:sp>
      <p:sp>
        <p:nvSpPr>
          <p:cNvPr id="17" name="Shape 14"/>
          <p:cNvSpPr/>
          <p:nvPr/>
        </p:nvSpPr>
        <p:spPr>
          <a:xfrm>
            <a:off x="548640" y="3108960"/>
            <a:ext cx="10972800" cy="960120"/>
          </a:xfrm>
          <a:prstGeom prst="rect">
            <a:avLst/>
          </a:prstGeom>
          <a:solidFill>
            <a:srgbClr val="FFFFFF"/>
          </a:solidFill>
          <a:ln w="19050">
            <a:solidFill>
              <a:srgbClr val="000000"/>
            </a:solidFill>
            <a:prstDash val="solid"/>
          </a:ln>
        </p:spPr>
      </p:sp>
      <p:sp>
        <p:nvSpPr>
          <p:cNvPr id="18" name="Text 15"/>
          <p:cNvSpPr/>
          <p:nvPr/>
        </p:nvSpPr>
        <p:spPr>
          <a:xfrm>
            <a:off x="731520" y="3246120"/>
            <a:ext cx="2926080" cy="274320"/>
          </a:xfrm>
          <a:prstGeom prst="rect">
            <a:avLst/>
          </a:prstGeom>
          <a:noFill/>
          <a:ln/>
        </p:spPr>
        <p:txBody>
          <a:bodyPr wrap="square" rtlCol="0" anchor="ctr"/>
          <a:lstStyle/>
          <a:p>
            <a:pPr indent="0" marL="0">
              <a:buNone/>
            </a:pPr>
            <a:r>
              <a:rPr lang="en-US" sz="1100" b="1" dirty="0">
                <a:solidFill>
                  <a:srgbClr val="000000"/>
                </a:solidFill>
              </a:rPr>
              <a:t>Giai đoạn 3 (25/09 - 27/09)</a:t>
            </a:r>
            <a:endParaRPr lang="en-US" sz="1100" dirty="0"/>
          </a:p>
        </p:txBody>
      </p:sp>
      <p:sp>
        <p:nvSpPr>
          <p:cNvPr id="19" name="Text 16"/>
          <p:cNvSpPr/>
          <p:nvPr/>
        </p:nvSpPr>
        <p:spPr>
          <a:xfrm>
            <a:off x="731520" y="3520440"/>
            <a:ext cx="2926080" cy="411480"/>
          </a:xfrm>
          <a:prstGeom prst="rect">
            <a:avLst/>
          </a:prstGeom>
          <a:noFill/>
          <a:ln/>
        </p:spPr>
        <p:txBody>
          <a:bodyPr wrap="square" rtlCol="0" anchor="ctr"/>
          <a:lstStyle/>
          <a:p>
            <a:pPr indent="0" marL="0">
              <a:buNone/>
            </a:pPr>
            <a:r>
              <a:rPr lang="en-US" sz="1200" b="1" dirty="0">
                <a:solidFill>
                  <a:srgbClr val="000000"/>
                </a:solidFill>
              </a:rPr>
              <a:t>Kiểm Thử Phi Chức Năng (Non-functional)</a:t>
            </a:r>
            <a:endParaRPr lang="en-US" sz="1200" dirty="0"/>
          </a:p>
        </p:txBody>
      </p:sp>
      <p:sp>
        <p:nvSpPr>
          <p:cNvPr id="20" name="Text 17"/>
          <p:cNvSpPr/>
          <p:nvPr/>
        </p:nvSpPr>
        <p:spPr>
          <a:xfrm>
            <a:off x="3840480" y="3246120"/>
            <a:ext cx="4389120" cy="685800"/>
          </a:xfrm>
          <a:prstGeom prst="rect">
            <a:avLst/>
          </a:prstGeom>
          <a:noFill/>
          <a:ln/>
        </p:spPr>
        <p:txBody>
          <a:bodyPr wrap="square" rtlCol="0" anchor="ctr"/>
          <a:lstStyle/>
          <a:p>
            <a:pPr indent="0" marL="0">
              <a:buNone/>
            </a:pPr>
            <a:r>
              <a:rPr lang="en-US" sz="1100" dirty="0">
                <a:solidFill>
                  <a:srgbClr val="444444"/>
                </a:solidFill>
              </a:rPr>
              <a:t>JMeter Load Test (500 users), OWASP ZAP Pentest (SQLi/XSS), Cross-browser UX.</a:t>
            </a:r>
            <a:endParaRPr lang="en-US" sz="1100" dirty="0"/>
          </a:p>
        </p:txBody>
      </p:sp>
      <p:sp>
        <p:nvSpPr>
          <p:cNvPr id="21" name="Text 18"/>
          <p:cNvSpPr/>
          <p:nvPr/>
        </p:nvSpPr>
        <p:spPr>
          <a:xfrm>
            <a:off x="8321040" y="3429000"/>
            <a:ext cx="3017520" cy="365760"/>
          </a:xfrm>
          <a:prstGeom prst="rect">
            <a:avLst/>
          </a:prstGeom>
          <a:noFill/>
          <a:ln/>
        </p:spPr>
        <p:txBody>
          <a:bodyPr wrap="square" rtlCol="0" anchor="ctr"/>
          <a:lstStyle/>
          <a:p>
            <a:pPr algn="r" indent="0" marL="0">
              <a:buNone/>
            </a:pPr>
            <a:r>
              <a:rPr lang="en-US" sz="1000" b="1" dirty="0">
                <a:solidFill>
                  <a:srgbClr val="000000"/>
                </a:solidFill>
              </a:rPr>
              <a:t>Milestone 3 (27/09): Hoàn tất Perf &amp; Security Test</a:t>
            </a:r>
            <a:endParaRPr lang="en-US" sz="1000" dirty="0"/>
          </a:p>
        </p:txBody>
      </p:sp>
      <p:sp>
        <p:nvSpPr>
          <p:cNvPr id="22" name="Shape 19"/>
          <p:cNvSpPr/>
          <p:nvPr/>
        </p:nvSpPr>
        <p:spPr>
          <a:xfrm>
            <a:off x="548640" y="4160520"/>
            <a:ext cx="10972800" cy="960120"/>
          </a:xfrm>
          <a:prstGeom prst="rect">
            <a:avLst/>
          </a:prstGeom>
          <a:solidFill>
            <a:srgbClr val="FFFFFF"/>
          </a:solidFill>
          <a:ln w="19050">
            <a:solidFill>
              <a:srgbClr val="000000"/>
            </a:solidFill>
            <a:prstDash val="solid"/>
          </a:ln>
        </p:spPr>
      </p:sp>
      <p:sp>
        <p:nvSpPr>
          <p:cNvPr id="23" name="Text 20"/>
          <p:cNvSpPr/>
          <p:nvPr/>
        </p:nvSpPr>
        <p:spPr>
          <a:xfrm>
            <a:off x="731520" y="4297680"/>
            <a:ext cx="2926080" cy="274320"/>
          </a:xfrm>
          <a:prstGeom prst="rect">
            <a:avLst/>
          </a:prstGeom>
          <a:noFill/>
          <a:ln/>
        </p:spPr>
        <p:txBody>
          <a:bodyPr wrap="square" rtlCol="0" anchor="ctr"/>
          <a:lstStyle/>
          <a:p>
            <a:pPr indent="0" marL="0">
              <a:buNone/>
            </a:pPr>
            <a:r>
              <a:rPr lang="en-US" sz="1100" b="1" dirty="0">
                <a:solidFill>
                  <a:srgbClr val="000000"/>
                </a:solidFill>
              </a:rPr>
              <a:t>Giai đoạn 4 (28/09 - 29/09)</a:t>
            </a:r>
            <a:endParaRPr lang="en-US" sz="1100" dirty="0"/>
          </a:p>
        </p:txBody>
      </p:sp>
      <p:sp>
        <p:nvSpPr>
          <p:cNvPr id="24" name="Text 21"/>
          <p:cNvSpPr/>
          <p:nvPr/>
        </p:nvSpPr>
        <p:spPr>
          <a:xfrm>
            <a:off x="731520" y="4572000"/>
            <a:ext cx="2926080" cy="411480"/>
          </a:xfrm>
          <a:prstGeom prst="rect">
            <a:avLst/>
          </a:prstGeom>
          <a:noFill/>
          <a:ln/>
        </p:spPr>
        <p:txBody>
          <a:bodyPr wrap="square" rtlCol="0" anchor="ctr"/>
          <a:lstStyle/>
          <a:p>
            <a:pPr indent="0" marL="0">
              <a:buNone/>
            </a:pPr>
            <a:r>
              <a:rPr lang="en-US" sz="1200" b="1" dirty="0">
                <a:solidFill>
                  <a:srgbClr val="000000"/>
                </a:solidFill>
              </a:rPr>
              <a:t>Re-testing &amp; Regression Testing (Pass 2)</a:t>
            </a:r>
            <a:endParaRPr lang="en-US" sz="1200" dirty="0"/>
          </a:p>
        </p:txBody>
      </p:sp>
      <p:sp>
        <p:nvSpPr>
          <p:cNvPr id="25" name="Text 22"/>
          <p:cNvSpPr/>
          <p:nvPr/>
        </p:nvSpPr>
        <p:spPr>
          <a:xfrm>
            <a:off x="3840480" y="4297680"/>
            <a:ext cx="4389120" cy="685800"/>
          </a:xfrm>
          <a:prstGeom prst="rect">
            <a:avLst/>
          </a:prstGeom>
          <a:noFill/>
          <a:ln/>
        </p:spPr>
        <p:txBody>
          <a:bodyPr wrap="square" rtlCol="0" anchor="ctr"/>
          <a:lstStyle/>
          <a:p>
            <a:pPr indent="0" marL="0">
              <a:buNone/>
            </a:pPr>
            <a:r>
              <a:rPr lang="en-US" sz="1100" dirty="0">
                <a:solidFill>
                  <a:srgbClr val="444444"/>
                </a:solidFill>
              </a:rPr>
              <a:t>Re-test lỗi Dev đã fix, thực thi kịch bản Automation Regression Suite.</a:t>
            </a:r>
            <a:endParaRPr lang="en-US" sz="1100" dirty="0"/>
          </a:p>
        </p:txBody>
      </p:sp>
      <p:sp>
        <p:nvSpPr>
          <p:cNvPr id="26" name="Text 23"/>
          <p:cNvSpPr/>
          <p:nvPr/>
        </p:nvSpPr>
        <p:spPr>
          <a:xfrm>
            <a:off x="8321040" y="4480560"/>
            <a:ext cx="3017520" cy="365760"/>
          </a:xfrm>
          <a:prstGeom prst="rect">
            <a:avLst/>
          </a:prstGeom>
          <a:noFill/>
          <a:ln/>
        </p:spPr>
        <p:txBody>
          <a:bodyPr wrap="square" rtlCol="0" anchor="ctr"/>
          <a:lstStyle/>
          <a:p>
            <a:pPr algn="r" indent="0" marL="0">
              <a:buNone/>
            </a:pPr>
            <a:r>
              <a:rPr lang="en-US" sz="1000" b="1" dirty="0">
                <a:solidFill>
                  <a:srgbClr val="000000"/>
                </a:solidFill>
              </a:rPr>
              <a:t>Milestone 4 (29/09): Zero Blocker &amp; Critical Bugs</a:t>
            </a:r>
            <a:endParaRPr lang="en-US" sz="1000" dirty="0"/>
          </a:p>
        </p:txBody>
      </p:sp>
      <p:sp>
        <p:nvSpPr>
          <p:cNvPr id="27" name="Shape 24"/>
          <p:cNvSpPr/>
          <p:nvPr/>
        </p:nvSpPr>
        <p:spPr>
          <a:xfrm>
            <a:off x="548640" y="5212080"/>
            <a:ext cx="10972800" cy="960120"/>
          </a:xfrm>
          <a:prstGeom prst="rect">
            <a:avLst/>
          </a:prstGeom>
          <a:solidFill>
            <a:srgbClr val="FFFFFF"/>
          </a:solidFill>
          <a:ln w="19050">
            <a:solidFill>
              <a:srgbClr val="000000"/>
            </a:solidFill>
            <a:prstDash val="solid"/>
          </a:ln>
        </p:spPr>
      </p:sp>
      <p:sp>
        <p:nvSpPr>
          <p:cNvPr id="28" name="Text 25"/>
          <p:cNvSpPr/>
          <p:nvPr/>
        </p:nvSpPr>
        <p:spPr>
          <a:xfrm>
            <a:off x="731520" y="5349240"/>
            <a:ext cx="2926080" cy="274320"/>
          </a:xfrm>
          <a:prstGeom prst="rect">
            <a:avLst/>
          </a:prstGeom>
          <a:noFill/>
          <a:ln/>
        </p:spPr>
        <p:txBody>
          <a:bodyPr wrap="square" rtlCol="0" anchor="ctr"/>
          <a:lstStyle/>
          <a:p>
            <a:pPr indent="0" marL="0">
              <a:buNone/>
            </a:pPr>
            <a:r>
              <a:rPr lang="en-US" sz="1100" b="1" dirty="0">
                <a:solidFill>
                  <a:srgbClr val="000000"/>
                </a:solidFill>
              </a:rPr>
              <a:t>Giai đoạn 5 (30/09)</a:t>
            </a:r>
            <a:endParaRPr lang="en-US" sz="1100" dirty="0"/>
          </a:p>
        </p:txBody>
      </p:sp>
      <p:sp>
        <p:nvSpPr>
          <p:cNvPr id="29" name="Text 26"/>
          <p:cNvSpPr/>
          <p:nvPr/>
        </p:nvSpPr>
        <p:spPr>
          <a:xfrm>
            <a:off x="731520" y="5623560"/>
            <a:ext cx="2926080" cy="411480"/>
          </a:xfrm>
          <a:prstGeom prst="rect">
            <a:avLst/>
          </a:prstGeom>
          <a:noFill/>
          <a:ln/>
        </p:spPr>
        <p:txBody>
          <a:bodyPr wrap="square" rtlCol="0" anchor="ctr"/>
          <a:lstStyle/>
          <a:p>
            <a:pPr indent="0" marL="0">
              <a:buNone/>
            </a:pPr>
            <a:r>
              <a:rPr lang="en-US" sz="1200" b="1" dirty="0">
                <a:solidFill>
                  <a:srgbClr val="000000"/>
                </a:solidFill>
              </a:rPr>
              <a:t>Báo Cáo Tổng Kết &amp; Sign-off Release</a:t>
            </a:r>
            <a:endParaRPr lang="en-US" sz="1200" dirty="0"/>
          </a:p>
        </p:txBody>
      </p:sp>
      <p:sp>
        <p:nvSpPr>
          <p:cNvPr id="30" name="Text 27"/>
          <p:cNvSpPr/>
          <p:nvPr/>
        </p:nvSpPr>
        <p:spPr>
          <a:xfrm>
            <a:off x="3840480" y="5349240"/>
            <a:ext cx="4389120" cy="685800"/>
          </a:xfrm>
          <a:prstGeom prst="rect">
            <a:avLst/>
          </a:prstGeom>
          <a:noFill/>
          <a:ln/>
        </p:spPr>
        <p:txBody>
          <a:bodyPr wrap="square" rtlCol="0" anchor="ctr"/>
          <a:lstStyle/>
          <a:p>
            <a:pPr indent="0" marL="0">
              <a:buNone/>
            </a:pPr>
            <a:r>
              <a:rPr lang="en-US" sz="1100" dirty="0">
                <a:solidFill>
                  <a:srgbClr val="444444"/>
                </a:solidFill>
              </a:rPr>
              <a:t>Tổng hợp chỉ số Defect, viết Báo cáo nghiệm thu &amp; họp duyệt Go-Live chính thức.</a:t>
            </a:r>
            <a:endParaRPr lang="en-US" sz="1100" dirty="0"/>
          </a:p>
        </p:txBody>
      </p:sp>
      <p:sp>
        <p:nvSpPr>
          <p:cNvPr id="31" name="Text 28"/>
          <p:cNvSpPr/>
          <p:nvPr/>
        </p:nvSpPr>
        <p:spPr>
          <a:xfrm>
            <a:off x="8321040" y="5532120"/>
            <a:ext cx="3017520" cy="365760"/>
          </a:xfrm>
          <a:prstGeom prst="rect">
            <a:avLst/>
          </a:prstGeom>
          <a:noFill/>
          <a:ln/>
        </p:spPr>
        <p:txBody>
          <a:bodyPr wrap="square" rtlCol="0" anchor="ctr"/>
          <a:lstStyle/>
          <a:p>
            <a:pPr algn="r" indent="0" marL="0">
              <a:buNone/>
            </a:pPr>
            <a:r>
              <a:rPr lang="en-US" sz="1000" b="1" dirty="0">
                <a:solidFill>
                  <a:srgbClr val="000000"/>
                </a:solidFill>
              </a:rPr>
              <a:t>Milestone 5 (30/09): Sign-off &amp; Đóng dự án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FFFF"/>
          </a:solidFill>
          <a:ln w="12700">
            <a:solidFill>
              <a:srgbClr val="000000"/>
            </a:solidFill>
            <a:prstDash val="solid"/>
          </a:ln>
        </p:spPr>
      </p:sp>
      <p:sp>
        <p:nvSpPr>
          <p:cNvPr id="3" name="Text 1"/>
          <p:cNvSpPr/>
          <p:nvPr/>
        </p:nvSpPr>
        <p:spPr>
          <a:xfrm>
            <a:off x="457200" y="164592"/>
            <a:ext cx="3657600" cy="228600"/>
          </a:xfrm>
          <a:prstGeom prst="rect">
            <a:avLst/>
          </a:prstGeom>
          <a:noFill/>
          <a:ln/>
        </p:spPr>
        <p:txBody>
          <a:bodyPr wrap="square" rtlCol="0" anchor="ctr"/>
          <a:lstStyle/>
          <a:p>
            <a:pPr indent="0" marL="0">
              <a:buNone/>
            </a:pPr>
            <a:r>
              <a:rPr lang="en-US" sz="1000" b="1" dirty="0">
                <a:solidFill>
                  <a:srgbClr val="444444"/>
                </a:solidFill>
              </a:rPr>
              <a:t>CHỈ SỐ &amp; ĐÁNH GIÁ</a:t>
            </a:r>
            <a:endParaRPr lang="en-US" sz="1000" dirty="0"/>
          </a:p>
        </p:txBody>
      </p:sp>
      <p:sp>
        <p:nvSpPr>
          <p:cNvPr id="4" name="Text 2"/>
          <p:cNvSpPr/>
          <p:nvPr/>
        </p:nvSpPr>
        <p:spPr>
          <a:xfrm>
            <a:off x="457200" y="384048"/>
            <a:ext cx="9144000" cy="365760"/>
          </a:xfrm>
          <a:prstGeom prst="rect">
            <a:avLst/>
          </a:prstGeom>
          <a:noFill/>
          <a:ln/>
        </p:spPr>
        <p:txBody>
          <a:bodyPr wrap="square" rtlCol="0" anchor="ctr"/>
          <a:lstStyle/>
          <a:p>
            <a:pPr indent="0" marL="0">
              <a:buNone/>
            </a:pPr>
            <a:r>
              <a:rPr lang="en-US" sz="1800" b="1" dirty="0">
                <a:solidFill>
                  <a:srgbClr val="000000"/>
                </a:solidFill>
              </a:rPr>
              <a:t>Chỉ Số Nghiệm Thu Chất Lượng (Quality Gates)</a:t>
            </a:r>
            <a:endParaRPr lang="en-US" sz="1800" dirty="0"/>
          </a:p>
        </p:txBody>
      </p:sp>
      <p:sp>
        <p:nvSpPr>
          <p:cNvPr id="5" name="Text 3"/>
          <p:cNvSpPr/>
          <p:nvPr/>
        </p:nvSpPr>
        <p:spPr>
          <a:xfrm>
            <a:off x="10241280" y="274320"/>
            <a:ext cx="1645920" cy="274320"/>
          </a:xfrm>
          <a:prstGeom prst="rect">
            <a:avLst/>
          </a:prstGeom>
          <a:noFill/>
          <a:ln/>
        </p:spPr>
        <p:txBody>
          <a:bodyPr wrap="square" rtlCol="0" anchor="ctr"/>
          <a:lstStyle/>
          <a:p>
            <a:pPr algn="r" indent="0" marL="0">
              <a:buNone/>
            </a:pPr>
            <a:r>
              <a:rPr lang="en-US" sz="1100" b="1" dirty="0">
                <a:solidFill>
                  <a:srgbClr val="000000"/>
                </a:solidFill>
              </a:rPr>
              <a:t>Slide 11 / 12</a:t>
            </a:r>
            <a:endParaRPr lang="en-US" sz="1100" dirty="0"/>
          </a:p>
        </p:txBody>
      </p:sp>
      <p:sp>
        <p:nvSpPr>
          <p:cNvPr id="7" name="Shape 4"/>
          <p:cNvSpPr/>
          <p:nvPr/>
        </p:nvSpPr>
        <p:spPr>
          <a:xfrm>
            <a:off x="548640" y="1005840"/>
            <a:ext cx="5303520" cy="5120640"/>
          </a:xfrm>
          <a:prstGeom prst="rect">
            <a:avLst/>
          </a:prstGeom>
          <a:solidFill>
            <a:srgbClr val="FFFFFF"/>
          </a:solidFill>
          <a:ln w="12700">
            <a:solidFill>
              <a:srgbClr val="000000"/>
            </a:solidFill>
            <a:prstDash val="solid"/>
          </a:ln>
        </p:spPr>
      </p:sp>
      <p:sp>
        <p:nvSpPr>
          <p:cNvPr id="8" name="Text 5"/>
          <p:cNvSpPr/>
          <p:nvPr/>
        </p:nvSpPr>
        <p:spPr>
          <a:xfrm>
            <a:off x="731520" y="1188720"/>
            <a:ext cx="4937760" cy="274320"/>
          </a:xfrm>
          <a:prstGeom prst="rect">
            <a:avLst/>
          </a:prstGeom>
          <a:noFill/>
          <a:ln/>
        </p:spPr>
        <p:txBody>
          <a:bodyPr wrap="square" rtlCol="0" anchor="ctr"/>
          <a:lstStyle/>
          <a:p>
            <a:pPr indent="0" marL="0">
              <a:buNone/>
            </a:pPr>
            <a:r>
              <a:rPr lang="en-US" sz="1200" b="1" dirty="0">
                <a:solidFill>
                  <a:srgbClr val="000000"/>
                </a:solidFill>
              </a:rPr>
              <a:t>CHỈ SỐ CHẤT LƯỢNG NGHIỆM THU</a:t>
            </a:r>
            <a:endParaRPr lang="en-US" sz="1200" dirty="0"/>
          </a:p>
        </p:txBody>
      </p:sp>
      <p:sp>
        <p:nvSpPr>
          <p:cNvPr id="9" name="Shape 6"/>
          <p:cNvSpPr/>
          <p:nvPr/>
        </p:nvSpPr>
        <p:spPr>
          <a:xfrm>
            <a:off x="731520" y="1645920"/>
            <a:ext cx="4937760" cy="685800"/>
          </a:xfrm>
          <a:prstGeom prst="rect">
            <a:avLst/>
          </a:prstGeom>
          <a:solidFill>
            <a:srgbClr val="F8F9FA"/>
          </a:solidFill>
          <a:ln w="12700">
            <a:solidFill>
              <a:srgbClr val="CCCCCC"/>
            </a:solidFill>
            <a:prstDash val="solid"/>
          </a:ln>
        </p:spPr>
      </p:sp>
      <p:sp>
        <p:nvSpPr>
          <p:cNvPr id="10" name="Text 7"/>
          <p:cNvSpPr/>
          <p:nvPr/>
        </p:nvSpPr>
        <p:spPr>
          <a:xfrm>
            <a:off x="914400" y="1828800"/>
            <a:ext cx="2926080" cy="320040"/>
          </a:xfrm>
          <a:prstGeom prst="rect">
            <a:avLst/>
          </a:prstGeom>
          <a:noFill/>
          <a:ln/>
        </p:spPr>
        <p:txBody>
          <a:bodyPr wrap="square" rtlCol="0" anchor="ctr"/>
          <a:lstStyle/>
          <a:p>
            <a:pPr indent="0" marL="0">
              <a:buNone/>
            </a:pPr>
            <a:r>
              <a:rPr lang="en-US" sz="1100" dirty="0">
                <a:solidFill>
                  <a:srgbClr val="000000"/>
                </a:solidFill>
              </a:rPr>
              <a:t>Tỷ lệ Thực thi Test Cases</a:t>
            </a:r>
            <a:endParaRPr lang="en-US" sz="1100" dirty="0"/>
          </a:p>
        </p:txBody>
      </p:sp>
      <p:sp>
        <p:nvSpPr>
          <p:cNvPr id="11" name="Text 8"/>
          <p:cNvSpPr/>
          <p:nvPr/>
        </p:nvSpPr>
        <p:spPr>
          <a:xfrm>
            <a:off x="3840480" y="1828800"/>
            <a:ext cx="1645920" cy="320040"/>
          </a:xfrm>
          <a:prstGeom prst="rect">
            <a:avLst/>
          </a:prstGeom>
          <a:noFill/>
          <a:ln/>
        </p:spPr>
        <p:txBody>
          <a:bodyPr wrap="square" rtlCol="0" anchor="ctr"/>
          <a:lstStyle/>
          <a:p>
            <a:pPr algn="r" indent="0" marL="0">
              <a:buNone/>
            </a:pPr>
            <a:r>
              <a:rPr lang="en-US" sz="1200" b="1" dirty="0">
                <a:solidFill>
                  <a:srgbClr val="000000"/>
                </a:solidFill>
              </a:rPr>
              <a:t>100% (250+ Cases)</a:t>
            </a:r>
            <a:endParaRPr lang="en-US" sz="1200" dirty="0"/>
          </a:p>
        </p:txBody>
      </p:sp>
      <p:sp>
        <p:nvSpPr>
          <p:cNvPr id="12" name="Shape 9"/>
          <p:cNvSpPr/>
          <p:nvPr/>
        </p:nvSpPr>
        <p:spPr>
          <a:xfrm>
            <a:off x="731520" y="2468880"/>
            <a:ext cx="4937760" cy="685800"/>
          </a:xfrm>
          <a:prstGeom prst="rect">
            <a:avLst/>
          </a:prstGeom>
          <a:solidFill>
            <a:srgbClr val="F8F9FA"/>
          </a:solidFill>
          <a:ln w="12700">
            <a:solidFill>
              <a:srgbClr val="CCCCCC"/>
            </a:solidFill>
            <a:prstDash val="solid"/>
          </a:ln>
        </p:spPr>
      </p:sp>
      <p:sp>
        <p:nvSpPr>
          <p:cNvPr id="13" name="Text 10"/>
          <p:cNvSpPr/>
          <p:nvPr/>
        </p:nvSpPr>
        <p:spPr>
          <a:xfrm>
            <a:off x="914400" y="2651760"/>
            <a:ext cx="2926080" cy="320040"/>
          </a:xfrm>
          <a:prstGeom prst="rect">
            <a:avLst/>
          </a:prstGeom>
          <a:noFill/>
          <a:ln/>
        </p:spPr>
        <p:txBody>
          <a:bodyPr wrap="square" rtlCol="0" anchor="ctr"/>
          <a:lstStyle/>
          <a:p>
            <a:pPr indent="0" marL="0">
              <a:buNone/>
            </a:pPr>
            <a:r>
              <a:rPr lang="en-US" sz="1100" dirty="0">
                <a:solidFill>
                  <a:srgbClr val="000000"/>
                </a:solidFill>
              </a:rPr>
              <a:t>Tỷ lệ Pass Chức Năng Cốt Lõi</a:t>
            </a:r>
            <a:endParaRPr lang="en-US" sz="1100" dirty="0"/>
          </a:p>
        </p:txBody>
      </p:sp>
      <p:sp>
        <p:nvSpPr>
          <p:cNvPr id="14" name="Text 11"/>
          <p:cNvSpPr/>
          <p:nvPr/>
        </p:nvSpPr>
        <p:spPr>
          <a:xfrm>
            <a:off x="3840480" y="2651760"/>
            <a:ext cx="1645920" cy="320040"/>
          </a:xfrm>
          <a:prstGeom prst="rect">
            <a:avLst/>
          </a:prstGeom>
          <a:noFill/>
          <a:ln/>
        </p:spPr>
        <p:txBody>
          <a:bodyPr wrap="square" rtlCol="0" anchor="ctr"/>
          <a:lstStyle/>
          <a:p>
            <a:pPr algn="r" indent="0" marL="0">
              <a:buNone/>
            </a:pPr>
            <a:r>
              <a:rPr lang="en-US" sz="1200" b="1" dirty="0">
                <a:solidFill>
                  <a:srgbClr val="000000"/>
                </a:solidFill>
              </a:rPr>
              <a:t>100% Pass</a:t>
            </a:r>
            <a:endParaRPr lang="en-US" sz="1200" dirty="0"/>
          </a:p>
        </p:txBody>
      </p:sp>
      <p:sp>
        <p:nvSpPr>
          <p:cNvPr id="15" name="Shape 12"/>
          <p:cNvSpPr/>
          <p:nvPr/>
        </p:nvSpPr>
        <p:spPr>
          <a:xfrm>
            <a:off x="731520" y="3291840"/>
            <a:ext cx="4937760" cy="685800"/>
          </a:xfrm>
          <a:prstGeom prst="rect">
            <a:avLst/>
          </a:prstGeom>
          <a:solidFill>
            <a:srgbClr val="F8F9FA"/>
          </a:solidFill>
          <a:ln w="12700">
            <a:solidFill>
              <a:srgbClr val="CCCCCC"/>
            </a:solidFill>
            <a:prstDash val="solid"/>
          </a:ln>
        </p:spPr>
      </p:sp>
      <p:sp>
        <p:nvSpPr>
          <p:cNvPr id="16" name="Text 13"/>
          <p:cNvSpPr/>
          <p:nvPr/>
        </p:nvSpPr>
        <p:spPr>
          <a:xfrm>
            <a:off x="914400" y="3474720"/>
            <a:ext cx="2926080" cy="320040"/>
          </a:xfrm>
          <a:prstGeom prst="rect">
            <a:avLst/>
          </a:prstGeom>
          <a:noFill/>
          <a:ln/>
        </p:spPr>
        <p:txBody>
          <a:bodyPr wrap="square" rtlCol="0" anchor="ctr"/>
          <a:lstStyle/>
          <a:p>
            <a:pPr indent="0" marL="0">
              <a:buNone/>
            </a:pPr>
            <a:r>
              <a:rPr lang="en-US" sz="1100" dirty="0">
                <a:solidFill>
                  <a:srgbClr val="000000"/>
                </a:solidFill>
              </a:rPr>
              <a:t>Fatal / Blocker Defects (Severity 1)</a:t>
            </a:r>
            <a:endParaRPr lang="en-US" sz="1100" dirty="0"/>
          </a:p>
        </p:txBody>
      </p:sp>
      <p:sp>
        <p:nvSpPr>
          <p:cNvPr id="17" name="Text 14"/>
          <p:cNvSpPr/>
          <p:nvPr/>
        </p:nvSpPr>
        <p:spPr>
          <a:xfrm>
            <a:off x="3840480" y="3474720"/>
            <a:ext cx="1645920" cy="320040"/>
          </a:xfrm>
          <a:prstGeom prst="rect">
            <a:avLst/>
          </a:prstGeom>
          <a:noFill/>
          <a:ln/>
        </p:spPr>
        <p:txBody>
          <a:bodyPr wrap="square" rtlCol="0" anchor="ctr"/>
          <a:lstStyle/>
          <a:p>
            <a:pPr algn="r" indent="0" marL="0">
              <a:buNone/>
            </a:pPr>
            <a:r>
              <a:rPr lang="en-US" sz="1200" b="1" dirty="0">
                <a:solidFill>
                  <a:srgbClr val="000000"/>
                </a:solidFill>
              </a:rPr>
              <a:t>0 Bug</a:t>
            </a:r>
            <a:endParaRPr lang="en-US" sz="1200" dirty="0"/>
          </a:p>
        </p:txBody>
      </p:sp>
      <p:sp>
        <p:nvSpPr>
          <p:cNvPr id="18" name="Shape 15"/>
          <p:cNvSpPr/>
          <p:nvPr/>
        </p:nvSpPr>
        <p:spPr>
          <a:xfrm>
            <a:off x="731520" y="4114800"/>
            <a:ext cx="4937760" cy="685800"/>
          </a:xfrm>
          <a:prstGeom prst="rect">
            <a:avLst/>
          </a:prstGeom>
          <a:solidFill>
            <a:srgbClr val="F8F9FA"/>
          </a:solidFill>
          <a:ln w="12700">
            <a:solidFill>
              <a:srgbClr val="CCCCCC"/>
            </a:solidFill>
            <a:prstDash val="solid"/>
          </a:ln>
        </p:spPr>
      </p:sp>
      <p:sp>
        <p:nvSpPr>
          <p:cNvPr id="19" name="Text 16"/>
          <p:cNvSpPr/>
          <p:nvPr/>
        </p:nvSpPr>
        <p:spPr>
          <a:xfrm>
            <a:off x="914400" y="4297680"/>
            <a:ext cx="2926080" cy="320040"/>
          </a:xfrm>
          <a:prstGeom prst="rect">
            <a:avLst/>
          </a:prstGeom>
          <a:noFill/>
          <a:ln/>
        </p:spPr>
        <p:txBody>
          <a:bodyPr wrap="square" rtlCol="0" anchor="ctr"/>
          <a:lstStyle/>
          <a:p>
            <a:pPr indent="0" marL="0">
              <a:buNone/>
            </a:pPr>
            <a:r>
              <a:rPr lang="en-US" sz="1100" dirty="0">
                <a:solidFill>
                  <a:srgbClr val="000000"/>
                </a:solidFill>
              </a:rPr>
              <a:t>Critical Defects (Severity 2)</a:t>
            </a:r>
            <a:endParaRPr lang="en-US" sz="1100" dirty="0"/>
          </a:p>
        </p:txBody>
      </p:sp>
      <p:sp>
        <p:nvSpPr>
          <p:cNvPr id="20" name="Text 17"/>
          <p:cNvSpPr/>
          <p:nvPr/>
        </p:nvSpPr>
        <p:spPr>
          <a:xfrm>
            <a:off x="3840480" y="4297680"/>
            <a:ext cx="1645920" cy="320040"/>
          </a:xfrm>
          <a:prstGeom prst="rect">
            <a:avLst/>
          </a:prstGeom>
          <a:noFill/>
          <a:ln/>
        </p:spPr>
        <p:txBody>
          <a:bodyPr wrap="square" rtlCol="0" anchor="ctr"/>
          <a:lstStyle/>
          <a:p>
            <a:pPr algn="r" indent="0" marL="0">
              <a:buNone/>
            </a:pPr>
            <a:r>
              <a:rPr lang="en-US" sz="1200" b="1" dirty="0">
                <a:solidFill>
                  <a:srgbClr val="000000"/>
                </a:solidFill>
              </a:rPr>
              <a:t>0 Bug</a:t>
            </a:r>
            <a:endParaRPr lang="en-US" sz="1200" dirty="0"/>
          </a:p>
        </p:txBody>
      </p:sp>
      <p:sp>
        <p:nvSpPr>
          <p:cNvPr id="21" name="Shape 18"/>
          <p:cNvSpPr/>
          <p:nvPr/>
        </p:nvSpPr>
        <p:spPr>
          <a:xfrm>
            <a:off x="731520" y="4937760"/>
            <a:ext cx="4937760" cy="685800"/>
          </a:xfrm>
          <a:prstGeom prst="rect">
            <a:avLst/>
          </a:prstGeom>
          <a:solidFill>
            <a:srgbClr val="F8F9FA"/>
          </a:solidFill>
          <a:ln w="12700">
            <a:solidFill>
              <a:srgbClr val="CCCCCC"/>
            </a:solidFill>
            <a:prstDash val="solid"/>
          </a:ln>
        </p:spPr>
      </p:sp>
      <p:sp>
        <p:nvSpPr>
          <p:cNvPr id="22" name="Text 19"/>
          <p:cNvSpPr/>
          <p:nvPr/>
        </p:nvSpPr>
        <p:spPr>
          <a:xfrm>
            <a:off x="914400" y="5120640"/>
            <a:ext cx="2926080" cy="320040"/>
          </a:xfrm>
          <a:prstGeom prst="rect">
            <a:avLst/>
          </a:prstGeom>
          <a:noFill/>
          <a:ln/>
        </p:spPr>
        <p:txBody>
          <a:bodyPr wrap="square" rtlCol="0" anchor="ctr"/>
          <a:lstStyle/>
          <a:p>
            <a:pPr indent="0" marL="0">
              <a:buNone/>
            </a:pPr>
            <a:r>
              <a:rPr lang="en-US" sz="1100" dirty="0">
                <a:solidFill>
                  <a:srgbClr val="000000"/>
                </a:solidFill>
              </a:rPr>
              <a:t>Minor Defects (Severity 3-4)</a:t>
            </a:r>
            <a:endParaRPr lang="en-US" sz="1100" dirty="0"/>
          </a:p>
        </p:txBody>
      </p:sp>
      <p:sp>
        <p:nvSpPr>
          <p:cNvPr id="23" name="Text 20"/>
          <p:cNvSpPr/>
          <p:nvPr/>
        </p:nvSpPr>
        <p:spPr>
          <a:xfrm>
            <a:off x="3840480" y="5120640"/>
            <a:ext cx="1645920" cy="320040"/>
          </a:xfrm>
          <a:prstGeom prst="rect">
            <a:avLst/>
          </a:prstGeom>
          <a:noFill/>
          <a:ln/>
        </p:spPr>
        <p:txBody>
          <a:bodyPr wrap="square" rtlCol="0" anchor="ctr"/>
          <a:lstStyle/>
          <a:p>
            <a:pPr algn="r" indent="0" marL="0">
              <a:buNone/>
            </a:pPr>
            <a:r>
              <a:rPr lang="en-US" sz="1200" b="1" dirty="0">
                <a:solidFill>
                  <a:srgbClr val="000000"/>
                </a:solidFill>
              </a:rPr>
              <a:t>&lt; 5% (có workaround)</a:t>
            </a:r>
            <a:endParaRPr lang="en-US" sz="1200" dirty="0"/>
          </a:p>
        </p:txBody>
      </p:sp>
      <p:sp>
        <p:nvSpPr>
          <p:cNvPr id="24" name="Shape 21"/>
          <p:cNvSpPr/>
          <p:nvPr/>
        </p:nvSpPr>
        <p:spPr>
          <a:xfrm>
            <a:off x="6217920" y="1005840"/>
            <a:ext cx="5303520" cy="5120640"/>
          </a:xfrm>
          <a:prstGeom prst="rect">
            <a:avLst/>
          </a:prstGeom>
          <a:solidFill>
            <a:srgbClr val="FFFFFF"/>
          </a:solidFill>
          <a:ln w="12700">
            <a:solidFill>
              <a:srgbClr val="000000"/>
            </a:solidFill>
            <a:prstDash val="solid"/>
          </a:ln>
        </p:spPr>
      </p:sp>
      <p:sp>
        <p:nvSpPr>
          <p:cNvPr id="25" name="Text 22"/>
          <p:cNvSpPr/>
          <p:nvPr/>
        </p:nvSpPr>
        <p:spPr>
          <a:xfrm>
            <a:off x="6400800" y="1188720"/>
            <a:ext cx="4937760" cy="274320"/>
          </a:xfrm>
          <a:prstGeom prst="rect">
            <a:avLst/>
          </a:prstGeom>
          <a:noFill/>
          <a:ln/>
        </p:spPr>
        <p:txBody>
          <a:bodyPr wrap="square" rtlCol="0" anchor="ctr"/>
          <a:lstStyle/>
          <a:p>
            <a:pPr indent="0" marL="0">
              <a:buNone/>
            </a:pPr>
            <a:r>
              <a:rPr lang="en-US" sz="1200" b="1" dirty="0">
                <a:solidFill>
                  <a:srgbClr val="000000"/>
                </a:solidFill>
              </a:rPr>
              <a:t>QUY TRÌNH QUẢN LÝ LỖI (DEFECT LIFECYCLE)</a:t>
            </a:r>
            <a:endParaRPr lang="en-US" sz="1200" dirty="0"/>
          </a:p>
        </p:txBody>
      </p:sp>
      <p:sp>
        <p:nvSpPr>
          <p:cNvPr id="26" name="Shape 23"/>
          <p:cNvSpPr/>
          <p:nvPr/>
        </p:nvSpPr>
        <p:spPr>
          <a:xfrm>
            <a:off x="6400800" y="1645920"/>
            <a:ext cx="4937760" cy="685800"/>
          </a:xfrm>
          <a:prstGeom prst="rect">
            <a:avLst/>
          </a:prstGeom>
          <a:solidFill>
            <a:srgbClr val="F8F9FA"/>
          </a:solidFill>
          <a:ln w="12700">
            <a:solidFill>
              <a:srgbClr val="000000"/>
            </a:solidFill>
            <a:prstDash val="solid"/>
          </a:ln>
        </p:spPr>
      </p:sp>
      <p:sp>
        <p:nvSpPr>
          <p:cNvPr id="27" name="Text 24"/>
          <p:cNvSpPr/>
          <p:nvPr/>
        </p:nvSpPr>
        <p:spPr>
          <a:xfrm>
            <a:off x="6583680" y="1828800"/>
            <a:ext cx="4572000" cy="320040"/>
          </a:xfrm>
          <a:prstGeom prst="rect">
            <a:avLst/>
          </a:prstGeom>
          <a:noFill/>
          <a:ln/>
        </p:spPr>
        <p:txBody>
          <a:bodyPr wrap="square" rtlCol="0" anchor="ctr"/>
          <a:lstStyle/>
          <a:p>
            <a:pPr indent="0" marL="0">
              <a:buNone/>
            </a:pPr>
            <a:r>
              <a:rPr lang="en-US" sz="1100" b="1" dirty="0">
                <a:solidFill>
                  <a:srgbClr val="000000"/>
                </a:solidFill>
              </a:rPr>
              <a:t>1. New / Open (Phát hiện lỗi &amp; log lên Tracker)</a:t>
            </a:r>
            <a:endParaRPr lang="en-US" sz="1100" dirty="0"/>
          </a:p>
        </p:txBody>
      </p:sp>
      <p:sp>
        <p:nvSpPr>
          <p:cNvPr id="28" name="Shape 25"/>
          <p:cNvSpPr/>
          <p:nvPr/>
        </p:nvSpPr>
        <p:spPr>
          <a:xfrm>
            <a:off x="6400800" y="2468880"/>
            <a:ext cx="4937760" cy="685800"/>
          </a:xfrm>
          <a:prstGeom prst="rect">
            <a:avLst/>
          </a:prstGeom>
          <a:solidFill>
            <a:srgbClr val="F8F9FA"/>
          </a:solidFill>
          <a:ln w="12700">
            <a:solidFill>
              <a:srgbClr val="000000"/>
            </a:solidFill>
            <a:prstDash val="solid"/>
          </a:ln>
        </p:spPr>
      </p:sp>
      <p:sp>
        <p:nvSpPr>
          <p:cNvPr id="29" name="Text 26"/>
          <p:cNvSpPr/>
          <p:nvPr/>
        </p:nvSpPr>
        <p:spPr>
          <a:xfrm>
            <a:off x="6583680" y="2651760"/>
            <a:ext cx="4572000" cy="320040"/>
          </a:xfrm>
          <a:prstGeom prst="rect">
            <a:avLst/>
          </a:prstGeom>
          <a:noFill/>
          <a:ln/>
        </p:spPr>
        <p:txBody>
          <a:bodyPr wrap="square" rtlCol="0" anchor="ctr"/>
          <a:lstStyle/>
          <a:p>
            <a:pPr indent="0" marL="0">
              <a:buNone/>
            </a:pPr>
            <a:r>
              <a:rPr lang="en-US" sz="1100" b="1" dirty="0">
                <a:solidFill>
                  <a:srgbClr val="000000"/>
                </a:solidFill>
              </a:rPr>
              <a:t>2. Assigned Dev (Giao Dev phụ trách khắc phục)</a:t>
            </a:r>
            <a:endParaRPr lang="en-US" sz="1100" dirty="0"/>
          </a:p>
        </p:txBody>
      </p:sp>
      <p:sp>
        <p:nvSpPr>
          <p:cNvPr id="30" name="Shape 27"/>
          <p:cNvSpPr/>
          <p:nvPr/>
        </p:nvSpPr>
        <p:spPr>
          <a:xfrm>
            <a:off x="6400800" y="3291840"/>
            <a:ext cx="4937760" cy="685800"/>
          </a:xfrm>
          <a:prstGeom prst="rect">
            <a:avLst/>
          </a:prstGeom>
          <a:solidFill>
            <a:srgbClr val="F8F9FA"/>
          </a:solidFill>
          <a:ln w="12700">
            <a:solidFill>
              <a:srgbClr val="000000"/>
            </a:solidFill>
            <a:prstDash val="solid"/>
          </a:ln>
        </p:spPr>
      </p:sp>
      <p:sp>
        <p:nvSpPr>
          <p:cNvPr id="31" name="Text 28"/>
          <p:cNvSpPr/>
          <p:nvPr/>
        </p:nvSpPr>
        <p:spPr>
          <a:xfrm>
            <a:off x="6583680" y="3474720"/>
            <a:ext cx="4572000" cy="320040"/>
          </a:xfrm>
          <a:prstGeom prst="rect">
            <a:avLst/>
          </a:prstGeom>
          <a:noFill/>
          <a:ln/>
        </p:spPr>
        <p:txBody>
          <a:bodyPr wrap="square" rtlCol="0" anchor="ctr"/>
          <a:lstStyle/>
          <a:p>
            <a:pPr indent="0" marL="0">
              <a:buNone/>
            </a:pPr>
            <a:r>
              <a:rPr lang="en-US" sz="1100" b="1" dirty="0">
                <a:solidFill>
                  <a:srgbClr val="000000"/>
                </a:solidFill>
              </a:rPr>
              <a:t>3. Resolved / Fixed (Dev sửa &amp; đẩy bản build)</a:t>
            </a:r>
            <a:endParaRPr lang="en-US" sz="1100" dirty="0"/>
          </a:p>
        </p:txBody>
      </p:sp>
      <p:sp>
        <p:nvSpPr>
          <p:cNvPr id="32" name="Shape 29"/>
          <p:cNvSpPr/>
          <p:nvPr/>
        </p:nvSpPr>
        <p:spPr>
          <a:xfrm>
            <a:off x="6400800" y="4114800"/>
            <a:ext cx="4937760" cy="685800"/>
          </a:xfrm>
          <a:prstGeom prst="rect">
            <a:avLst/>
          </a:prstGeom>
          <a:solidFill>
            <a:srgbClr val="F8F9FA"/>
          </a:solidFill>
          <a:ln w="12700">
            <a:solidFill>
              <a:srgbClr val="000000"/>
            </a:solidFill>
            <a:prstDash val="solid"/>
          </a:ln>
        </p:spPr>
      </p:sp>
      <p:sp>
        <p:nvSpPr>
          <p:cNvPr id="33" name="Text 30"/>
          <p:cNvSpPr/>
          <p:nvPr/>
        </p:nvSpPr>
        <p:spPr>
          <a:xfrm>
            <a:off x="6583680" y="4297680"/>
            <a:ext cx="4572000" cy="320040"/>
          </a:xfrm>
          <a:prstGeom prst="rect">
            <a:avLst/>
          </a:prstGeom>
          <a:noFill/>
          <a:ln/>
        </p:spPr>
        <p:txBody>
          <a:bodyPr wrap="square" rtlCol="0" anchor="ctr"/>
          <a:lstStyle/>
          <a:p>
            <a:pPr indent="0" marL="0">
              <a:buNone/>
            </a:pPr>
            <a:r>
              <a:rPr lang="en-US" sz="1100" b="1" dirty="0">
                <a:solidFill>
                  <a:srgbClr val="000000"/>
                </a:solidFill>
              </a:rPr>
              <a:t>4. Re-Testing (Tester kiểm thử lại lỗi)</a:t>
            </a:r>
            <a:endParaRPr lang="en-US" sz="1100" dirty="0"/>
          </a:p>
        </p:txBody>
      </p:sp>
      <p:sp>
        <p:nvSpPr>
          <p:cNvPr id="34" name="Shape 31"/>
          <p:cNvSpPr/>
          <p:nvPr/>
        </p:nvSpPr>
        <p:spPr>
          <a:xfrm>
            <a:off x="6400800" y="4937760"/>
            <a:ext cx="4937760" cy="685800"/>
          </a:xfrm>
          <a:prstGeom prst="rect">
            <a:avLst/>
          </a:prstGeom>
          <a:solidFill>
            <a:srgbClr val="F8F9FA"/>
          </a:solidFill>
          <a:ln w="12700">
            <a:solidFill>
              <a:srgbClr val="000000"/>
            </a:solidFill>
            <a:prstDash val="solid"/>
          </a:ln>
        </p:spPr>
      </p:sp>
      <p:sp>
        <p:nvSpPr>
          <p:cNvPr id="35" name="Text 32"/>
          <p:cNvSpPr/>
          <p:nvPr/>
        </p:nvSpPr>
        <p:spPr>
          <a:xfrm>
            <a:off x="6583680" y="5120640"/>
            <a:ext cx="4572000" cy="320040"/>
          </a:xfrm>
          <a:prstGeom prst="rect">
            <a:avLst/>
          </a:prstGeom>
          <a:noFill/>
          <a:ln/>
        </p:spPr>
        <p:txBody>
          <a:bodyPr wrap="square" rtlCol="0" anchor="ctr"/>
          <a:lstStyle/>
          <a:p>
            <a:pPr indent="0" marL="0">
              <a:buNone/>
            </a:pPr>
            <a:r>
              <a:rPr lang="en-US" sz="1100" b="1" dirty="0">
                <a:solidFill>
                  <a:srgbClr val="000000"/>
                </a:solidFill>
              </a:rPr>
              <a:t>5. Closed / Released (Đạt chuẩn nghiệm thu)</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394960" y="914400"/>
            <a:ext cx="1280160" cy="1280160"/>
          </a:xfrm>
          <a:prstGeom prst="ellipse">
            <a:avLst/>
          </a:prstGeom>
          <a:solidFill>
            <a:srgbClr val="000000"/>
          </a:solidFill>
          <a:ln/>
        </p:spPr>
      </p:sp>
      <p:sp>
        <p:nvSpPr>
          <p:cNvPr id="4" name="Text 1"/>
          <p:cNvSpPr/>
          <p:nvPr/>
        </p:nvSpPr>
        <p:spPr>
          <a:xfrm>
            <a:off x="5394960" y="914400"/>
            <a:ext cx="1280160" cy="1280160"/>
          </a:xfrm>
          <a:prstGeom prst="rect">
            <a:avLst/>
          </a:prstGeom>
          <a:noFill/>
          <a:ln/>
        </p:spPr>
        <p:txBody>
          <a:bodyPr wrap="square" rtlCol="0" anchor="ctr"/>
          <a:lstStyle/>
          <a:p>
            <a:pPr algn="ctr" indent="0" marL="0">
              <a:buNone/>
            </a:pPr>
            <a:r>
              <a:rPr lang="en-US" sz="3600" b="1" dirty="0">
                <a:solidFill>
                  <a:srgbClr val="FFFFFF"/>
                </a:solidFill>
              </a:rPr>
              <a:t>✓</a:t>
            </a:r>
            <a:endParaRPr lang="en-US" sz="3600" dirty="0"/>
          </a:p>
        </p:txBody>
      </p:sp>
      <p:sp>
        <p:nvSpPr>
          <p:cNvPr id="5" name="Text 2"/>
          <p:cNvSpPr/>
          <p:nvPr/>
        </p:nvSpPr>
        <p:spPr>
          <a:xfrm>
            <a:off x="457200" y="2377440"/>
            <a:ext cx="11247120" cy="548640"/>
          </a:xfrm>
          <a:prstGeom prst="rect">
            <a:avLst/>
          </a:prstGeom>
          <a:noFill/>
          <a:ln/>
        </p:spPr>
        <p:txBody>
          <a:bodyPr wrap="square" rtlCol="0" anchor="ctr"/>
          <a:lstStyle/>
          <a:p>
            <a:pPr algn="ctr" indent="0" marL="0">
              <a:buNone/>
            </a:pPr>
            <a:r>
              <a:rPr lang="en-US" sz="2400" b="1" dirty="0">
                <a:solidFill>
                  <a:srgbClr val="000000"/>
                </a:solidFill>
              </a:rPr>
              <a:t>CAM KẾT CHẤT LƯỢNG &amp; SẴN SÀNG GO-LIVE</a:t>
            </a:r>
            <a:endParaRPr lang="en-US" sz="2400" dirty="0"/>
          </a:p>
        </p:txBody>
      </p:sp>
      <p:sp>
        <p:nvSpPr>
          <p:cNvPr id="6" name="Text 3"/>
          <p:cNvSpPr/>
          <p:nvPr/>
        </p:nvSpPr>
        <p:spPr>
          <a:xfrm>
            <a:off x="914400" y="3017520"/>
            <a:ext cx="10332720" cy="1097280"/>
          </a:xfrm>
          <a:prstGeom prst="rect">
            <a:avLst/>
          </a:prstGeom>
          <a:noFill/>
          <a:ln/>
        </p:spPr>
        <p:txBody>
          <a:bodyPr wrap="square" rtlCol="0" anchor="ctr"/>
          <a:lstStyle/>
          <a:p>
            <a:pPr algn="ctr" indent="0" marL="0">
              <a:lnSpc>
                <a:spcPts val="2200"/>
              </a:lnSpc>
              <a:buNone/>
            </a:pPr>
            <a:r>
              <a:rPr lang="en-US" sz="1300" dirty="0">
                <a:solidFill>
                  <a:srgbClr val="444444"/>
                </a:solidFill>
              </a:rPr>
              <a:t>Kế hoạch kiểm thử từ 18/09 đến 30/09/2026 đảm bảo nền tảng SuperSport (WebSports)</a:t>
            </a:r>
            <a:endParaRPr lang="en-US" sz="1300" dirty="0"/>
          </a:p>
          <a:p>
            <a:pPr algn="ctr" indent="0" marL="0">
              <a:lnSpc>
                <a:spcPts val="2200"/>
              </a:lnSpc>
              <a:buNone/>
            </a:pPr>
            <a:r>
              <a:rPr lang="en-US" sz="1300" dirty="0">
                <a:solidFill>
                  <a:srgbClr val="444444"/>
                </a:solidFill>
              </a:rPr>
              <a:t>vận hành an toàn, chính xác tài chính VietQR MBBank, mượt mà thời gian thực</a:t>
            </a:r>
            <a:endParaRPr lang="en-US" sz="1300" dirty="0"/>
          </a:p>
          <a:p>
            <a:pPr algn="ctr" indent="0" marL="0">
              <a:lnSpc>
                <a:spcPts val="2200"/>
              </a:lnSpc>
              <a:buNone/>
            </a:pPr>
            <a:r>
              <a:rPr lang="en-US" sz="1300" dirty="0">
                <a:solidFill>
                  <a:srgbClr val="444444"/>
                </a:solidFill>
              </a:rPr>
              <a:t>và đạt tiêu chuẩn hiệu năng cao nhất trước khi bàn giao cho người dùng.</a:t>
            </a:r>
            <a:endParaRPr lang="en-US" sz="1300" dirty="0"/>
          </a:p>
        </p:txBody>
      </p:sp>
      <p:sp>
        <p:nvSpPr>
          <p:cNvPr id="7" name="Shape 4"/>
          <p:cNvSpPr/>
          <p:nvPr/>
        </p:nvSpPr>
        <p:spPr>
          <a:xfrm>
            <a:off x="2011680" y="4389120"/>
            <a:ext cx="8138160" cy="1371600"/>
          </a:xfrm>
          <a:prstGeom prst="rect">
            <a:avLst/>
          </a:prstGeom>
          <a:solidFill>
            <a:srgbClr val="FFFFFF"/>
          </a:solidFill>
          <a:ln w="19050">
            <a:solidFill>
              <a:srgbClr val="000000"/>
            </a:solidFill>
            <a:prstDash val="solid"/>
          </a:ln>
        </p:spPr>
      </p:sp>
      <p:sp>
        <p:nvSpPr>
          <p:cNvPr id="8" name="Text 5"/>
          <p:cNvSpPr/>
          <p:nvPr/>
        </p:nvSpPr>
        <p:spPr>
          <a:xfrm>
            <a:off x="2194560" y="4572000"/>
            <a:ext cx="7772400" cy="274320"/>
          </a:xfrm>
          <a:prstGeom prst="rect">
            <a:avLst/>
          </a:prstGeom>
          <a:noFill/>
          <a:ln/>
        </p:spPr>
        <p:txBody>
          <a:bodyPr wrap="square" rtlCol="0" anchor="ctr"/>
          <a:lstStyle/>
          <a:p>
            <a:pPr algn="ctr" indent="0" marL="0">
              <a:buNone/>
            </a:pPr>
            <a:r>
              <a:rPr lang="en-US" sz="1100" b="1" dirty="0">
                <a:solidFill>
                  <a:srgbClr val="000000"/>
                </a:solidFill>
              </a:rPr>
              <a:t>XÁC NHẬN ĐỘI NGŨ KIỂM THỬ DỰ ÁN</a:t>
            </a:r>
            <a:endParaRPr lang="en-US" sz="1100" dirty="0"/>
          </a:p>
        </p:txBody>
      </p:sp>
      <p:sp>
        <p:nvSpPr>
          <p:cNvPr id="9" name="Text 6"/>
          <p:cNvSpPr/>
          <p:nvPr/>
        </p:nvSpPr>
        <p:spPr>
          <a:xfrm>
            <a:off x="2286000" y="5029200"/>
            <a:ext cx="2377440" cy="365760"/>
          </a:xfrm>
          <a:prstGeom prst="rect">
            <a:avLst/>
          </a:prstGeom>
          <a:noFill/>
          <a:ln/>
        </p:spPr>
        <p:txBody>
          <a:bodyPr wrap="square" rtlCol="0" anchor="ctr"/>
          <a:lstStyle/>
          <a:p>
            <a:pPr algn="ctr" indent="0" marL="0">
              <a:buNone/>
            </a:pPr>
            <a:r>
              <a:rPr lang="en-US" sz="1200" b="1" dirty="0">
                <a:solidFill>
                  <a:srgbClr val="000000"/>
                </a:solidFill>
              </a:rPr>
              <a:t>Test Lead: Đăng Khải</a:t>
            </a:r>
            <a:endParaRPr lang="en-US" sz="1200" dirty="0"/>
          </a:p>
        </p:txBody>
      </p:sp>
      <p:sp>
        <p:nvSpPr>
          <p:cNvPr id="10" name="Text 7"/>
          <p:cNvSpPr/>
          <p:nvPr/>
        </p:nvSpPr>
        <p:spPr>
          <a:xfrm>
            <a:off x="4846320" y="5029200"/>
            <a:ext cx="2377440" cy="365760"/>
          </a:xfrm>
          <a:prstGeom prst="rect">
            <a:avLst/>
          </a:prstGeom>
          <a:noFill/>
          <a:ln/>
        </p:spPr>
        <p:txBody>
          <a:bodyPr wrap="square" rtlCol="0" anchor="ctr"/>
          <a:lstStyle/>
          <a:p>
            <a:pPr algn="ctr" indent="0" marL="0">
              <a:buNone/>
            </a:pPr>
            <a:r>
              <a:rPr lang="en-US" sz="1200" b="1" dirty="0">
                <a:solidFill>
                  <a:srgbClr val="000000"/>
                </a:solidFill>
              </a:rPr>
              <a:t>Functional: Linh Ân</a:t>
            </a:r>
            <a:endParaRPr lang="en-US" sz="1200" dirty="0"/>
          </a:p>
        </p:txBody>
      </p:sp>
      <p:sp>
        <p:nvSpPr>
          <p:cNvPr id="11" name="Text 8"/>
          <p:cNvSpPr/>
          <p:nvPr/>
        </p:nvSpPr>
        <p:spPr>
          <a:xfrm>
            <a:off x="7406640" y="5029200"/>
            <a:ext cx="2377440" cy="365760"/>
          </a:xfrm>
          <a:prstGeom prst="rect">
            <a:avLst/>
          </a:prstGeom>
          <a:noFill/>
          <a:ln/>
        </p:spPr>
        <p:txBody>
          <a:bodyPr wrap="square" rtlCol="0" anchor="ctr"/>
          <a:lstStyle/>
          <a:p>
            <a:pPr algn="ctr" indent="0" marL="0">
              <a:buNone/>
            </a:pPr>
            <a:r>
              <a:rPr lang="en-US" sz="1200" b="1" dirty="0">
                <a:solidFill>
                  <a:srgbClr val="000000"/>
                </a:solidFill>
              </a:rPr>
              <a:t>Integration: Phan Duy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2026-09-23T07:15:05Z</dcterms:created>
  <dcterms:modified xsi:type="dcterms:W3CDTF">2026-09-23T07:15:05Z</dcterms:modified>
</cp:coreProperties>
</file>